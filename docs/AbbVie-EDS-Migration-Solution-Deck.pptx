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Arial"/>
        </a:defRPr>
      </a:lvl1pPr>
    </p:titleStyle>
    <p:bodyStyle>
      <a:lvl1pPr>
        <a:defRPr sz="1800">
          <a:latin typeface="Arial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4"/>
          <p:cNvSpPr/>
          <p:nvPr/>
        </p:nvSpPr>
        <p:spPr>
          <a:xfrm>
            <a:off x="0" y="4160520"/>
            <a:ext cx="12192000" cy="180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6"/>
          <p:cNvSpPr/>
          <p:nvPr/>
        </p:nvSpPr>
        <p:spPr>
          <a:xfrm>
            <a:off x="0" y="4224528"/>
            <a:ext cx="12192000" cy="12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8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E8553D"/>
                </a:solidFill>
                <a:latin typeface="Arial"/>
              </a:rPr>
              <a:t>SOLUTION PROPOSAL  •  DIGITAL EXPERIENCE MIGRATION</a:t>
            </a:r>
          </a:p>
        </p:txBody>
      </p:sp>
      <p:sp>
        <p:nvSpPr>
          <p:cNvPr id="19" name="t20"/>
          <p:cNvSpPr txBox="1"/>
          <p:nvPr/>
        </p:nvSpPr>
        <p:spPr>
          <a:xfrm>
            <a:off x="777240" y="1554480"/>
            <a:ext cx="10515600" cy="18288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Pharma Brand Portfolio Migration to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Adobe Experience Manager – Edge Delivery Services</a:t>
            </a:r>
          </a:p>
        </p:txBody>
      </p:sp>
      <p:sp>
        <p:nvSpPr>
          <p:cNvPr id="21" name="t22"/>
          <p:cNvSpPr txBox="1"/>
          <p:nvPr/>
        </p:nvSpPr>
        <p:spPr>
          <a:xfrm>
            <a:off x="822960" y="443484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500" b="0">
                <a:solidFill>
                  <a:srgbClr val="C9D4E8"/>
                </a:solidFill>
                <a:latin typeface="Arial"/>
              </a:rPr>
              <a:t>Six brand sites — Lupron, Lupron Ped, Armour Thyroid, Hypothyroid Hub, LILETTA &amp; LILETTA HCP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b="0">
                <a:solidFill>
                  <a:srgbClr val="9FB2D0"/>
                </a:solidFill>
                <a:latin typeface="Arial"/>
              </a:rPr>
              <a:t>Block inventory · Design system · Integrations · Migration approach · Effort &amp; roadmap</a:t>
            </a:r>
          </a:p>
        </p:txBody>
      </p:sp>
      <p:sp>
        <p:nvSpPr>
          <p:cNvPr id="23" name="t24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7E92B5"/>
                </a:solidFill>
                <a:latin typeface="Arial"/>
              </a:rPr>
              <a:t>Prepared by Cognizant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6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6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6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AT A GLANCE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25" name="t26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0">
                <a:solidFill>
                  <a:srgbClr val="2B2B2B"/>
                </a:solidFill>
                <a:latin typeface="Arial"/>
              </a:rPr>
              <a:t>A single, content-driven re-platform of six AbbVie brand sites onto Adobe Edge Delivery Services — built on one shared design system and block library, delivered through a proven 6-stage lifecycle.</a:t>
            </a:r>
          </a:p>
        </p:txBody>
      </p:sp>
      <p:sp>
        <p:nvSpPr>
          <p:cNvPr id="27" name="r28"/>
          <p:cNvSpPr/>
          <p:nvPr/>
        </p:nvSpPr>
        <p:spPr>
          <a:xfrm>
            <a:off x="548640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9" name="r30"/>
          <p:cNvSpPr/>
          <p:nvPr/>
        </p:nvSpPr>
        <p:spPr>
          <a:xfrm>
            <a:off x="548640" y="2240280"/>
            <a:ext cx="109728" cy="13716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2"/>
          <p:cNvSpPr txBox="1"/>
          <p:nvPr/>
        </p:nvSpPr>
        <p:spPr>
          <a:xfrm>
            <a:off x="658368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0B5FA5"/>
                </a:solidFill>
                <a:latin typeface="Arial"/>
              </a:rPr>
              <a:t>6</a:t>
            </a:r>
          </a:p>
        </p:txBody>
      </p:sp>
      <p:sp>
        <p:nvSpPr>
          <p:cNvPr id="33" name="t34"/>
          <p:cNvSpPr txBox="1"/>
          <p:nvPr/>
        </p:nvSpPr>
        <p:spPr>
          <a:xfrm>
            <a:off x="658368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brand sites in scope</a:t>
            </a:r>
          </a:p>
        </p:txBody>
      </p:sp>
      <p:sp>
        <p:nvSpPr>
          <p:cNvPr id="35" name="r36"/>
          <p:cNvSpPr/>
          <p:nvPr/>
        </p:nvSpPr>
        <p:spPr>
          <a:xfrm>
            <a:off x="3319272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7" name="r38"/>
          <p:cNvSpPr/>
          <p:nvPr/>
        </p:nvSpPr>
        <p:spPr>
          <a:xfrm>
            <a:off x="3319272" y="2240280"/>
            <a:ext cx="109728" cy="13716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40"/>
          <p:cNvSpPr txBox="1"/>
          <p:nvPr/>
        </p:nvSpPr>
        <p:spPr>
          <a:xfrm>
            <a:off x="3429000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E8553D"/>
                </a:solidFill>
                <a:latin typeface="Arial"/>
              </a:rPr>
              <a:t>1</a:t>
            </a:r>
          </a:p>
        </p:txBody>
      </p:sp>
      <p:sp>
        <p:nvSpPr>
          <p:cNvPr id="41" name="t42"/>
          <p:cNvSpPr txBox="1"/>
          <p:nvPr/>
        </p:nvSpPr>
        <p:spPr>
          <a:xfrm>
            <a:off x="3429000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shared design system &amp; block library</a:t>
            </a:r>
          </a:p>
        </p:txBody>
      </p:sp>
      <p:sp>
        <p:nvSpPr>
          <p:cNvPr id="43" name="r44"/>
          <p:cNvSpPr/>
          <p:nvPr/>
        </p:nvSpPr>
        <p:spPr>
          <a:xfrm>
            <a:off x="6089904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" name="r46"/>
          <p:cNvSpPr/>
          <p:nvPr/>
        </p:nvSpPr>
        <p:spPr>
          <a:xfrm>
            <a:off x="6089904" y="2240280"/>
            <a:ext cx="109728" cy="137160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8"/>
          <p:cNvSpPr txBox="1"/>
          <p:nvPr/>
        </p:nvSpPr>
        <p:spPr>
          <a:xfrm>
            <a:off x="6199632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3F8F6B"/>
                </a:solidFill>
                <a:latin typeface="Arial"/>
              </a:rPr>
              <a:t>16</a:t>
            </a:r>
          </a:p>
        </p:txBody>
      </p:sp>
      <p:sp>
        <p:nvSpPr>
          <p:cNvPr id="49" name="t50"/>
          <p:cNvSpPr txBox="1"/>
          <p:nvPr/>
        </p:nvSpPr>
        <p:spPr>
          <a:xfrm>
            <a:off x="6199632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existing blocks reused</a:t>
            </a:r>
          </a:p>
        </p:txBody>
      </p:sp>
      <p:sp>
        <p:nvSpPr>
          <p:cNvPr id="51" name="r52"/>
          <p:cNvSpPr/>
          <p:nvPr/>
        </p:nvSpPr>
        <p:spPr>
          <a:xfrm>
            <a:off x="8860536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3" name="r54"/>
          <p:cNvSpPr/>
          <p:nvPr/>
        </p:nvSpPr>
        <p:spPr>
          <a:xfrm>
            <a:off x="8860536" y="2240280"/>
            <a:ext cx="109728" cy="13716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6"/>
          <p:cNvSpPr txBox="1"/>
          <p:nvPr/>
        </p:nvSpPr>
        <p:spPr>
          <a:xfrm>
            <a:off x="8970264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071D49"/>
                </a:solidFill>
                <a:latin typeface="Arial"/>
              </a:rPr>
              <a:t>~190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8970264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person-days (165–215 range)</a:t>
            </a:r>
          </a:p>
        </p:txBody>
      </p:sp>
      <p:sp>
        <p:nvSpPr>
          <p:cNvPr id="59" name="t60"/>
          <p:cNvSpPr txBox="1"/>
          <p:nvPr/>
        </p:nvSpPr>
        <p:spPr>
          <a:xfrm>
            <a:off x="548640" y="3886200"/>
            <a:ext cx="10972800" cy="2011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71D49"/>
                </a:solidFill>
                <a:latin typeface="Arial"/>
              </a:rPr>
              <a:t>Why this matters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Performance &amp; SEO — EDS targets a 100 Lighthouse score; replaces legacy jQuery/Bootstrap and an Angular SPA with fast, static-first delivery.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Authoring agility — marketers edit in documents; no code release for content change, accelerating regulated-content updates.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Compliance by design — ISI / PI fair-balance, references and PRC/job codes treated as first-class migration artifacts.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Economies of scale — build common blocks once, theme per brand; later sites get faster and cheaper.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22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22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SCOPE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Portfolio at a Glance</a:t>
            </a:r>
          </a:p>
        </p:txBody>
      </p:sp>
      <p:sp>
        <p:nvSpPr>
          <p:cNvPr id="75" name="r76"/>
          <p:cNvSpPr/>
          <p:nvPr/>
        </p:nvSpPr>
        <p:spPr>
          <a:xfrm>
            <a:off x="548640" y="1417320"/>
            <a:ext cx="2183731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7" name="t78"/>
          <p:cNvSpPr txBox="1"/>
          <p:nvPr/>
        </p:nvSpPr>
        <p:spPr>
          <a:xfrm>
            <a:off x="548640" y="1417320"/>
            <a:ext cx="2183731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79" name="r80"/>
          <p:cNvSpPr/>
          <p:nvPr/>
        </p:nvSpPr>
        <p:spPr>
          <a:xfrm>
            <a:off x="2732371" y="1417320"/>
            <a:ext cx="2766060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1" name="t82"/>
          <p:cNvSpPr txBox="1"/>
          <p:nvPr/>
        </p:nvSpPr>
        <p:spPr>
          <a:xfrm>
            <a:off x="2732371" y="1417320"/>
            <a:ext cx="276606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83" name="r84"/>
          <p:cNvSpPr/>
          <p:nvPr/>
        </p:nvSpPr>
        <p:spPr>
          <a:xfrm>
            <a:off x="5498431" y="1417320"/>
            <a:ext cx="2766060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5" name="t86"/>
          <p:cNvSpPr txBox="1"/>
          <p:nvPr/>
        </p:nvSpPr>
        <p:spPr>
          <a:xfrm>
            <a:off x="5498431" y="1417320"/>
            <a:ext cx="276606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Therapeutic area</a:t>
            </a:r>
          </a:p>
        </p:txBody>
      </p:sp>
      <p:sp>
        <p:nvSpPr>
          <p:cNvPr id="87" name="r88"/>
          <p:cNvSpPr/>
          <p:nvPr/>
        </p:nvSpPr>
        <p:spPr>
          <a:xfrm>
            <a:off x="8264491" y="1417320"/>
            <a:ext cx="1746985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9" name="t90"/>
          <p:cNvSpPr txBox="1"/>
          <p:nvPr/>
        </p:nvSpPr>
        <p:spPr>
          <a:xfrm>
            <a:off x="8264491" y="1417320"/>
            <a:ext cx="1746985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Source state</a:t>
            </a:r>
          </a:p>
        </p:txBody>
      </p:sp>
      <p:sp>
        <p:nvSpPr>
          <p:cNvPr id="91" name="r92"/>
          <p:cNvSpPr/>
          <p:nvPr/>
        </p:nvSpPr>
        <p:spPr>
          <a:xfrm>
            <a:off x="10011476" y="1417320"/>
            <a:ext cx="1601403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93" name="t94"/>
          <p:cNvSpPr txBox="1"/>
          <p:nvPr/>
        </p:nvSpPr>
        <p:spPr>
          <a:xfrm>
            <a:off x="10011476" y="1417320"/>
            <a:ext cx="1601403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Complexity</a:t>
            </a:r>
          </a:p>
        </p:txBody>
      </p:sp>
      <p:sp>
        <p:nvSpPr>
          <p:cNvPr id="95" name="r96"/>
          <p:cNvSpPr/>
          <p:nvPr/>
        </p:nvSpPr>
        <p:spPr>
          <a:xfrm>
            <a:off x="548640" y="1965960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97" name="t98"/>
          <p:cNvSpPr txBox="1"/>
          <p:nvPr/>
        </p:nvSpPr>
        <p:spPr>
          <a:xfrm>
            <a:off x="548640" y="1965960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99" name="r100"/>
          <p:cNvSpPr/>
          <p:nvPr/>
        </p:nvSpPr>
        <p:spPr>
          <a:xfrm>
            <a:off x="2732371" y="1965960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" name="t102"/>
          <p:cNvSpPr txBox="1"/>
          <p:nvPr/>
        </p:nvSpPr>
        <p:spPr>
          <a:xfrm>
            <a:off x="2732371" y="196596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 (multi-indication)</a:t>
            </a:r>
          </a:p>
        </p:txBody>
      </p:sp>
      <p:sp>
        <p:nvSpPr>
          <p:cNvPr id="103" name="r104"/>
          <p:cNvSpPr/>
          <p:nvPr/>
        </p:nvSpPr>
        <p:spPr>
          <a:xfrm>
            <a:off x="5498431" y="1965960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" name="t106"/>
          <p:cNvSpPr txBox="1"/>
          <p:nvPr/>
        </p:nvSpPr>
        <p:spPr>
          <a:xfrm>
            <a:off x="5498431" y="196596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Prostate / endo / fibroids</a:t>
            </a:r>
          </a:p>
        </p:txBody>
      </p:sp>
      <p:sp>
        <p:nvSpPr>
          <p:cNvPr id="107" name="r108"/>
          <p:cNvSpPr/>
          <p:nvPr/>
        </p:nvSpPr>
        <p:spPr>
          <a:xfrm>
            <a:off x="8264491" y="1965960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" name="t110"/>
          <p:cNvSpPr txBox="1"/>
          <p:nvPr/>
        </p:nvSpPr>
        <p:spPr>
          <a:xfrm>
            <a:off x="8264491" y="1965960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111" name="r112"/>
          <p:cNvSpPr/>
          <p:nvPr/>
        </p:nvSpPr>
        <p:spPr>
          <a:xfrm>
            <a:off x="10011476" y="1965960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" name="t114"/>
          <p:cNvSpPr txBox="1"/>
          <p:nvPr/>
        </p:nvSpPr>
        <p:spPr>
          <a:xfrm>
            <a:off x="10011476" y="1965960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15" name="r116"/>
          <p:cNvSpPr/>
          <p:nvPr/>
        </p:nvSpPr>
        <p:spPr>
          <a:xfrm>
            <a:off x="548640" y="2404872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" name="t118"/>
          <p:cNvSpPr txBox="1"/>
          <p:nvPr/>
        </p:nvSpPr>
        <p:spPr>
          <a:xfrm>
            <a:off x="548640" y="2404872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119" name="r120"/>
          <p:cNvSpPr/>
          <p:nvPr/>
        </p:nvSpPr>
        <p:spPr>
          <a:xfrm>
            <a:off x="2732371" y="2404872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" name="t122"/>
          <p:cNvSpPr txBox="1"/>
          <p:nvPr/>
        </p:nvSpPr>
        <p:spPr>
          <a:xfrm>
            <a:off x="2732371" y="2404872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Caregiver / HCP</a:t>
            </a:r>
          </a:p>
        </p:txBody>
      </p:sp>
      <p:sp>
        <p:nvSpPr>
          <p:cNvPr id="123" name="r124"/>
          <p:cNvSpPr/>
          <p:nvPr/>
        </p:nvSpPr>
        <p:spPr>
          <a:xfrm>
            <a:off x="5498431" y="2404872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" name="t126"/>
          <p:cNvSpPr txBox="1"/>
          <p:nvPr/>
        </p:nvSpPr>
        <p:spPr>
          <a:xfrm>
            <a:off x="5498431" y="2404872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Central precocious puberty</a:t>
            </a:r>
          </a:p>
        </p:txBody>
      </p:sp>
      <p:sp>
        <p:nvSpPr>
          <p:cNvPr id="127" name="r128"/>
          <p:cNvSpPr/>
          <p:nvPr/>
        </p:nvSpPr>
        <p:spPr>
          <a:xfrm>
            <a:off x="8264491" y="2404872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" name="t130"/>
          <p:cNvSpPr txBox="1"/>
          <p:nvPr/>
        </p:nvSpPr>
        <p:spPr>
          <a:xfrm>
            <a:off x="8264491" y="2404872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WAF-blocked</a:t>
            </a:r>
          </a:p>
        </p:txBody>
      </p:sp>
      <p:sp>
        <p:nvSpPr>
          <p:cNvPr id="131" name="r132"/>
          <p:cNvSpPr/>
          <p:nvPr/>
        </p:nvSpPr>
        <p:spPr>
          <a:xfrm>
            <a:off x="10011476" y="2404872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3" name="t134"/>
          <p:cNvSpPr txBox="1"/>
          <p:nvPr/>
        </p:nvSpPr>
        <p:spPr>
          <a:xfrm>
            <a:off x="10011476" y="2404872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35" name="r136"/>
          <p:cNvSpPr/>
          <p:nvPr/>
        </p:nvSpPr>
        <p:spPr>
          <a:xfrm>
            <a:off x="548640" y="2843784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7" name="t138"/>
          <p:cNvSpPr txBox="1"/>
          <p:nvPr/>
        </p:nvSpPr>
        <p:spPr>
          <a:xfrm>
            <a:off x="548640" y="2843784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139" name="r140"/>
          <p:cNvSpPr/>
          <p:nvPr/>
        </p:nvSpPr>
        <p:spPr>
          <a:xfrm>
            <a:off x="2732371" y="2843784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1" name="t142"/>
          <p:cNvSpPr txBox="1"/>
          <p:nvPr/>
        </p:nvSpPr>
        <p:spPr>
          <a:xfrm>
            <a:off x="2732371" y="2843784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43" name="r144"/>
          <p:cNvSpPr/>
          <p:nvPr/>
        </p:nvSpPr>
        <p:spPr>
          <a:xfrm>
            <a:off x="5498431" y="2843784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5" name="t146"/>
          <p:cNvSpPr txBox="1"/>
          <p:nvPr/>
        </p:nvSpPr>
        <p:spPr>
          <a:xfrm>
            <a:off x="5498431" y="2843784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Hypothyroidism</a:t>
            </a:r>
          </a:p>
        </p:txBody>
      </p:sp>
      <p:sp>
        <p:nvSpPr>
          <p:cNvPr id="147" name="r148"/>
          <p:cNvSpPr/>
          <p:nvPr/>
        </p:nvSpPr>
        <p:spPr>
          <a:xfrm>
            <a:off x="8264491" y="2843784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9" name="t150"/>
          <p:cNvSpPr txBox="1"/>
          <p:nvPr/>
        </p:nvSpPr>
        <p:spPr>
          <a:xfrm>
            <a:off x="8264491" y="2843784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Angular SPA</a:t>
            </a:r>
          </a:p>
        </p:txBody>
      </p:sp>
      <p:sp>
        <p:nvSpPr>
          <p:cNvPr id="151" name="r152"/>
          <p:cNvSpPr/>
          <p:nvPr/>
        </p:nvSpPr>
        <p:spPr>
          <a:xfrm>
            <a:off x="10011476" y="2843784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53" name="t154"/>
          <p:cNvSpPr txBox="1"/>
          <p:nvPr/>
        </p:nvSpPr>
        <p:spPr>
          <a:xfrm>
            <a:off x="10011476" y="2843784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Medium</a:t>
            </a:r>
          </a:p>
        </p:txBody>
      </p:sp>
      <p:sp>
        <p:nvSpPr>
          <p:cNvPr id="155" name="r156"/>
          <p:cNvSpPr/>
          <p:nvPr/>
        </p:nvSpPr>
        <p:spPr>
          <a:xfrm>
            <a:off x="548640" y="3282696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57" name="t158"/>
          <p:cNvSpPr txBox="1"/>
          <p:nvPr/>
        </p:nvSpPr>
        <p:spPr>
          <a:xfrm>
            <a:off x="548640" y="3282696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159" name="r160"/>
          <p:cNvSpPr/>
          <p:nvPr/>
        </p:nvSpPr>
        <p:spPr>
          <a:xfrm>
            <a:off x="2732371" y="3282696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1" name="t162"/>
          <p:cNvSpPr txBox="1"/>
          <p:nvPr/>
        </p:nvSpPr>
        <p:spPr>
          <a:xfrm>
            <a:off x="2732371" y="3282696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HCP portal</a:t>
            </a:r>
          </a:p>
        </p:txBody>
      </p:sp>
      <p:sp>
        <p:nvSpPr>
          <p:cNvPr id="163" name="r164"/>
          <p:cNvSpPr/>
          <p:nvPr/>
        </p:nvSpPr>
        <p:spPr>
          <a:xfrm>
            <a:off x="5498431" y="3282696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5" name="t166"/>
          <p:cNvSpPr txBox="1"/>
          <p:nvPr/>
        </p:nvSpPr>
        <p:spPr>
          <a:xfrm>
            <a:off x="5498431" y="3282696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Hypothyroidism</a:t>
            </a:r>
          </a:p>
        </p:txBody>
      </p:sp>
      <p:sp>
        <p:nvSpPr>
          <p:cNvPr id="167" name="r168"/>
          <p:cNvSpPr/>
          <p:nvPr/>
        </p:nvSpPr>
        <p:spPr>
          <a:xfrm>
            <a:off x="8264491" y="3282696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9" name="t170"/>
          <p:cNvSpPr txBox="1"/>
          <p:nvPr/>
        </p:nvSpPr>
        <p:spPr>
          <a:xfrm>
            <a:off x="8264491" y="3282696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WAF-blocked</a:t>
            </a:r>
          </a:p>
        </p:txBody>
      </p:sp>
      <p:sp>
        <p:nvSpPr>
          <p:cNvPr id="171" name="r172"/>
          <p:cNvSpPr/>
          <p:nvPr/>
        </p:nvSpPr>
        <p:spPr>
          <a:xfrm>
            <a:off x="10011476" y="3282696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73" name="t174"/>
          <p:cNvSpPr txBox="1"/>
          <p:nvPr/>
        </p:nvSpPr>
        <p:spPr>
          <a:xfrm>
            <a:off x="10011476" y="3282696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 *</a:t>
            </a:r>
          </a:p>
        </p:txBody>
      </p:sp>
      <p:sp>
        <p:nvSpPr>
          <p:cNvPr id="175" name="r176"/>
          <p:cNvSpPr/>
          <p:nvPr/>
        </p:nvSpPr>
        <p:spPr>
          <a:xfrm>
            <a:off x="548640" y="3721608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77" name="t178"/>
          <p:cNvSpPr txBox="1"/>
          <p:nvPr/>
        </p:nvSpPr>
        <p:spPr>
          <a:xfrm>
            <a:off x="548640" y="3721608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179" name="r180"/>
          <p:cNvSpPr/>
          <p:nvPr/>
        </p:nvSpPr>
        <p:spPr>
          <a:xfrm>
            <a:off x="2732371" y="3721608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1" name="t182"/>
          <p:cNvSpPr txBox="1"/>
          <p:nvPr/>
        </p:nvSpPr>
        <p:spPr>
          <a:xfrm>
            <a:off x="2732371" y="3721608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83" name="r184"/>
          <p:cNvSpPr/>
          <p:nvPr/>
        </p:nvSpPr>
        <p:spPr>
          <a:xfrm>
            <a:off x="5498431" y="3721608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5" name="t186"/>
          <p:cNvSpPr txBox="1"/>
          <p:nvPr/>
        </p:nvSpPr>
        <p:spPr>
          <a:xfrm>
            <a:off x="5498431" y="3721608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Contraception (IUD)</a:t>
            </a:r>
          </a:p>
        </p:txBody>
      </p:sp>
      <p:sp>
        <p:nvSpPr>
          <p:cNvPr id="187" name="r188"/>
          <p:cNvSpPr/>
          <p:nvPr/>
        </p:nvSpPr>
        <p:spPr>
          <a:xfrm>
            <a:off x="8264491" y="3721608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9" name="t190"/>
          <p:cNvSpPr txBox="1"/>
          <p:nvPr/>
        </p:nvSpPr>
        <p:spPr>
          <a:xfrm>
            <a:off x="8264491" y="3721608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191" name="r192"/>
          <p:cNvSpPr/>
          <p:nvPr/>
        </p:nvSpPr>
        <p:spPr>
          <a:xfrm>
            <a:off x="10011476" y="3721608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93" name="t194"/>
          <p:cNvSpPr txBox="1"/>
          <p:nvPr/>
        </p:nvSpPr>
        <p:spPr>
          <a:xfrm>
            <a:off x="10011476" y="3721608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E8553D"/>
                </a:solidFill>
                <a:latin typeface="Arial"/>
              </a:rPr>
              <a:t>High</a:t>
            </a:r>
          </a:p>
        </p:txBody>
      </p:sp>
      <p:sp>
        <p:nvSpPr>
          <p:cNvPr id="195" name="r196"/>
          <p:cNvSpPr/>
          <p:nvPr/>
        </p:nvSpPr>
        <p:spPr>
          <a:xfrm>
            <a:off x="548640" y="4160520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97" name="t198"/>
          <p:cNvSpPr txBox="1"/>
          <p:nvPr/>
        </p:nvSpPr>
        <p:spPr>
          <a:xfrm>
            <a:off x="548640" y="4160520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199" name="r200"/>
          <p:cNvSpPr/>
          <p:nvPr/>
        </p:nvSpPr>
        <p:spPr>
          <a:xfrm>
            <a:off x="2732371" y="4160520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1" name="t202"/>
          <p:cNvSpPr txBox="1"/>
          <p:nvPr/>
        </p:nvSpPr>
        <p:spPr>
          <a:xfrm>
            <a:off x="2732371" y="416052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203" name="r204"/>
          <p:cNvSpPr/>
          <p:nvPr/>
        </p:nvSpPr>
        <p:spPr>
          <a:xfrm>
            <a:off x="5498431" y="4160520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5498431" y="416052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Contraception (IUD)</a:t>
            </a:r>
          </a:p>
        </p:txBody>
      </p:sp>
      <p:sp>
        <p:nvSpPr>
          <p:cNvPr id="207" name="r208"/>
          <p:cNvSpPr/>
          <p:nvPr/>
        </p:nvSpPr>
        <p:spPr>
          <a:xfrm>
            <a:off x="8264491" y="4160520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9" name="t210"/>
          <p:cNvSpPr txBox="1"/>
          <p:nvPr/>
        </p:nvSpPr>
        <p:spPr>
          <a:xfrm>
            <a:off x="8264491" y="4160520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211" name="r212"/>
          <p:cNvSpPr/>
          <p:nvPr/>
        </p:nvSpPr>
        <p:spPr>
          <a:xfrm>
            <a:off x="10011476" y="4160520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13" name="t214"/>
          <p:cNvSpPr txBox="1"/>
          <p:nvPr/>
        </p:nvSpPr>
        <p:spPr>
          <a:xfrm>
            <a:off x="10011476" y="4160520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000" b="0">
                <a:solidFill>
                  <a:srgbClr val="5A5A5A"/>
                </a:solidFill>
                <a:latin typeface="Arial"/>
              </a:rPr>
              <a:t>* Highest discovery risk — site is WAF-blocked and scope (HCP portal / registration / interactive tools) is unconfirmed. A discovery spike precedes its estimate.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071D49"/>
                </a:solidFill>
                <a:latin typeface="Arial"/>
              </a:rPr>
              <a:t>All six are AbbVie properties sharing a common technology stack (Adobe Launch, OneTrust, Bootstrap/jQuery, Adobe Typekit) — the basis for one shared design system.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268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270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t272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METHOD</a:t>
            </a:r>
          </a:p>
        </p:txBody>
      </p:sp>
      <p:sp>
        <p:nvSpPr>
          <p:cNvPr id="273" name="t27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Our Solution Approach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071D49"/>
                </a:solidFill>
                <a:latin typeface="Arial"/>
              </a:rPr>
              <a:t>AEM Edge Delivery Services — vanilla JS/CSS, no build step, three-phase loading, document-authored content.</a:t>
            </a:r>
          </a:p>
        </p:txBody>
      </p:sp>
      <p:sp>
        <p:nvSpPr>
          <p:cNvPr id="233" name="r234"/>
          <p:cNvSpPr/>
          <p:nvPr/>
        </p:nvSpPr>
        <p:spPr>
          <a:xfrm>
            <a:off x="54864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35" name="r236"/>
          <p:cNvSpPr/>
          <p:nvPr/>
        </p:nvSpPr>
        <p:spPr>
          <a:xfrm>
            <a:off x="548640" y="1965960"/>
            <a:ext cx="2670048" cy="6400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t238"/>
          <p:cNvSpPr txBox="1"/>
          <p:nvPr/>
        </p:nvSpPr>
        <p:spPr>
          <a:xfrm>
            <a:off x="54864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One shared design system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62179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Single AbbVie brand base; per-brand theming via token overrides — not bespoke code.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Colors, type, spacing &amp; motion captured once as reusable tokens.</a:t>
            </a:r>
          </a:p>
        </p:txBody>
      </p:sp>
      <p:sp>
        <p:nvSpPr>
          <p:cNvPr id="241" name="r242"/>
          <p:cNvSpPr/>
          <p:nvPr/>
        </p:nvSpPr>
        <p:spPr>
          <a:xfrm>
            <a:off x="333756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43" name="r244"/>
          <p:cNvSpPr/>
          <p:nvPr/>
        </p:nvSpPr>
        <p:spPr>
          <a:xfrm>
            <a:off x="3337560" y="1965960"/>
            <a:ext cx="2670048" cy="6400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t246"/>
          <p:cNvSpPr txBox="1"/>
          <p:nvPr/>
        </p:nvSpPr>
        <p:spPr>
          <a:xfrm>
            <a:off x="333756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One block library</a:t>
            </a:r>
          </a:p>
        </p:txBody>
      </p:sp>
      <p:sp>
        <p:nvSpPr>
          <p:cNvPr id="247" name="t248"/>
          <p:cNvSpPr txBox="1"/>
          <p:nvPr/>
        </p:nvSpPr>
        <p:spPr>
          <a:xfrm>
            <a:off x="341071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16 existing blocks reused (gate, ISI bar, hero, cards, tabs…).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7 new shared blocks built once; 9 site-specific blocks where needed.</a:t>
            </a:r>
          </a:p>
        </p:txBody>
      </p:sp>
      <p:sp>
        <p:nvSpPr>
          <p:cNvPr id="249" name="r250"/>
          <p:cNvSpPr/>
          <p:nvPr/>
        </p:nvSpPr>
        <p:spPr>
          <a:xfrm>
            <a:off x="612648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51" name="r252"/>
          <p:cNvSpPr/>
          <p:nvPr/>
        </p:nvSpPr>
        <p:spPr>
          <a:xfrm>
            <a:off x="6126480" y="1965960"/>
            <a:ext cx="2670048" cy="6400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254"/>
          <p:cNvSpPr txBox="1"/>
          <p:nvPr/>
        </p:nvSpPr>
        <p:spPr>
          <a:xfrm>
            <a:off x="612648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Content-driven delivery</a:t>
            </a:r>
          </a:p>
        </p:txBody>
      </p:sp>
      <p:sp>
        <p:nvSpPr>
          <p:cNvPr id="255" name="t256"/>
          <p:cNvSpPr txBox="1"/>
          <p:nvPr/>
        </p:nvSpPr>
        <p:spPr>
          <a:xfrm>
            <a:off x="619963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Every block starts from a block.md content-model contract.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Authored draft content drives decoration &amp; automated tests.</a:t>
            </a:r>
          </a:p>
        </p:txBody>
      </p:sp>
      <p:sp>
        <p:nvSpPr>
          <p:cNvPr id="257" name="r258"/>
          <p:cNvSpPr/>
          <p:nvPr/>
        </p:nvSpPr>
        <p:spPr>
          <a:xfrm>
            <a:off x="891540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59" name="r260"/>
          <p:cNvSpPr/>
          <p:nvPr/>
        </p:nvSpPr>
        <p:spPr>
          <a:xfrm>
            <a:off x="8915400" y="1965960"/>
            <a:ext cx="2670048" cy="64008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t262"/>
          <p:cNvSpPr txBox="1"/>
          <p:nvPr/>
        </p:nvSpPr>
        <p:spPr>
          <a:xfrm>
            <a:off x="891540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Compliance-first</a:t>
            </a:r>
          </a:p>
        </p:txBody>
      </p:sp>
      <p:sp>
        <p:nvSpPr>
          <p:cNvPr id="263" name="t264"/>
          <p:cNvSpPr txBox="1"/>
          <p:nvPr/>
        </p:nvSpPr>
        <p:spPr>
          <a:xfrm>
            <a:off x="898855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ISI/PI fair balance, references &amp; PRC codes migrated verbatim.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WCAG 2.1 AA baked into review, not bolted on.</a:t>
            </a:r>
          </a:p>
        </p:txBody>
      </p:sp>
      <p:sp>
        <p:nvSpPr>
          <p:cNvPr id="275" name="t27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277" name="t278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r34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34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" name="t35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HOW WE BUILD</a:t>
            </a:r>
          </a:p>
        </p:txBody>
      </p:sp>
      <p:sp>
        <p:nvSpPr>
          <p:cNvPr id="351" name="t35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The 6-Stage EDS Delivery Lifecycle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Each block flows through six specialised delivery stages — a repeatable, quality-gated lifecycle.</a:t>
            </a:r>
          </a:p>
        </p:txBody>
      </p:sp>
      <p:sp>
        <p:nvSpPr>
          <p:cNvPr id="281" name="r282"/>
          <p:cNvSpPr/>
          <p:nvPr/>
        </p:nvSpPr>
        <p:spPr>
          <a:xfrm>
            <a:off x="548640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83" name="r284"/>
          <p:cNvSpPr/>
          <p:nvPr/>
        </p:nvSpPr>
        <p:spPr>
          <a:xfrm>
            <a:off x="548640" y="2011680"/>
            <a:ext cx="1764792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t286"/>
          <p:cNvSpPr txBox="1"/>
          <p:nvPr/>
        </p:nvSpPr>
        <p:spPr>
          <a:xfrm>
            <a:off x="548640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1</a:t>
            </a:r>
          </a:p>
        </p:txBody>
      </p:sp>
      <p:sp>
        <p:nvSpPr>
          <p:cNvPr id="287" name="t288"/>
          <p:cNvSpPr txBox="1"/>
          <p:nvPr/>
        </p:nvSpPr>
        <p:spPr>
          <a:xfrm>
            <a:off x="548640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Strategist</a:t>
            </a:r>
          </a:p>
        </p:txBody>
      </p:sp>
      <p:sp>
        <p:nvSpPr>
          <p:cNvPr id="289" name="t290"/>
          <p:cNvSpPr txBox="1"/>
          <p:nvPr/>
        </p:nvSpPr>
        <p:spPr>
          <a:xfrm>
            <a:off x="594360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Story, acceptance criteria, content model (block.md), IA</a:t>
            </a:r>
          </a:p>
        </p:txBody>
      </p:sp>
      <p:sp>
        <p:nvSpPr>
          <p:cNvPr id="291" name="r292"/>
          <p:cNvSpPr/>
          <p:nvPr/>
        </p:nvSpPr>
        <p:spPr>
          <a:xfrm>
            <a:off x="2368296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93" name="r294"/>
          <p:cNvSpPr/>
          <p:nvPr/>
        </p:nvSpPr>
        <p:spPr>
          <a:xfrm>
            <a:off x="2368296" y="2011680"/>
            <a:ext cx="1764792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t296"/>
          <p:cNvSpPr txBox="1"/>
          <p:nvPr/>
        </p:nvSpPr>
        <p:spPr>
          <a:xfrm>
            <a:off x="2368296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2</a:t>
            </a:r>
          </a:p>
        </p:txBody>
      </p:sp>
      <p:sp>
        <p:nvSpPr>
          <p:cNvPr id="297" name="t298"/>
          <p:cNvSpPr txBox="1"/>
          <p:nvPr/>
        </p:nvSpPr>
        <p:spPr>
          <a:xfrm>
            <a:off x="2368296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Styleforge</a:t>
            </a:r>
          </a:p>
        </p:txBody>
      </p:sp>
      <p:sp>
        <p:nvSpPr>
          <p:cNvPr id="299" name="t300"/>
          <p:cNvSpPr txBox="1"/>
          <p:nvPr/>
        </p:nvSpPr>
        <p:spPr>
          <a:xfrm>
            <a:off x="2414016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Design tokens, color/type, responsive &amp; motion specs</a:t>
            </a:r>
          </a:p>
        </p:txBody>
      </p:sp>
      <p:sp>
        <p:nvSpPr>
          <p:cNvPr id="301" name="r302"/>
          <p:cNvSpPr/>
          <p:nvPr/>
        </p:nvSpPr>
        <p:spPr>
          <a:xfrm>
            <a:off x="4187952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03" name="r304"/>
          <p:cNvSpPr/>
          <p:nvPr/>
        </p:nvSpPr>
        <p:spPr>
          <a:xfrm>
            <a:off x="4187952" y="2011680"/>
            <a:ext cx="1764792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t306"/>
          <p:cNvSpPr txBox="1"/>
          <p:nvPr/>
        </p:nvSpPr>
        <p:spPr>
          <a:xfrm>
            <a:off x="4187952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3</a:t>
            </a:r>
          </a:p>
        </p:txBody>
      </p:sp>
      <p:sp>
        <p:nvSpPr>
          <p:cNvPr id="307" name="t308"/>
          <p:cNvSpPr txBox="1"/>
          <p:nvPr/>
        </p:nvSpPr>
        <p:spPr>
          <a:xfrm>
            <a:off x="4187952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Blockwright</a:t>
            </a:r>
          </a:p>
        </p:txBody>
      </p:sp>
      <p:sp>
        <p:nvSpPr>
          <p:cNvPr id="309" name="t310"/>
          <p:cNvSpPr txBox="1"/>
          <p:nvPr/>
        </p:nvSpPr>
        <p:spPr>
          <a:xfrm>
            <a:off x="4233672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Build block JS/CSS/markup, draft content, lint, local tests</a:t>
            </a:r>
          </a:p>
        </p:txBody>
      </p:sp>
      <p:sp>
        <p:nvSpPr>
          <p:cNvPr id="311" name="r312"/>
          <p:cNvSpPr/>
          <p:nvPr/>
        </p:nvSpPr>
        <p:spPr>
          <a:xfrm>
            <a:off x="6007608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13" name="r314"/>
          <p:cNvSpPr/>
          <p:nvPr/>
        </p:nvSpPr>
        <p:spPr>
          <a:xfrm>
            <a:off x="6007608" y="2011680"/>
            <a:ext cx="1764792" cy="86868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t316"/>
          <p:cNvSpPr txBox="1"/>
          <p:nvPr/>
        </p:nvSpPr>
        <p:spPr>
          <a:xfrm>
            <a:off x="6007608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4</a:t>
            </a:r>
          </a:p>
        </p:txBody>
      </p:sp>
      <p:sp>
        <p:nvSpPr>
          <p:cNvPr id="317" name="t318"/>
          <p:cNvSpPr txBox="1"/>
          <p:nvPr/>
        </p:nvSpPr>
        <p:spPr>
          <a:xfrm>
            <a:off x="6007608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Sentinel</a:t>
            </a:r>
          </a:p>
        </p:txBody>
      </p:sp>
      <p:sp>
        <p:nvSpPr>
          <p:cNvPr id="319" name="t320"/>
          <p:cNvSpPr txBox="1"/>
          <p:nvPr/>
        </p:nvSpPr>
        <p:spPr>
          <a:xfrm>
            <a:off x="6053328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Code review (standards + WCAG AA), Playwright specs, green run</a:t>
            </a:r>
          </a:p>
        </p:txBody>
      </p:sp>
      <p:sp>
        <p:nvSpPr>
          <p:cNvPr id="321" name="r322"/>
          <p:cNvSpPr/>
          <p:nvPr/>
        </p:nvSpPr>
        <p:spPr>
          <a:xfrm>
            <a:off x="7827264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23" name="r324"/>
          <p:cNvSpPr/>
          <p:nvPr/>
        </p:nvSpPr>
        <p:spPr>
          <a:xfrm>
            <a:off x="7827264" y="2011680"/>
            <a:ext cx="1764792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7827264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5</a:t>
            </a:r>
          </a:p>
        </p:txBody>
      </p:sp>
      <p:sp>
        <p:nvSpPr>
          <p:cNvPr id="327" name="t328"/>
          <p:cNvSpPr txBox="1"/>
          <p:nvPr/>
        </p:nvSpPr>
        <p:spPr>
          <a:xfrm>
            <a:off x="7827264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Composer</a:t>
            </a:r>
          </a:p>
        </p:txBody>
      </p:sp>
      <p:sp>
        <p:nvSpPr>
          <p:cNvPr id="329" name="t330"/>
          <p:cNvSpPr txBox="1"/>
          <p:nvPr/>
        </p:nvSpPr>
        <p:spPr>
          <a:xfrm>
            <a:off x="7872984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Block-library entry + page assembly from authored content</a:t>
            </a:r>
          </a:p>
        </p:txBody>
      </p:sp>
      <p:sp>
        <p:nvSpPr>
          <p:cNvPr id="331" name="r332"/>
          <p:cNvSpPr/>
          <p:nvPr/>
        </p:nvSpPr>
        <p:spPr>
          <a:xfrm>
            <a:off x="9646920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33" name="r334"/>
          <p:cNvSpPr/>
          <p:nvPr/>
        </p:nvSpPr>
        <p:spPr>
          <a:xfrm>
            <a:off x="9646920" y="2011680"/>
            <a:ext cx="1764792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t336"/>
          <p:cNvSpPr txBox="1"/>
          <p:nvPr/>
        </p:nvSpPr>
        <p:spPr>
          <a:xfrm>
            <a:off x="9646920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6</a:t>
            </a:r>
          </a:p>
        </p:txBody>
      </p:sp>
      <p:sp>
        <p:nvSpPr>
          <p:cNvPr id="337" name="t338"/>
          <p:cNvSpPr txBox="1"/>
          <p:nvPr/>
        </p:nvSpPr>
        <p:spPr>
          <a:xfrm>
            <a:off x="9646920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sp>
        <p:nvSpPr>
          <p:cNvPr id="339" name="t340"/>
          <p:cNvSpPr txBox="1"/>
          <p:nvPr/>
        </p:nvSpPr>
        <p:spPr>
          <a:xfrm>
            <a:off x="9692640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Pre-push hygiene, PageSpeed ≥100, preview URL, PR prep</a:t>
            </a:r>
          </a:p>
        </p:txBody>
      </p:sp>
      <p:sp>
        <p:nvSpPr>
          <p:cNvPr id="341" name="t342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071D49"/>
                </a:solidFill>
                <a:latin typeface="Arial"/>
              </a:rPr>
              <a:t>Plan  →  Design  →  Build  →  Review/Test  →  Integrate  →  Deploy</a:t>
            </a:r>
          </a:p>
        </p:txBody>
      </p:sp>
      <p:sp>
        <p:nvSpPr>
          <p:cNvPr id="353" name="t35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355" name="t35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3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" name="r38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" name="r38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" name="t39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REUSE STRATEGY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Shared Block Library</a:t>
            </a:r>
          </a:p>
        </p:txBody>
      </p:sp>
      <p:sp>
        <p:nvSpPr>
          <p:cNvPr id="357" name="t358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Reuse first, build once, reuse again — the library compounds across the portfolio.</a:t>
            </a:r>
          </a:p>
        </p:txBody>
      </p:sp>
      <p:sp>
        <p:nvSpPr>
          <p:cNvPr id="359" name="r360"/>
          <p:cNvSpPr/>
          <p:nvPr/>
        </p:nvSpPr>
        <p:spPr>
          <a:xfrm>
            <a:off x="548640" y="1874519"/>
            <a:ext cx="3566160" cy="566928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" name="t362"/>
          <p:cNvSpPr txBox="1"/>
          <p:nvPr/>
        </p:nvSpPr>
        <p:spPr>
          <a:xfrm>
            <a:off x="548640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Reused (existing)</a:t>
            </a:r>
          </a:p>
        </p:txBody>
      </p:sp>
      <p:sp>
        <p:nvSpPr>
          <p:cNvPr id="363" name="r364"/>
          <p:cNvSpPr/>
          <p:nvPr/>
        </p:nvSpPr>
        <p:spPr>
          <a:xfrm>
            <a:off x="548640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65" name="t366"/>
          <p:cNvSpPr txBox="1"/>
          <p:nvPr/>
        </p:nvSpPr>
        <p:spPr>
          <a:xfrm>
            <a:off x="640080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3F8F6B"/>
                </a:solidFill>
                <a:latin typeface="Arial"/>
              </a:rPr>
              <a:t>16 blocks — 0 build cost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audience-gate, isi-bar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header, footer, navigation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hero-carousel, nav-cards, tabs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stat-bar, split-section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promo-banner, promo-pair, resource-list</a:t>
            </a:r>
          </a:p>
        </p:txBody>
      </p:sp>
      <p:sp>
        <p:nvSpPr>
          <p:cNvPr id="367" name="r368"/>
          <p:cNvSpPr/>
          <p:nvPr/>
        </p:nvSpPr>
        <p:spPr>
          <a:xfrm>
            <a:off x="4251960" y="1874519"/>
            <a:ext cx="3566160" cy="566928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t370"/>
          <p:cNvSpPr txBox="1"/>
          <p:nvPr/>
        </p:nvSpPr>
        <p:spPr>
          <a:xfrm>
            <a:off x="4251960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New — shared</a:t>
            </a:r>
          </a:p>
        </p:txBody>
      </p:sp>
      <p:sp>
        <p:nvSpPr>
          <p:cNvPr id="371" name="r372"/>
          <p:cNvSpPr/>
          <p:nvPr/>
        </p:nvSpPr>
        <p:spPr>
          <a:xfrm>
            <a:off x="4251960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73" name="t374"/>
          <p:cNvSpPr txBox="1"/>
          <p:nvPr/>
        </p:nvSpPr>
        <p:spPr>
          <a:xfrm>
            <a:off x="4343400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0B5FA5"/>
                </a:solidFill>
                <a:latin typeface="Arial"/>
              </a:rPr>
              <a:t>7 blocks — built once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savings-card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faq-accordion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reference-list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downloadable-resource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dosing-table, discussion-guide, spec-list</a:t>
            </a:r>
          </a:p>
        </p:txBody>
      </p:sp>
      <p:sp>
        <p:nvSpPr>
          <p:cNvPr id="375" name="r376"/>
          <p:cNvSpPr/>
          <p:nvPr/>
        </p:nvSpPr>
        <p:spPr>
          <a:xfrm>
            <a:off x="7955279" y="1874519"/>
            <a:ext cx="3566160" cy="566928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t378"/>
          <p:cNvSpPr txBox="1"/>
          <p:nvPr/>
        </p:nvSpPr>
        <p:spPr>
          <a:xfrm>
            <a:off x="7955279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New — site-specific</a:t>
            </a:r>
          </a:p>
        </p:txBody>
      </p:sp>
      <p:sp>
        <p:nvSpPr>
          <p:cNvPr id="379" name="r380"/>
          <p:cNvSpPr/>
          <p:nvPr/>
        </p:nvSpPr>
        <p:spPr>
          <a:xfrm>
            <a:off x="7955279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81" name="t382"/>
          <p:cNvSpPr txBox="1"/>
          <p:nvPr/>
        </p:nvSpPr>
        <p:spPr>
          <a:xfrm>
            <a:off x="8046719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9 blocks — cost drivers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indication-selector (lupron)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quiz, comparison-table, email-share (liletta)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clinical-data-table, rep-request-form, video-embed (HCP)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symptom-checker (hub), symptom-checklist (ped)</a:t>
            </a:r>
          </a:p>
        </p:txBody>
      </p:sp>
      <p:sp>
        <p:nvSpPr>
          <p:cNvPr id="393" name="t39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395" name="t39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5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" name="r51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r51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SITE DETAIL</a:t>
            </a:r>
          </a:p>
        </p:txBody>
      </p:sp>
      <p:sp>
        <p:nvSpPr>
          <p:cNvPr id="519" name="t52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Per-Site Scope Summary</a:t>
            </a:r>
          </a:p>
        </p:txBody>
      </p:sp>
      <p:sp>
        <p:nvSpPr>
          <p:cNvPr id="397" name="r398"/>
          <p:cNvSpPr/>
          <p:nvPr/>
        </p:nvSpPr>
        <p:spPr>
          <a:xfrm>
            <a:off x="548640" y="1417320"/>
            <a:ext cx="2370908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99" name="t400"/>
          <p:cNvSpPr txBox="1"/>
          <p:nvPr/>
        </p:nvSpPr>
        <p:spPr>
          <a:xfrm>
            <a:off x="548640" y="1417320"/>
            <a:ext cx="2370908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401" name="r402"/>
          <p:cNvSpPr/>
          <p:nvPr/>
        </p:nvSpPr>
        <p:spPr>
          <a:xfrm>
            <a:off x="2919548" y="1417320"/>
            <a:ext cx="1422545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03" name="t404"/>
          <p:cNvSpPr txBox="1"/>
          <p:nvPr/>
        </p:nvSpPr>
        <p:spPr>
          <a:xfrm>
            <a:off x="2919548" y="1417320"/>
            <a:ext cx="1422545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Pages (est.)</a:t>
            </a:r>
          </a:p>
        </p:txBody>
      </p:sp>
      <p:sp>
        <p:nvSpPr>
          <p:cNvPr id="405" name="r406"/>
          <p:cNvSpPr/>
          <p:nvPr/>
        </p:nvSpPr>
        <p:spPr>
          <a:xfrm>
            <a:off x="4342093" y="1417320"/>
            <a:ext cx="3793453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07" name="t408"/>
          <p:cNvSpPr txBox="1"/>
          <p:nvPr/>
        </p:nvSpPr>
        <p:spPr>
          <a:xfrm>
            <a:off x="4342093" y="1417320"/>
            <a:ext cx="3793453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Key new blocks</a:t>
            </a:r>
          </a:p>
        </p:txBody>
      </p:sp>
      <p:sp>
        <p:nvSpPr>
          <p:cNvPr id="409" name="r410"/>
          <p:cNvSpPr/>
          <p:nvPr/>
        </p:nvSpPr>
        <p:spPr>
          <a:xfrm>
            <a:off x="8135546" y="1417320"/>
            <a:ext cx="3477332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1" name="t412"/>
          <p:cNvSpPr txBox="1"/>
          <p:nvPr/>
        </p:nvSpPr>
        <p:spPr>
          <a:xfrm>
            <a:off x="8135546" y="1417320"/>
            <a:ext cx="3477332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Stand-out need</a:t>
            </a:r>
          </a:p>
        </p:txBody>
      </p:sp>
      <p:sp>
        <p:nvSpPr>
          <p:cNvPr id="413" name="r414"/>
          <p:cNvSpPr/>
          <p:nvPr/>
        </p:nvSpPr>
        <p:spPr>
          <a:xfrm>
            <a:off x="548640" y="204597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5" name="t416"/>
          <p:cNvSpPr txBox="1"/>
          <p:nvPr/>
        </p:nvSpPr>
        <p:spPr>
          <a:xfrm>
            <a:off x="548640" y="204597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417" name="r418"/>
          <p:cNvSpPr/>
          <p:nvPr/>
        </p:nvSpPr>
        <p:spPr>
          <a:xfrm>
            <a:off x="2919548" y="204597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9" name="t420"/>
          <p:cNvSpPr txBox="1"/>
          <p:nvPr/>
        </p:nvSpPr>
        <p:spPr>
          <a:xfrm>
            <a:off x="2919548" y="204597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~18</a:t>
            </a:r>
          </a:p>
        </p:txBody>
      </p:sp>
      <p:sp>
        <p:nvSpPr>
          <p:cNvPr id="421" name="r422"/>
          <p:cNvSpPr/>
          <p:nvPr/>
        </p:nvSpPr>
        <p:spPr>
          <a:xfrm>
            <a:off x="4342093" y="204597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23" name="t424"/>
          <p:cNvSpPr txBox="1"/>
          <p:nvPr/>
        </p:nvSpPr>
        <p:spPr>
          <a:xfrm>
            <a:off x="4342093" y="204597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indication-selector, dosing-table</a:t>
            </a:r>
          </a:p>
        </p:txBody>
      </p:sp>
      <p:sp>
        <p:nvSpPr>
          <p:cNvPr id="425" name="r426"/>
          <p:cNvSpPr/>
          <p:nvPr/>
        </p:nvSpPr>
        <p:spPr>
          <a:xfrm>
            <a:off x="8135546" y="204597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27" name="t428"/>
          <p:cNvSpPr txBox="1"/>
          <p:nvPr/>
        </p:nvSpPr>
        <p:spPr>
          <a:xfrm>
            <a:off x="8135546" y="204597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3-indication IA &amp; dosing</a:t>
            </a:r>
          </a:p>
        </p:txBody>
      </p:sp>
      <p:sp>
        <p:nvSpPr>
          <p:cNvPr id="429" name="r430"/>
          <p:cNvSpPr/>
          <p:nvPr/>
        </p:nvSpPr>
        <p:spPr>
          <a:xfrm>
            <a:off x="548640" y="254889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1" name="t432"/>
          <p:cNvSpPr txBox="1"/>
          <p:nvPr/>
        </p:nvSpPr>
        <p:spPr>
          <a:xfrm>
            <a:off x="548640" y="254889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433" name="r434"/>
          <p:cNvSpPr/>
          <p:nvPr/>
        </p:nvSpPr>
        <p:spPr>
          <a:xfrm>
            <a:off x="2919548" y="254889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5" name="t436"/>
          <p:cNvSpPr txBox="1"/>
          <p:nvPr/>
        </p:nvSpPr>
        <p:spPr>
          <a:xfrm>
            <a:off x="2919548" y="254889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~8</a:t>
            </a:r>
          </a:p>
        </p:txBody>
      </p:sp>
      <p:sp>
        <p:nvSpPr>
          <p:cNvPr id="437" name="r438"/>
          <p:cNvSpPr/>
          <p:nvPr/>
        </p:nvSpPr>
        <p:spPr>
          <a:xfrm>
            <a:off x="4342093" y="254889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9" name="t440"/>
          <p:cNvSpPr txBox="1"/>
          <p:nvPr/>
        </p:nvSpPr>
        <p:spPr>
          <a:xfrm>
            <a:off x="4342093" y="254889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symptom-checklist, savings-card</a:t>
            </a:r>
          </a:p>
        </p:txBody>
      </p:sp>
      <p:sp>
        <p:nvSpPr>
          <p:cNvPr id="441" name="r442"/>
          <p:cNvSpPr/>
          <p:nvPr/>
        </p:nvSpPr>
        <p:spPr>
          <a:xfrm>
            <a:off x="8135546" y="254889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43" name="t444"/>
          <p:cNvSpPr txBox="1"/>
          <p:nvPr/>
        </p:nvSpPr>
        <p:spPr>
          <a:xfrm>
            <a:off x="8135546" y="254889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Caregiver journey + content export</a:t>
            </a:r>
          </a:p>
        </p:txBody>
      </p:sp>
      <p:sp>
        <p:nvSpPr>
          <p:cNvPr id="445" name="r446"/>
          <p:cNvSpPr/>
          <p:nvPr/>
        </p:nvSpPr>
        <p:spPr>
          <a:xfrm>
            <a:off x="548640" y="305181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47" name="t448"/>
          <p:cNvSpPr txBox="1"/>
          <p:nvPr/>
        </p:nvSpPr>
        <p:spPr>
          <a:xfrm>
            <a:off x="548640" y="305181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449" name="r450"/>
          <p:cNvSpPr/>
          <p:nvPr/>
        </p:nvSpPr>
        <p:spPr>
          <a:xfrm>
            <a:off x="2919548" y="305181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1" name="t452"/>
          <p:cNvSpPr txBox="1"/>
          <p:nvPr/>
        </p:nvSpPr>
        <p:spPr>
          <a:xfrm>
            <a:off x="2919548" y="305181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~8</a:t>
            </a:r>
          </a:p>
        </p:txBody>
      </p:sp>
      <p:sp>
        <p:nvSpPr>
          <p:cNvPr id="453" name="r454"/>
          <p:cNvSpPr/>
          <p:nvPr/>
        </p:nvSpPr>
        <p:spPr>
          <a:xfrm>
            <a:off x="4342093" y="305181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5" name="t456"/>
          <p:cNvSpPr txBox="1"/>
          <p:nvPr/>
        </p:nvSpPr>
        <p:spPr>
          <a:xfrm>
            <a:off x="4342093" y="305181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dosing-table, discussion-guide</a:t>
            </a:r>
          </a:p>
        </p:txBody>
      </p:sp>
      <p:sp>
        <p:nvSpPr>
          <p:cNvPr id="457" name="r458"/>
          <p:cNvSpPr/>
          <p:nvPr/>
        </p:nvSpPr>
        <p:spPr>
          <a:xfrm>
            <a:off x="8135546" y="305181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9" name="t460"/>
          <p:cNvSpPr txBox="1"/>
          <p:nvPr/>
        </p:nvSpPr>
        <p:spPr>
          <a:xfrm>
            <a:off x="8135546" y="305181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SPA content extraction</a:t>
            </a:r>
          </a:p>
        </p:txBody>
      </p:sp>
      <p:sp>
        <p:nvSpPr>
          <p:cNvPr id="461" name="r462"/>
          <p:cNvSpPr/>
          <p:nvPr/>
        </p:nvSpPr>
        <p:spPr>
          <a:xfrm>
            <a:off x="548640" y="355473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63" name="t464"/>
          <p:cNvSpPr txBox="1"/>
          <p:nvPr/>
        </p:nvSpPr>
        <p:spPr>
          <a:xfrm>
            <a:off x="548640" y="355473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465" name="r466"/>
          <p:cNvSpPr/>
          <p:nvPr/>
        </p:nvSpPr>
        <p:spPr>
          <a:xfrm>
            <a:off x="2919548" y="355473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67" name="t468"/>
          <p:cNvSpPr txBox="1"/>
          <p:nvPr/>
        </p:nvSpPr>
        <p:spPr>
          <a:xfrm>
            <a:off x="2919548" y="355473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~9</a:t>
            </a:r>
          </a:p>
        </p:txBody>
      </p:sp>
      <p:sp>
        <p:nvSpPr>
          <p:cNvPr id="469" name="r470"/>
          <p:cNvSpPr/>
          <p:nvPr/>
        </p:nvSpPr>
        <p:spPr>
          <a:xfrm>
            <a:off x="4342093" y="355473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1" name="t472"/>
          <p:cNvSpPr txBox="1"/>
          <p:nvPr/>
        </p:nvSpPr>
        <p:spPr>
          <a:xfrm>
            <a:off x="4342093" y="355473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symptom-checker</a:t>
            </a:r>
          </a:p>
        </p:txBody>
      </p:sp>
      <p:sp>
        <p:nvSpPr>
          <p:cNvPr id="473" name="r474"/>
          <p:cNvSpPr/>
          <p:nvPr/>
        </p:nvSpPr>
        <p:spPr>
          <a:xfrm>
            <a:off x="8135546" y="355473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5" name="t476"/>
          <p:cNvSpPr txBox="1"/>
          <p:nvPr/>
        </p:nvSpPr>
        <p:spPr>
          <a:xfrm>
            <a:off x="8135546" y="355473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Scope discovery + interactive tool</a:t>
            </a:r>
          </a:p>
        </p:txBody>
      </p:sp>
      <p:sp>
        <p:nvSpPr>
          <p:cNvPr id="477" name="r478"/>
          <p:cNvSpPr/>
          <p:nvPr/>
        </p:nvSpPr>
        <p:spPr>
          <a:xfrm>
            <a:off x="548640" y="405765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9" name="t480"/>
          <p:cNvSpPr txBox="1"/>
          <p:nvPr/>
        </p:nvSpPr>
        <p:spPr>
          <a:xfrm>
            <a:off x="548640" y="405765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481" name="r482"/>
          <p:cNvSpPr/>
          <p:nvPr/>
        </p:nvSpPr>
        <p:spPr>
          <a:xfrm>
            <a:off x="2919548" y="405765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83" name="t484"/>
          <p:cNvSpPr txBox="1"/>
          <p:nvPr/>
        </p:nvSpPr>
        <p:spPr>
          <a:xfrm>
            <a:off x="2919548" y="405765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~20</a:t>
            </a:r>
          </a:p>
        </p:txBody>
      </p:sp>
      <p:sp>
        <p:nvSpPr>
          <p:cNvPr id="485" name="r486"/>
          <p:cNvSpPr/>
          <p:nvPr/>
        </p:nvSpPr>
        <p:spPr>
          <a:xfrm>
            <a:off x="4342093" y="405765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87" name="t488"/>
          <p:cNvSpPr txBox="1"/>
          <p:nvPr/>
        </p:nvSpPr>
        <p:spPr>
          <a:xfrm>
            <a:off x="4342093" y="405765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quiz, comparison-table, email-share</a:t>
            </a:r>
          </a:p>
        </p:txBody>
      </p:sp>
      <p:sp>
        <p:nvSpPr>
          <p:cNvPr id="489" name="r490"/>
          <p:cNvSpPr/>
          <p:nvPr/>
        </p:nvSpPr>
        <p:spPr>
          <a:xfrm>
            <a:off x="8135546" y="405765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1" name="t492"/>
          <p:cNvSpPr txBox="1"/>
          <p:nvPr/>
        </p:nvSpPr>
        <p:spPr>
          <a:xfrm>
            <a:off x="8135546" y="405765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Most net-new + GSAP motion</a:t>
            </a:r>
          </a:p>
        </p:txBody>
      </p:sp>
      <p:sp>
        <p:nvSpPr>
          <p:cNvPr id="493" name="r494"/>
          <p:cNvSpPr/>
          <p:nvPr/>
        </p:nvSpPr>
        <p:spPr>
          <a:xfrm>
            <a:off x="548640" y="456057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5" name="t496"/>
          <p:cNvSpPr txBox="1"/>
          <p:nvPr/>
        </p:nvSpPr>
        <p:spPr>
          <a:xfrm>
            <a:off x="548640" y="456057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497" name="r498"/>
          <p:cNvSpPr/>
          <p:nvPr/>
        </p:nvSpPr>
        <p:spPr>
          <a:xfrm>
            <a:off x="2919548" y="456057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9" name="t500"/>
          <p:cNvSpPr txBox="1"/>
          <p:nvPr/>
        </p:nvSpPr>
        <p:spPr>
          <a:xfrm>
            <a:off x="2919548" y="456057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~9</a:t>
            </a:r>
          </a:p>
        </p:txBody>
      </p:sp>
      <p:sp>
        <p:nvSpPr>
          <p:cNvPr id="501" name="r502"/>
          <p:cNvSpPr/>
          <p:nvPr/>
        </p:nvSpPr>
        <p:spPr>
          <a:xfrm>
            <a:off x="4342093" y="456057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03" name="t504"/>
          <p:cNvSpPr txBox="1"/>
          <p:nvPr/>
        </p:nvSpPr>
        <p:spPr>
          <a:xfrm>
            <a:off x="4342093" y="456057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clinical-data-table, rep-request-form, video-embed</a:t>
            </a:r>
          </a:p>
        </p:txBody>
      </p:sp>
      <p:sp>
        <p:nvSpPr>
          <p:cNvPr id="505" name="r506"/>
          <p:cNvSpPr/>
          <p:nvPr/>
        </p:nvSpPr>
        <p:spPr>
          <a:xfrm>
            <a:off x="8135546" y="456057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07" name="t508"/>
          <p:cNvSpPr txBox="1"/>
          <p:nvPr/>
        </p:nvSpPr>
        <p:spPr>
          <a:xfrm>
            <a:off x="8135546" y="456057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 data + CRM form</a:t>
            </a:r>
          </a:p>
        </p:txBody>
      </p:sp>
      <p:sp>
        <p:nvSpPr>
          <p:cNvPr id="509" name="t5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071D49"/>
                </a:solidFill>
                <a:latin typeface="Arial"/>
              </a:rPr>
              <a:t>Interactive blocks (quiz, symptom-checker, clinical-data-table, lead forms) carry the most build, accessibility and integration effort.</a:t>
            </a:r>
          </a:p>
        </p:txBody>
      </p:sp>
      <p:sp>
        <p:nvSpPr>
          <p:cNvPr id="521" name="t52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523" name="t52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5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" name="r54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" name="r54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" name="t54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NON-FUNCTIONAL</a:t>
            </a:r>
          </a:p>
        </p:txBody>
      </p:sp>
      <p:sp>
        <p:nvSpPr>
          <p:cNvPr id="545" name="t54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Integrations, Compliance &amp; Accessibility</a:t>
            </a:r>
          </a:p>
        </p:txBody>
      </p:sp>
      <p:sp>
        <p:nvSpPr>
          <p:cNvPr id="525" name="r526"/>
          <p:cNvSpPr/>
          <p:nvPr/>
        </p:nvSpPr>
        <p:spPr>
          <a:xfrm>
            <a:off x="548640" y="1371600"/>
            <a:ext cx="5349240" cy="54864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527" name="t528"/>
          <p:cNvSpPr txBox="1"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Cross-cutting integrations</a:t>
            </a:r>
          </a:p>
        </p:txBody>
      </p:sp>
      <p:sp>
        <p:nvSpPr>
          <p:cNvPr id="529" name="t530"/>
          <p:cNvSpPr txBox="1"/>
          <p:nvPr/>
        </p:nvSpPr>
        <p:spPr>
          <a:xfrm>
            <a:off x="594360" y="2057400"/>
            <a:ext cx="5303520" cy="32918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Analytics / tag mgmt — Adobe Experience Platform Launch/DTM (standard); GA on LILETTA HCP. Re-wired in the delayed phase.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Consent — OneTrust (Evidon on lupron, CCPA on HCP). One standardised consent pattern.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Forms → CRM — email-share &amp; rep-request need endpoints (AbbVie / Veeva sales ops).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Video — Vimeo (HCP) via lazy facade. Fonts — Typekit + Google Fonts, self-hosted for LCP.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Savings programs — external (luprongyn, LILETTAcard, AbbVie Access) — link-out, confirm scope.</a:t>
            </a:r>
          </a:p>
        </p:txBody>
      </p:sp>
      <p:sp>
        <p:nvSpPr>
          <p:cNvPr id="531" name="r532"/>
          <p:cNvSpPr/>
          <p:nvPr/>
        </p:nvSpPr>
        <p:spPr>
          <a:xfrm>
            <a:off x="6126480" y="1371600"/>
            <a:ext cx="5440680" cy="54864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6126480" y="1417320"/>
            <a:ext cx="5440680" cy="4572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Compliance &amp; accessibility</a:t>
            </a:r>
          </a:p>
        </p:txBody>
      </p:sp>
      <p:sp>
        <p:nvSpPr>
          <p:cNvPr id="535" name="t536"/>
          <p:cNvSpPr txBox="1"/>
          <p:nvPr/>
        </p:nvSpPr>
        <p:spPr>
          <a:xfrm>
            <a:off x="6172200" y="2057400"/>
            <a:ext cx="5349240" cy="32918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ISI / PI fair balance on every page — sticky ISI bar + full PI/Med Guide preserved.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References &amp; claim substantiation — footnoted, especially on HCP clinical-data pages.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PRC / job codes (US-####) migrated verbatim and treated as locked artifacts.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WCAG 2.1 AA — gate focus-trap, keyboard ISI, accessible data tables, captioned video.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Medical-Legal-Regulatory (MLR) review runs in parallel — the key schedule driver.</a:t>
            </a:r>
          </a:p>
        </p:txBody>
      </p:sp>
      <p:sp>
        <p:nvSpPr>
          <p:cNvPr id="547" name="t54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549" name="t55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6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" name="r69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r69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" name="t69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BOTTOM-UP SIZING</a:t>
            </a:r>
          </a:p>
        </p:txBody>
      </p:sp>
      <p:sp>
        <p:nvSpPr>
          <p:cNvPr id="699" name="t70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Effort Estimate</a:t>
            </a:r>
          </a:p>
        </p:txBody>
      </p:sp>
      <p:sp>
        <p:nvSpPr>
          <p:cNvPr id="551" name="r552"/>
          <p:cNvSpPr/>
          <p:nvPr/>
        </p:nvSpPr>
        <p:spPr>
          <a:xfrm>
            <a:off x="548640" y="1371600"/>
            <a:ext cx="4319451" cy="42291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53" name="t554"/>
          <p:cNvSpPr txBox="1"/>
          <p:nvPr/>
        </p:nvSpPr>
        <p:spPr>
          <a:xfrm>
            <a:off x="548640" y="1371600"/>
            <a:ext cx="4319451" cy="42291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Workstream</a:t>
            </a:r>
          </a:p>
        </p:txBody>
      </p:sp>
      <p:sp>
        <p:nvSpPr>
          <p:cNvPr id="555" name="r556"/>
          <p:cNvSpPr/>
          <p:nvPr/>
        </p:nvSpPr>
        <p:spPr>
          <a:xfrm>
            <a:off x="4868091" y="1371600"/>
            <a:ext cx="1349828" cy="42291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57" name="t558"/>
          <p:cNvSpPr txBox="1"/>
          <p:nvPr/>
        </p:nvSpPr>
        <p:spPr>
          <a:xfrm>
            <a:off x="4868091" y="1371600"/>
            <a:ext cx="1349828" cy="42291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Person-days</a:t>
            </a:r>
          </a:p>
        </p:txBody>
      </p:sp>
      <p:sp>
        <p:nvSpPr>
          <p:cNvPr id="559" name="r560"/>
          <p:cNvSpPr/>
          <p:nvPr/>
        </p:nvSpPr>
        <p:spPr>
          <a:xfrm>
            <a:off x="548640" y="1794510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1" name="t562"/>
          <p:cNvSpPr txBox="1"/>
          <p:nvPr/>
        </p:nvSpPr>
        <p:spPr>
          <a:xfrm>
            <a:off x="548640" y="179451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563" name="r564"/>
          <p:cNvSpPr/>
          <p:nvPr/>
        </p:nvSpPr>
        <p:spPr>
          <a:xfrm>
            <a:off x="4868091" y="1794510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5" name="t566"/>
          <p:cNvSpPr txBox="1"/>
          <p:nvPr/>
        </p:nvSpPr>
        <p:spPr>
          <a:xfrm>
            <a:off x="4868091" y="179451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21.5</a:t>
            </a:r>
          </a:p>
        </p:txBody>
      </p:sp>
      <p:sp>
        <p:nvSpPr>
          <p:cNvPr id="567" name="r568"/>
          <p:cNvSpPr/>
          <p:nvPr/>
        </p:nvSpPr>
        <p:spPr>
          <a:xfrm>
            <a:off x="548640" y="2132838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9" name="t570"/>
          <p:cNvSpPr txBox="1"/>
          <p:nvPr/>
        </p:nvSpPr>
        <p:spPr>
          <a:xfrm>
            <a:off x="548640" y="2132838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571" name="r572"/>
          <p:cNvSpPr/>
          <p:nvPr/>
        </p:nvSpPr>
        <p:spPr>
          <a:xfrm>
            <a:off x="4868091" y="2132838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73" name="t574"/>
          <p:cNvSpPr txBox="1"/>
          <p:nvPr/>
        </p:nvSpPr>
        <p:spPr>
          <a:xfrm>
            <a:off x="4868091" y="2132838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14.5</a:t>
            </a:r>
          </a:p>
        </p:txBody>
      </p:sp>
      <p:sp>
        <p:nvSpPr>
          <p:cNvPr id="575" name="r576"/>
          <p:cNvSpPr/>
          <p:nvPr/>
        </p:nvSpPr>
        <p:spPr>
          <a:xfrm>
            <a:off x="548640" y="2471166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77" name="t578"/>
          <p:cNvSpPr txBox="1"/>
          <p:nvPr/>
        </p:nvSpPr>
        <p:spPr>
          <a:xfrm>
            <a:off x="548640" y="2471166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579" name="r580"/>
          <p:cNvSpPr/>
          <p:nvPr/>
        </p:nvSpPr>
        <p:spPr>
          <a:xfrm>
            <a:off x="4868091" y="2471166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1" name="t582"/>
          <p:cNvSpPr txBox="1"/>
          <p:nvPr/>
        </p:nvSpPr>
        <p:spPr>
          <a:xfrm>
            <a:off x="4868091" y="2471166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14.0</a:t>
            </a:r>
          </a:p>
        </p:txBody>
      </p:sp>
      <p:sp>
        <p:nvSpPr>
          <p:cNvPr id="583" name="r584"/>
          <p:cNvSpPr/>
          <p:nvPr/>
        </p:nvSpPr>
        <p:spPr>
          <a:xfrm>
            <a:off x="548640" y="2809494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5" name="t586"/>
          <p:cNvSpPr txBox="1"/>
          <p:nvPr/>
        </p:nvSpPr>
        <p:spPr>
          <a:xfrm>
            <a:off x="548640" y="2809494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587" name="r588"/>
          <p:cNvSpPr/>
          <p:nvPr/>
        </p:nvSpPr>
        <p:spPr>
          <a:xfrm>
            <a:off x="4868091" y="2809494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9" name="t590"/>
          <p:cNvSpPr txBox="1"/>
          <p:nvPr/>
        </p:nvSpPr>
        <p:spPr>
          <a:xfrm>
            <a:off x="4868091" y="2809494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18.75</a:t>
            </a:r>
          </a:p>
        </p:txBody>
      </p:sp>
      <p:sp>
        <p:nvSpPr>
          <p:cNvPr id="591" name="r592"/>
          <p:cNvSpPr/>
          <p:nvPr/>
        </p:nvSpPr>
        <p:spPr>
          <a:xfrm>
            <a:off x="548640" y="3147822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93" name="t594"/>
          <p:cNvSpPr txBox="1"/>
          <p:nvPr/>
        </p:nvSpPr>
        <p:spPr>
          <a:xfrm>
            <a:off x="548640" y="3147822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595" name="r596"/>
          <p:cNvSpPr/>
          <p:nvPr/>
        </p:nvSpPr>
        <p:spPr>
          <a:xfrm>
            <a:off x="4868091" y="3147822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97" name="t598"/>
          <p:cNvSpPr txBox="1"/>
          <p:nvPr/>
        </p:nvSpPr>
        <p:spPr>
          <a:xfrm>
            <a:off x="4868091" y="3147822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34.0</a:t>
            </a:r>
          </a:p>
        </p:txBody>
      </p:sp>
      <p:sp>
        <p:nvSpPr>
          <p:cNvPr id="599" name="r600"/>
          <p:cNvSpPr/>
          <p:nvPr/>
        </p:nvSpPr>
        <p:spPr>
          <a:xfrm>
            <a:off x="548640" y="3486150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1" name="t602"/>
          <p:cNvSpPr txBox="1"/>
          <p:nvPr/>
        </p:nvSpPr>
        <p:spPr>
          <a:xfrm>
            <a:off x="548640" y="348615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603" name="r604"/>
          <p:cNvSpPr/>
          <p:nvPr/>
        </p:nvSpPr>
        <p:spPr>
          <a:xfrm>
            <a:off x="4868091" y="3486150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5" name="t606"/>
          <p:cNvSpPr txBox="1"/>
          <p:nvPr/>
        </p:nvSpPr>
        <p:spPr>
          <a:xfrm>
            <a:off x="4868091" y="348615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29.0</a:t>
            </a:r>
          </a:p>
        </p:txBody>
      </p:sp>
      <p:sp>
        <p:nvSpPr>
          <p:cNvPr id="607" name="r608"/>
          <p:cNvSpPr/>
          <p:nvPr/>
        </p:nvSpPr>
        <p:spPr>
          <a:xfrm>
            <a:off x="548640" y="3824478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9" name="t610"/>
          <p:cNvSpPr txBox="1"/>
          <p:nvPr/>
        </p:nvSpPr>
        <p:spPr>
          <a:xfrm>
            <a:off x="548640" y="3824478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Site subtotal</a:t>
            </a:r>
          </a:p>
        </p:txBody>
      </p:sp>
      <p:sp>
        <p:nvSpPr>
          <p:cNvPr id="611" name="r612"/>
          <p:cNvSpPr/>
          <p:nvPr/>
        </p:nvSpPr>
        <p:spPr>
          <a:xfrm>
            <a:off x="4868091" y="3824478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13" name="t614"/>
          <p:cNvSpPr txBox="1"/>
          <p:nvPr/>
        </p:nvSpPr>
        <p:spPr>
          <a:xfrm>
            <a:off x="4868091" y="3824478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131.75</a:t>
            </a:r>
          </a:p>
        </p:txBody>
      </p:sp>
      <p:sp>
        <p:nvSpPr>
          <p:cNvPr id="615" name="r616"/>
          <p:cNvSpPr/>
          <p:nvPr/>
        </p:nvSpPr>
        <p:spPr>
          <a:xfrm>
            <a:off x="548640" y="4162806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17" name="t618"/>
          <p:cNvSpPr txBox="1"/>
          <p:nvPr/>
        </p:nvSpPr>
        <p:spPr>
          <a:xfrm>
            <a:off x="548640" y="4162806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Shared foundation (build once)</a:t>
            </a:r>
          </a:p>
        </p:txBody>
      </p:sp>
      <p:sp>
        <p:nvSpPr>
          <p:cNvPr id="619" name="r620"/>
          <p:cNvSpPr/>
          <p:nvPr/>
        </p:nvSpPr>
        <p:spPr>
          <a:xfrm>
            <a:off x="4868091" y="4162806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1" name="t622"/>
          <p:cNvSpPr txBox="1"/>
          <p:nvPr/>
        </p:nvSpPr>
        <p:spPr>
          <a:xfrm>
            <a:off x="4868091" y="4162806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27.0</a:t>
            </a:r>
          </a:p>
        </p:txBody>
      </p:sp>
      <p:sp>
        <p:nvSpPr>
          <p:cNvPr id="623" name="r624"/>
          <p:cNvSpPr/>
          <p:nvPr/>
        </p:nvSpPr>
        <p:spPr>
          <a:xfrm>
            <a:off x="548640" y="4501134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5" name="t626"/>
          <p:cNvSpPr txBox="1"/>
          <p:nvPr/>
        </p:nvSpPr>
        <p:spPr>
          <a:xfrm>
            <a:off x="548640" y="4501134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Build subtotal</a:t>
            </a:r>
          </a:p>
        </p:txBody>
      </p:sp>
      <p:sp>
        <p:nvSpPr>
          <p:cNvPr id="627" name="r628"/>
          <p:cNvSpPr/>
          <p:nvPr/>
        </p:nvSpPr>
        <p:spPr>
          <a:xfrm>
            <a:off x="4868091" y="4501134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9" name="t630"/>
          <p:cNvSpPr txBox="1"/>
          <p:nvPr/>
        </p:nvSpPr>
        <p:spPr>
          <a:xfrm>
            <a:off x="4868091" y="4501134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158.75</a:t>
            </a:r>
          </a:p>
        </p:txBody>
      </p:sp>
      <p:sp>
        <p:nvSpPr>
          <p:cNvPr id="631" name="r632"/>
          <p:cNvSpPr/>
          <p:nvPr/>
        </p:nvSpPr>
        <p:spPr>
          <a:xfrm>
            <a:off x="548640" y="4839462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33" name="t634"/>
          <p:cNvSpPr txBox="1"/>
          <p:nvPr/>
        </p:nvSpPr>
        <p:spPr>
          <a:xfrm>
            <a:off x="548640" y="4839462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Program overhead (~20%): PM, QA/UAT, a11y, MLR coord.</a:t>
            </a:r>
          </a:p>
        </p:txBody>
      </p:sp>
      <p:sp>
        <p:nvSpPr>
          <p:cNvPr id="635" name="r636"/>
          <p:cNvSpPr/>
          <p:nvPr/>
        </p:nvSpPr>
        <p:spPr>
          <a:xfrm>
            <a:off x="4868091" y="4839462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37" name="t638"/>
          <p:cNvSpPr txBox="1"/>
          <p:nvPr/>
        </p:nvSpPr>
        <p:spPr>
          <a:xfrm>
            <a:off x="4868091" y="4839462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~32.0</a:t>
            </a:r>
          </a:p>
        </p:txBody>
      </p:sp>
      <p:sp>
        <p:nvSpPr>
          <p:cNvPr id="639" name="r640"/>
          <p:cNvSpPr/>
          <p:nvPr/>
        </p:nvSpPr>
        <p:spPr>
          <a:xfrm>
            <a:off x="548640" y="5177790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41" name="t642"/>
          <p:cNvSpPr txBox="1"/>
          <p:nvPr/>
        </p:nvSpPr>
        <p:spPr>
          <a:xfrm>
            <a:off x="548640" y="517779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Grand total (point estimate)</a:t>
            </a:r>
          </a:p>
        </p:txBody>
      </p:sp>
      <p:sp>
        <p:nvSpPr>
          <p:cNvPr id="643" name="r644"/>
          <p:cNvSpPr/>
          <p:nvPr/>
        </p:nvSpPr>
        <p:spPr>
          <a:xfrm>
            <a:off x="4868091" y="5177790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45" name="t646"/>
          <p:cNvSpPr txBox="1"/>
          <p:nvPr/>
        </p:nvSpPr>
        <p:spPr>
          <a:xfrm>
            <a:off x="4868091" y="517779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~190</a:t>
            </a:r>
          </a:p>
        </p:txBody>
      </p:sp>
      <p:sp>
        <p:nvSpPr>
          <p:cNvPr id="647" name="r648"/>
          <p:cNvSpPr/>
          <p:nvPr/>
        </p:nvSpPr>
        <p:spPr>
          <a:xfrm>
            <a:off x="6492240" y="1371600"/>
            <a:ext cx="5029200" cy="50292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" name="t650"/>
          <p:cNvSpPr txBox="1"/>
          <p:nvPr/>
        </p:nvSpPr>
        <p:spPr>
          <a:xfrm>
            <a:off x="6492240" y="1408176"/>
            <a:ext cx="502920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Effort by delivery stage</a:t>
            </a:r>
          </a:p>
        </p:txBody>
      </p:sp>
      <p:sp>
        <p:nvSpPr>
          <p:cNvPr id="651" name="t652"/>
          <p:cNvSpPr txBox="1"/>
          <p:nvPr/>
        </p:nvSpPr>
        <p:spPr>
          <a:xfrm>
            <a:off x="6492240" y="205740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Blockwright (build)</a:t>
            </a:r>
          </a:p>
        </p:txBody>
      </p:sp>
      <p:sp>
        <p:nvSpPr>
          <p:cNvPr id="653" name="r654"/>
          <p:cNvSpPr/>
          <p:nvPr/>
        </p:nvSpPr>
        <p:spPr>
          <a:xfrm>
            <a:off x="9326880" y="2121408"/>
            <a:ext cx="1828800" cy="201168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" name="t656"/>
          <p:cNvSpPr txBox="1"/>
          <p:nvPr/>
        </p:nvSpPr>
        <p:spPr>
          <a:xfrm>
            <a:off x="11185680" y="207568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3F8F6B"/>
                </a:solidFill>
                <a:latin typeface="Arial"/>
              </a:rPr>
              <a:t>38%</a:t>
            </a:r>
          </a:p>
        </p:txBody>
      </p:sp>
      <p:sp>
        <p:nvSpPr>
          <p:cNvPr id="657" name="t658"/>
          <p:cNvSpPr txBox="1"/>
          <p:nvPr/>
        </p:nvSpPr>
        <p:spPr>
          <a:xfrm>
            <a:off x="6492240" y="246888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Sentinel (review + tests)</a:t>
            </a:r>
          </a:p>
        </p:txBody>
      </p:sp>
      <p:sp>
        <p:nvSpPr>
          <p:cNvPr id="659" name="r660"/>
          <p:cNvSpPr/>
          <p:nvPr/>
        </p:nvSpPr>
        <p:spPr>
          <a:xfrm>
            <a:off x="9326880" y="2532888"/>
            <a:ext cx="812800" cy="201168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" name="t662"/>
          <p:cNvSpPr txBox="1"/>
          <p:nvPr/>
        </p:nvSpPr>
        <p:spPr>
          <a:xfrm>
            <a:off x="10169680" y="248716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17%</a:t>
            </a:r>
          </a:p>
        </p:txBody>
      </p:sp>
      <p:sp>
        <p:nvSpPr>
          <p:cNvPr id="663" name="t664"/>
          <p:cNvSpPr txBox="1"/>
          <p:nvPr/>
        </p:nvSpPr>
        <p:spPr>
          <a:xfrm>
            <a:off x="6492240" y="288036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Composer (library + pages)</a:t>
            </a:r>
          </a:p>
        </p:txBody>
      </p:sp>
      <p:sp>
        <p:nvSpPr>
          <p:cNvPr id="665" name="r666"/>
          <p:cNvSpPr/>
          <p:nvPr/>
        </p:nvSpPr>
        <p:spPr>
          <a:xfrm>
            <a:off x="9326880" y="2944368"/>
            <a:ext cx="787400" cy="20116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67" name="t668"/>
          <p:cNvSpPr txBox="1"/>
          <p:nvPr/>
        </p:nvSpPr>
        <p:spPr>
          <a:xfrm>
            <a:off x="10144280" y="289864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C9962E"/>
                </a:solidFill>
                <a:latin typeface="Arial"/>
              </a:rPr>
              <a:t>16%</a:t>
            </a:r>
          </a:p>
        </p:txBody>
      </p:sp>
      <p:sp>
        <p:nvSpPr>
          <p:cNvPr id="669" name="t670"/>
          <p:cNvSpPr txBox="1"/>
          <p:nvPr/>
        </p:nvSpPr>
        <p:spPr>
          <a:xfrm>
            <a:off x="6492240" y="329184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Strategist (plan)</a:t>
            </a:r>
          </a:p>
        </p:txBody>
      </p:sp>
      <p:sp>
        <p:nvSpPr>
          <p:cNvPr id="671" name="r672"/>
          <p:cNvSpPr/>
          <p:nvPr/>
        </p:nvSpPr>
        <p:spPr>
          <a:xfrm>
            <a:off x="9326880" y="3355848"/>
            <a:ext cx="584200" cy="201168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t674"/>
          <p:cNvSpPr txBox="1"/>
          <p:nvPr/>
        </p:nvSpPr>
        <p:spPr>
          <a:xfrm>
            <a:off x="9941080" y="331012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B5FA5"/>
                </a:solidFill>
                <a:latin typeface="Arial"/>
              </a:rPr>
              <a:t>12%</a:t>
            </a:r>
          </a:p>
        </p:txBody>
      </p:sp>
      <p:sp>
        <p:nvSpPr>
          <p:cNvPr id="675" name="t676"/>
          <p:cNvSpPr txBox="1"/>
          <p:nvPr/>
        </p:nvSpPr>
        <p:spPr>
          <a:xfrm>
            <a:off x="6492240" y="370332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Styleforge (design)</a:t>
            </a:r>
          </a:p>
        </p:txBody>
      </p:sp>
      <p:sp>
        <p:nvSpPr>
          <p:cNvPr id="677" name="r678"/>
          <p:cNvSpPr/>
          <p:nvPr/>
        </p:nvSpPr>
        <p:spPr>
          <a:xfrm>
            <a:off x="9326880" y="3767328"/>
            <a:ext cx="431800" cy="201168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" name="t680"/>
          <p:cNvSpPr txBox="1"/>
          <p:nvPr/>
        </p:nvSpPr>
        <p:spPr>
          <a:xfrm>
            <a:off x="9788680" y="372160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9%</a:t>
            </a:r>
          </a:p>
        </p:txBody>
      </p:sp>
      <p:sp>
        <p:nvSpPr>
          <p:cNvPr id="681" name="t682"/>
          <p:cNvSpPr txBox="1"/>
          <p:nvPr/>
        </p:nvSpPr>
        <p:spPr>
          <a:xfrm>
            <a:off x="6492240" y="411480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Pilot (deploy)</a:t>
            </a:r>
          </a:p>
        </p:txBody>
      </p:sp>
      <p:sp>
        <p:nvSpPr>
          <p:cNvPr id="683" name="r684"/>
          <p:cNvSpPr/>
          <p:nvPr/>
        </p:nvSpPr>
        <p:spPr>
          <a:xfrm>
            <a:off x="9326880" y="4178808"/>
            <a:ext cx="228600" cy="20116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" name="t686"/>
          <p:cNvSpPr txBox="1"/>
          <p:nvPr/>
        </p:nvSpPr>
        <p:spPr>
          <a:xfrm>
            <a:off x="9585480" y="413308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5A5A5A"/>
                </a:solidFill>
                <a:latin typeface="Arial"/>
              </a:rPr>
              <a:t>5%</a:t>
            </a:r>
          </a:p>
        </p:txBody>
      </p:sp>
      <p:sp>
        <p:nvSpPr>
          <p:cNvPr id="687" name="r688"/>
          <p:cNvSpPr/>
          <p:nvPr/>
        </p:nvSpPr>
        <p:spPr>
          <a:xfrm>
            <a:off x="6492240" y="4663440"/>
            <a:ext cx="5029200" cy="868680"/>
          </a:xfrm>
          <a:prstGeom prst="rect">
            <a:avLst/>
          </a:prstGeom>
          <a:solidFill>
            <a:srgbClr val="E8F0FA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689" name="t690"/>
          <p:cNvSpPr txBox="1"/>
          <p:nvPr/>
        </p:nvSpPr>
        <p:spPr>
          <a:xfrm>
            <a:off x="6629400" y="4736592"/>
            <a:ext cx="48463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80"/>
              </a:spcAft>
              <a:buNone/>
            </a:pPr>
            <a:r>
              <a:rPr lang="en-US" sz="1150" b="1">
                <a:solidFill>
                  <a:srgbClr val="071D49"/>
                </a:solidFill>
                <a:latin typeface="Arial"/>
              </a:rPr>
              <a:t>Range with uncertainty: 165–215 person-days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≈ 33–43 person-weeks · ~8–10.5 person-months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03" name="t70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r7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5" name="r76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7" name="r76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69" name="t77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PHASING</a:t>
            </a:r>
          </a:p>
        </p:txBody>
      </p:sp>
      <p:sp>
        <p:nvSpPr>
          <p:cNvPr id="771" name="t77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Delivery Roadmap</a:t>
            </a:r>
          </a:p>
        </p:txBody>
      </p:sp>
      <p:sp>
        <p:nvSpPr>
          <p:cNvPr id="705" name="t70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A pod of 3 EDS engineers + tech lead + part-time PM/QA ≈ 11–14 calendar weeks (MLR in parallel).</a:t>
            </a:r>
          </a:p>
        </p:txBody>
      </p:sp>
      <p:sp>
        <p:nvSpPr>
          <p:cNvPr id="707" name="r708"/>
          <p:cNvSpPr/>
          <p:nvPr/>
        </p:nvSpPr>
        <p:spPr>
          <a:xfrm>
            <a:off x="548640" y="1965960"/>
            <a:ext cx="146304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" name="r710"/>
          <p:cNvSpPr/>
          <p:nvPr/>
        </p:nvSpPr>
        <p:spPr>
          <a:xfrm>
            <a:off x="777240" y="1965960"/>
            <a:ext cx="1645920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t712"/>
          <p:cNvSpPr txBox="1"/>
          <p:nvPr/>
        </p:nvSpPr>
        <p:spPr>
          <a:xfrm>
            <a:off x="777240" y="2075688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0</a:t>
            </a:r>
          </a:p>
        </p:txBody>
      </p:sp>
      <p:sp>
        <p:nvSpPr>
          <p:cNvPr id="713" name="t714"/>
          <p:cNvSpPr txBox="1"/>
          <p:nvPr/>
        </p:nvSpPr>
        <p:spPr>
          <a:xfrm>
            <a:off x="777240" y="2423160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2–3 wks</a:t>
            </a:r>
          </a:p>
        </p:txBody>
      </p:sp>
      <p:sp>
        <p:nvSpPr>
          <p:cNvPr id="715" name="r716"/>
          <p:cNvSpPr/>
          <p:nvPr/>
        </p:nvSpPr>
        <p:spPr>
          <a:xfrm>
            <a:off x="2514600" y="1965960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17" name="t718"/>
          <p:cNvSpPr txBox="1"/>
          <p:nvPr/>
        </p:nvSpPr>
        <p:spPr>
          <a:xfrm>
            <a:off x="2651760" y="2057400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Foundation</a:t>
            </a:r>
          </a:p>
        </p:txBody>
      </p:sp>
      <p:sp>
        <p:nvSpPr>
          <p:cNvPr id="719" name="t720"/>
          <p:cNvSpPr txBox="1"/>
          <p:nvPr/>
        </p:nvSpPr>
        <p:spPr>
          <a:xfrm>
            <a:off x="2651760" y="2423160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Design system, shared blocks, consent/analytics pattern, import pipeline. Validate on one pilot site.</a:t>
            </a:r>
          </a:p>
        </p:txBody>
      </p:sp>
      <p:sp>
        <p:nvSpPr>
          <p:cNvPr id="721" name="r722"/>
          <p:cNvSpPr/>
          <p:nvPr/>
        </p:nvSpPr>
        <p:spPr>
          <a:xfrm>
            <a:off x="548640" y="2944368"/>
            <a:ext cx="146304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" name="r724"/>
          <p:cNvSpPr/>
          <p:nvPr/>
        </p:nvSpPr>
        <p:spPr>
          <a:xfrm>
            <a:off x="777240" y="2944368"/>
            <a:ext cx="1645920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" name="t726"/>
          <p:cNvSpPr txBox="1"/>
          <p:nvPr/>
        </p:nvSpPr>
        <p:spPr>
          <a:xfrm>
            <a:off x="777240" y="3054096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1</a:t>
            </a:r>
          </a:p>
        </p:txBody>
      </p:sp>
      <p:sp>
        <p:nvSpPr>
          <p:cNvPr id="727" name="t728"/>
          <p:cNvSpPr txBox="1"/>
          <p:nvPr/>
        </p:nvSpPr>
        <p:spPr>
          <a:xfrm>
            <a:off x="777240" y="3401568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~4 wks</a:t>
            </a:r>
          </a:p>
        </p:txBody>
      </p:sp>
      <p:sp>
        <p:nvSpPr>
          <p:cNvPr id="729" name="r730"/>
          <p:cNvSpPr/>
          <p:nvPr/>
        </p:nvSpPr>
        <p:spPr>
          <a:xfrm>
            <a:off x="2514600" y="2944368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31" name="t732"/>
          <p:cNvSpPr txBox="1"/>
          <p:nvPr/>
        </p:nvSpPr>
        <p:spPr>
          <a:xfrm>
            <a:off x="2651760" y="3035808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Lower-risk sites</a:t>
            </a:r>
          </a:p>
        </p:txBody>
      </p:sp>
      <p:sp>
        <p:nvSpPr>
          <p:cNvPr id="733" name="t734"/>
          <p:cNvSpPr txBox="1"/>
          <p:nvPr/>
        </p:nvSpPr>
        <p:spPr>
          <a:xfrm>
            <a:off x="2651760" y="3401568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lupron.com · lupronpedpro.com · armourthyroid.com — fetchable + modest interactivity.</a:t>
            </a:r>
          </a:p>
        </p:txBody>
      </p:sp>
      <p:sp>
        <p:nvSpPr>
          <p:cNvPr id="735" name="r736"/>
          <p:cNvSpPr/>
          <p:nvPr/>
        </p:nvSpPr>
        <p:spPr>
          <a:xfrm>
            <a:off x="548640" y="3922776"/>
            <a:ext cx="146304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" name="r738"/>
          <p:cNvSpPr/>
          <p:nvPr/>
        </p:nvSpPr>
        <p:spPr>
          <a:xfrm>
            <a:off x="777240" y="3922776"/>
            <a:ext cx="1645920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" name="t740"/>
          <p:cNvSpPr txBox="1"/>
          <p:nvPr/>
        </p:nvSpPr>
        <p:spPr>
          <a:xfrm>
            <a:off x="777240" y="4032504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2</a:t>
            </a:r>
          </a:p>
        </p:txBody>
      </p:sp>
      <p:sp>
        <p:nvSpPr>
          <p:cNvPr id="741" name="t742"/>
          <p:cNvSpPr txBox="1"/>
          <p:nvPr/>
        </p:nvSpPr>
        <p:spPr>
          <a:xfrm>
            <a:off x="777240" y="4379976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~4 wks</a:t>
            </a:r>
          </a:p>
        </p:txBody>
      </p:sp>
      <p:sp>
        <p:nvSpPr>
          <p:cNvPr id="743" name="r744"/>
          <p:cNvSpPr/>
          <p:nvPr/>
        </p:nvSpPr>
        <p:spPr>
          <a:xfrm>
            <a:off x="2514600" y="3922776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45" name="t746"/>
          <p:cNvSpPr txBox="1"/>
          <p:nvPr/>
        </p:nvSpPr>
        <p:spPr>
          <a:xfrm>
            <a:off x="2651760" y="4014216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High-complexity</a:t>
            </a:r>
          </a:p>
        </p:txBody>
      </p:sp>
      <p:sp>
        <p:nvSpPr>
          <p:cNvPr id="747" name="t748"/>
          <p:cNvSpPr txBox="1"/>
          <p:nvPr/>
        </p:nvSpPr>
        <p:spPr>
          <a:xfrm>
            <a:off x="2651760" y="4379976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liletta.com · lilettahcp.com — most net-new interactive blocks (quiz, clinical data, forms).</a:t>
            </a:r>
          </a:p>
        </p:txBody>
      </p:sp>
      <p:sp>
        <p:nvSpPr>
          <p:cNvPr id="749" name="r750"/>
          <p:cNvSpPr/>
          <p:nvPr/>
        </p:nvSpPr>
        <p:spPr>
          <a:xfrm>
            <a:off x="548640" y="4901184"/>
            <a:ext cx="146304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" name="r752"/>
          <p:cNvSpPr/>
          <p:nvPr/>
        </p:nvSpPr>
        <p:spPr>
          <a:xfrm>
            <a:off x="777240" y="4901184"/>
            <a:ext cx="1645920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" name="t754"/>
          <p:cNvSpPr txBox="1"/>
          <p:nvPr/>
        </p:nvSpPr>
        <p:spPr>
          <a:xfrm>
            <a:off x="777240" y="5010912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755" name="t756"/>
          <p:cNvSpPr txBox="1"/>
          <p:nvPr/>
        </p:nvSpPr>
        <p:spPr>
          <a:xfrm>
            <a:off x="777240" y="5358384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~2 wks</a:t>
            </a:r>
          </a:p>
        </p:txBody>
      </p:sp>
      <p:sp>
        <p:nvSpPr>
          <p:cNvPr id="757" name="r758"/>
          <p:cNvSpPr/>
          <p:nvPr/>
        </p:nvSpPr>
        <p:spPr>
          <a:xfrm>
            <a:off x="2514600" y="4901184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59" name="t760"/>
          <p:cNvSpPr txBox="1"/>
          <p:nvPr/>
        </p:nvSpPr>
        <p:spPr>
          <a:xfrm>
            <a:off x="2651760" y="4992624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Discovery-led</a:t>
            </a:r>
          </a:p>
        </p:txBody>
      </p:sp>
      <p:sp>
        <p:nvSpPr>
          <p:cNvPr id="761" name="t762"/>
          <p:cNvSpPr txBox="1"/>
          <p:nvPr/>
        </p:nvSpPr>
        <p:spPr>
          <a:xfrm>
            <a:off x="2651760" y="5358384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hypothyroidhub.com — sequenced last; resolve scope/registration ambiguity first.</a:t>
            </a:r>
          </a:p>
        </p:txBody>
      </p:sp>
      <p:sp>
        <p:nvSpPr>
          <p:cNvPr id="773" name="t77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75" name="t77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r8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9" name="r81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811" name="r81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3" name="t81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PLANNING CANDOR</a:t>
            </a:r>
          </a:p>
        </p:txBody>
      </p:sp>
      <p:sp>
        <p:nvSpPr>
          <p:cNvPr id="815" name="t81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Risks &amp; Assumptions</a:t>
            </a:r>
          </a:p>
        </p:txBody>
      </p:sp>
      <p:sp>
        <p:nvSpPr>
          <p:cNvPr id="777" name="r778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" name="t780"/>
          <p:cNvSpPr txBox="1"/>
          <p:nvPr/>
        </p:nvSpPr>
        <p:spPr>
          <a:xfrm>
            <a:off x="548640" y="1408176"/>
            <a:ext cx="548640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Key risks &amp; mitigations</a:t>
            </a:r>
          </a:p>
        </p:txBody>
      </p:sp>
      <p:sp>
        <p:nvSpPr>
          <p:cNvPr id="781" name="t782"/>
          <p:cNvSpPr txBox="1"/>
          <p:nvPr/>
        </p:nvSpPr>
        <p:spPr>
          <a:xfrm>
            <a:off x="594360" y="205740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MLR review = #1 schedule driver</a:t>
            </a:r>
          </a:p>
        </p:txBody>
      </p:sp>
      <p:sp>
        <p:nvSpPr>
          <p:cNvPr id="783" name="t784"/>
          <p:cNvSpPr txBox="1"/>
          <p:nvPr/>
        </p:nvSpPr>
        <p:spPr>
          <a:xfrm>
            <a:off x="868680" y="2368296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Freeze content early; lock PRC codes; parallelise sign-off.</a:t>
            </a:r>
          </a:p>
        </p:txBody>
      </p:sp>
      <p:sp>
        <p:nvSpPr>
          <p:cNvPr id="785" name="t786"/>
          <p:cNvSpPr txBox="1"/>
          <p:nvPr/>
        </p:nvSpPr>
        <p:spPr>
          <a:xfrm>
            <a:off x="594360" y="2715768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WAF-blocked + SPA sources</a:t>
            </a:r>
          </a:p>
        </p:txBody>
      </p:sp>
      <p:sp>
        <p:nvSpPr>
          <p:cNvPr id="787" name="t788"/>
          <p:cNvSpPr txBox="1"/>
          <p:nvPr/>
        </p:nvSpPr>
        <p:spPr>
          <a:xfrm>
            <a:off x="868680" y="3026664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Discovery spikes first; re-baseline after (3 sites).</a:t>
            </a:r>
          </a:p>
        </p:txBody>
      </p:sp>
      <p:sp>
        <p:nvSpPr>
          <p:cNvPr id="789" name="t790"/>
          <p:cNvSpPr txBox="1"/>
          <p:nvPr/>
        </p:nvSpPr>
        <p:spPr>
          <a:xfrm>
            <a:off x="594360" y="3374136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hypothyroidhub scope unconfirmed</a:t>
            </a:r>
          </a:p>
        </p:txBody>
      </p:sp>
      <p:sp>
        <p:nvSpPr>
          <p:cNvPr id="791" name="t792"/>
          <p:cNvSpPr txBox="1"/>
          <p:nvPr/>
        </p:nvSpPr>
        <p:spPr>
          <a:xfrm>
            <a:off x="868680" y="3685032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Scope spike before commit; could swing ±5 days.</a:t>
            </a:r>
          </a:p>
        </p:txBody>
      </p:sp>
      <p:sp>
        <p:nvSpPr>
          <p:cNvPr id="793" name="t794"/>
          <p:cNvSpPr txBox="1"/>
          <p:nvPr/>
        </p:nvSpPr>
        <p:spPr>
          <a:xfrm>
            <a:off x="594360" y="4032504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Interactive blocks (a11y + CRM)</a:t>
            </a:r>
          </a:p>
        </p:txBody>
      </p:sp>
      <p:sp>
        <p:nvSpPr>
          <p:cNvPr id="795" name="t796"/>
          <p:cNvSpPr txBox="1"/>
          <p:nvPr/>
        </p:nvSpPr>
        <p:spPr>
          <a:xfrm>
            <a:off x="868680" y="43434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Early WCAG review; endpoint contracts up front.</a:t>
            </a:r>
          </a:p>
        </p:txBody>
      </p:sp>
      <p:sp>
        <p:nvSpPr>
          <p:cNvPr id="797" name="t798"/>
          <p:cNvSpPr txBox="1"/>
          <p:nvPr/>
        </p:nvSpPr>
        <p:spPr>
          <a:xfrm>
            <a:off x="594360" y="4690872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Form endpoints (AbbVie/Veeva)</a:t>
            </a:r>
          </a:p>
        </p:txBody>
      </p:sp>
      <p:sp>
        <p:nvSpPr>
          <p:cNvPr id="799" name="t800"/>
          <p:cNvSpPr txBox="1"/>
          <p:nvPr/>
        </p:nvSpPr>
        <p:spPr>
          <a:xfrm>
            <a:off x="868680" y="5001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Confirm integration availability as external dependency.</a:t>
            </a:r>
          </a:p>
        </p:txBody>
      </p:sp>
      <p:sp>
        <p:nvSpPr>
          <p:cNvPr id="801" name="r802"/>
          <p:cNvSpPr/>
          <p:nvPr/>
        </p:nvSpPr>
        <p:spPr>
          <a:xfrm>
            <a:off x="6263640" y="1371600"/>
            <a:ext cx="5303520" cy="50292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" name="t804"/>
          <p:cNvSpPr txBox="1"/>
          <p:nvPr/>
        </p:nvSpPr>
        <p:spPr>
          <a:xfrm>
            <a:off x="6263640" y="1408176"/>
            <a:ext cx="530352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Key assumptions</a:t>
            </a:r>
          </a:p>
        </p:txBody>
      </p:sp>
      <p:sp>
        <p:nvSpPr>
          <p:cNvPr id="805" name="t806"/>
          <p:cNvSpPr txBox="1"/>
          <p:nvPr/>
        </p:nvSpPr>
        <p:spPr>
          <a:xfrm>
            <a:off x="6309360" y="2057400"/>
            <a:ext cx="5212080" cy="3200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One shared AbbVie design system; brands differ by tokens, not bespoke blocks.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Savings/copay enrollment stays on external AbbVie properties (link-out).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Authors / migration scripts handle bulk page authoring; engineering owns blocks + assembly.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MLR/regulatory review runs in parallel and does not block engineering.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Estimates re-baselined after Wave 0 and the three discovery spikes.</a:t>
            </a:r>
          </a:p>
        </p:txBody>
      </p:sp>
      <p:sp>
        <p:nvSpPr>
          <p:cNvPr id="817" name="t81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819" name="t82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8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r824"/>
          <p:cNvSpPr/>
          <p:nvPr/>
        </p:nvSpPr>
        <p:spPr>
          <a:xfrm>
            <a:off x="0" y="2148840"/>
            <a:ext cx="12192000" cy="120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" name="t826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>
                <a:solidFill>
                  <a:srgbClr val="E8553D"/>
                </a:solidFill>
                <a:latin typeface="Arial"/>
              </a:rPr>
              <a:t>WHY COGNIZANT</a:t>
            </a:r>
          </a:p>
        </p:txBody>
      </p:sp>
      <p:sp>
        <p:nvSpPr>
          <p:cNvPr id="827" name="t828"/>
          <p:cNvSpPr txBox="1"/>
          <p:nvPr/>
        </p:nvSpPr>
        <p:spPr>
          <a:xfrm>
            <a:off x="731520" y="1051560"/>
            <a:ext cx="10515600" cy="11887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Proven EDS lifecycle, a reusable block library, and deep regulated-pharma experience — delivering performance, compliance and speed-to-author across the whole portfolio.</a:t>
            </a:r>
          </a:p>
        </p:txBody>
      </p:sp>
      <p:sp>
        <p:nvSpPr>
          <p:cNvPr id="829" name="r830"/>
          <p:cNvSpPr/>
          <p:nvPr/>
        </p:nvSpPr>
        <p:spPr>
          <a:xfrm>
            <a:off x="73152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31" name="t832"/>
          <p:cNvSpPr txBox="1"/>
          <p:nvPr/>
        </p:nvSpPr>
        <p:spPr>
          <a:xfrm>
            <a:off x="91440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1</a:t>
            </a:r>
          </a:p>
        </p:txBody>
      </p:sp>
      <p:sp>
        <p:nvSpPr>
          <p:cNvPr id="833" name="t834"/>
          <p:cNvSpPr txBox="1"/>
          <p:nvPr/>
        </p:nvSpPr>
        <p:spPr>
          <a:xfrm>
            <a:off x="91440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Scope &amp; discovery spikes</a:t>
            </a:r>
          </a:p>
        </p:txBody>
      </p:sp>
      <p:sp>
        <p:nvSpPr>
          <p:cNvPr id="835" name="t836"/>
          <p:cNvSpPr txBox="1"/>
          <p:nvPr/>
        </p:nvSpPr>
        <p:spPr>
          <a:xfrm>
            <a:off x="91440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Confirm hypothyroidhub scope; export WAF-blocked &amp; SPA content.</a:t>
            </a:r>
          </a:p>
        </p:txBody>
      </p:sp>
      <p:sp>
        <p:nvSpPr>
          <p:cNvPr id="837" name="r838"/>
          <p:cNvSpPr/>
          <p:nvPr/>
        </p:nvSpPr>
        <p:spPr>
          <a:xfrm>
            <a:off x="434340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39" name="t840"/>
          <p:cNvSpPr txBox="1"/>
          <p:nvPr/>
        </p:nvSpPr>
        <p:spPr>
          <a:xfrm>
            <a:off x="452628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2</a:t>
            </a:r>
          </a:p>
        </p:txBody>
      </p:sp>
      <p:sp>
        <p:nvSpPr>
          <p:cNvPr id="841" name="t842"/>
          <p:cNvSpPr txBox="1"/>
          <p:nvPr/>
        </p:nvSpPr>
        <p:spPr>
          <a:xfrm>
            <a:off x="452628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Foundation sprint (Wave 0)</a:t>
            </a:r>
          </a:p>
        </p:txBody>
      </p:sp>
      <p:sp>
        <p:nvSpPr>
          <p:cNvPr id="843" name="t844"/>
          <p:cNvSpPr txBox="1"/>
          <p:nvPr/>
        </p:nvSpPr>
        <p:spPr>
          <a:xfrm>
            <a:off x="452628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Stand up design system, shared blocks &amp; import pipeline on a pilot site.</a:t>
            </a:r>
          </a:p>
        </p:txBody>
      </p:sp>
      <p:sp>
        <p:nvSpPr>
          <p:cNvPr id="845" name="r846"/>
          <p:cNvSpPr/>
          <p:nvPr/>
        </p:nvSpPr>
        <p:spPr>
          <a:xfrm>
            <a:off x="795528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47" name="t848"/>
          <p:cNvSpPr txBox="1"/>
          <p:nvPr/>
        </p:nvSpPr>
        <p:spPr>
          <a:xfrm>
            <a:off x="813816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3</a:t>
            </a:r>
          </a:p>
        </p:txBody>
      </p:sp>
      <p:sp>
        <p:nvSpPr>
          <p:cNvPr id="849" name="t850"/>
          <p:cNvSpPr txBox="1"/>
          <p:nvPr/>
        </p:nvSpPr>
        <p:spPr>
          <a:xfrm>
            <a:off x="813816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Re-baseline &amp; commit</a:t>
            </a:r>
          </a:p>
        </p:txBody>
      </p:sp>
      <p:sp>
        <p:nvSpPr>
          <p:cNvPr id="851" name="t852"/>
          <p:cNvSpPr txBox="1"/>
          <p:nvPr/>
        </p:nvSpPr>
        <p:spPr>
          <a:xfrm>
            <a:off x="813816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Lock estimate and wave plan; agree MLR cadence and form/CRM dependencies.</a:t>
            </a:r>
          </a:p>
        </p:txBody>
      </p:sp>
      <p:sp>
        <p:nvSpPr>
          <p:cNvPr id="853" name="t854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Let’s start with a 2-week discovery sprint to lock scope and validate the foundation.</a:t>
            </a:r>
          </a:p>
        </p:txBody>
      </p:sp>
      <p:sp>
        <p:nvSpPr>
          <p:cNvPr id="855" name="t856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7E92B5"/>
                </a:solidFill>
                <a:latin typeface="Arial"/>
              </a:rPr>
              <a:t>Cognizant  •  Confidential client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bVie">
  <a:themeElements>
    <a:clrScheme name="AbbVie">
      <a:dk1>
        <a:sysClr val="windowText" lastClr="000000"/>
      </a:dk1>
      <a:lt1>
        <a:sysClr val="window" lastClr="FFFFFF"/>
      </a:lt1>
      <a:dk2>
        <a:srgbClr val="071D49"/>
      </a:dk2>
      <a:lt2>
        <a:srgbClr val="EEEEEE"/>
      </a:lt2>
      <a:accent1>
        <a:srgbClr val="0B5FA5"/>
      </a:accent1>
      <a:accent2>
        <a:srgbClr val="E8553D"/>
      </a:accent2>
      <a:accent3>
        <a:srgbClr val="3F8F6B"/>
      </a:accent3>
      <a:accent4>
        <a:srgbClr val="C9962E"/>
      </a:accent4>
      <a:accent5>
        <a:srgbClr val="7E92B5"/>
      </a:accent5>
      <a:accent6>
        <a:srgbClr val="071D49"/>
      </a:accent6>
      <a:hlink>
        <a:srgbClr val="0B5FA5"/>
      </a:hlink>
      <a:folHlink>
        <a:srgbClr val="7E92B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7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51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