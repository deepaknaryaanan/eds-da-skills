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9"/>
    <p:sldId id="271" r:id="rId17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theme" Target="theme/theme1.xml"/><Relationship Id="rId19" Type="http://schemas.openxmlformats.org/officeDocument/2006/relationships/slide" Target="slides/slide17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>
          <a:latin typeface="Arial"/>
        </a:defRPr>
      </a:lvl1pPr>
    </p:titleStyle>
    <p:bodyStyle>
      <a:lvl1pPr>
        <a:defRPr sz="1800">
          <a:latin typeface="Arial"/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D49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14"/>
          <p:cNvSpPr/>
          <p:nvPr/>
        </p:nvSpPr>
        <p:spPr>
          <a:xfrm>
            <a:off x="0" y="4160520"/>
            <a:ext cx="12192000" cy="18000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16"/>
          <p:cNvSpPr/>
          <p:nvPr/>
        </p:nvSpPr>
        <p:spPr>
          <a:xfrm>
            <a:off x="0" y="4224528"/>
            <a:ext cx="12192000" cy="12000"/>
          </a:xfrm>
          <a:prstGeom prst="rect">
            <a:avLst/>
          </a:prstGeom>
          <a:solidFill>
            <a:srgbClr val="0B5F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18"/>
          <p:cNvSpPr txBox="1"/>
          <p:nvPr/>
        </p:nvSpPr>
        <p:spPr>
          <a:xfrm>
            <a:off x="822960" y="1051560"/>
            <a:ext cx="10058400" cy="4572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b="1">
                <a:solidFill>
                  <a:srgbClr val="E8553D"/>
                </a:solidFill>
                <a:latin typeface="Arial"/>
              </a:rPr>
              <a:t>SOLUTION PROPOSAL  •  DIGITAL EXPERIENCE MIGRATION</a:t>
            </a:r>
          </a:p>
        </p:txBody>
      </p:sp>
      <p:sp>
        <p:nvSpPr>
          <p:cNvPr id="19" name="t20"/>
          <p:cNvSpPr txBox="1"/>
          <p:nvPr/>
        </p:nvSpPr>
        <p:spPr>
          <a:xfrm>
            <a:off x="777240" y="1554480"/>
            <a:ext cx="10515600" cy="18288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3200" b="1">
                <a:solidFill>
                  <a:srgbClr val="FFFFFF"/>
                </a:solidFill>
                <a:latin typeface="Arial"/>
              </a:rPr>
              <a:t>Pharma Brand Portfolio Migration to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3200" b="1">
                <a:solidFill>
                  <a:srgbClr val="FFFFFF"/>
                </a:solidFill>
                <a:latin typeface="Arial"/>
              </a:rPr>
              <a:t>Adobe Experience Manager – Edge Delivery Services</a:t>
            </a:r>
          </a:p>
        </p:txBody>
      </p:sp>
      <p:sp>
        <p:nvSpPr>
          <p:cNvPr id="21" name="t22"/>
          <p:cNvSpPr txBox="1"/>
          <p:nvPr/>
        </p:nvSpPr>
        <p:spPr>
          <a:xfrm>
            <a:off x="822960" y="4434840"/>
            <a:ext cx="10058400" cy="10972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150"/>
              </a:spcAft>
              <a:buNone/>
            </a:pPr>
            <a:r>
              <a:rPr lang="en-US" sz="1500" b="0">
                <a:solidFill>
                  <a:srgbClr val="C9D4E8"/>
                </a:solidFill>
                <a:latin typeface="Arial"/>
              </a:rPr>
              <a:t>Eighteen brand sites across the AbbVie portfolio — delivered in two waves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300" b="0">
                <a:solidFill>
                  <a:srgbClr val="9FB2D0"/>
                </a:solidFill>
                <a:latin typeface="Arial"/>
              </a:rPr>
              <a:t>Block inventory · Design system · Integrations · Migration approach · Effort &amp; roadmap</a:t>
            </a:r>
          </a:p>
        </p:txBody>
      </p:sp>
      <p:sp>
        <p:nvSpPr>
          <p:cNvPr id="23" name="t24"/>
          <p:cNvSpPr txBox="1"/>
          <p:nvPr/>
        </p:nvSpPr>
        <p:spPr>
          <a:xfrm>
            <a:off x="822960" y="566928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1">
                <a:solidFill>
                  <a:srgbClr val="7E92B5"/>
                </a:solidFill>
                <a:latin typeface="Arial"/>
              </a:rPr>
              <a:t>Prepared by Cognizant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6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r64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71D49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r66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t68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E8553D"/>
                </a:solidFill>
                <a:latin typeface="Arial"/>
              </a:rPr>
              <a:t>AT A GLANCE</a:t>
            </a:r>
          </a:p>
        </p:txBody>
      </p:sp>
      <p:sp>
        <p:nvSpPr>
          <p:cNvPr id="69" name="t70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Arial"/>
              </a:rPr>
              <a:t>Executive Summary</a:t>
            </a:r>
          </a:p>
        </p:txBody>
      </p:sp>
      <p:sp>
        <p:nvSpPr>
          <p:cNvPr id="25" name="t26"/>
          <p:cNvSpPr txBox="1"/>
          <p:nvPr/>
        </p:nvSpPr>
        <p:spPr>
          <a:xfrm>
            <a:off x="548640" y="1371600"/>
            <a:ext cx="10972800" cy="6400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50" b="0">
                <a:solidFill>
                  <a:srgbClr val="2B2B2B"/>
                </a:solidFill>
                <a:latin typeface="Arial"/>
              </a:rPr>
              <a:t>A single, content-driven re-platform of eighteen AbbVie brand sites onto Adobe Edge Delivery Services — built on one shared design system and block library, delivered through a proven 6-stage lifecycle.</a:t>
            </a:r>
          </a:p>
        </p:txBody>
      </p:sp>
      <p:sp>
        <p:nvSpPr>
          <p:cNvPr id="27" name="r28"/>
          <p:cNvSpPr/>
          <p:nvPr/>
        </p:nvSpPr>
        <p:spPr>
          <a:xfrm>
            <a:off x="548640" y="2240280"/>
            <a:ext cx="2606040" cy="13716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29" name="r30"/>
          <p:cNvSpPr/>
          <p:nvPr/>
        </p:nvSpPr>
        <p:spPr>
          <a:xfrm>
            <a:off x="548640" y="2240280"/>
            <a:ext cx="109728" cy="1371600"/>
          </a:xfrm>
          <a:prstGeom prst="rect">
            <a:avLst/>
          </a:prstGeom>
          <a:solidFill>
            <a:srgbClr val="0B5FA5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t32"/>
          <p:cNvSpPr txBox="1"/>
          <p:nvPr/>
        </p:nvSpPr>
        <p:spPr>
          <a:xfrm>
            <a:off x="658368" y="2331720"/>
            <a:ext cx="2606040" cy="7772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3200" b="1">
                <a:solidFill>
                  <a:srgbClr val="0B5FA5"/>
                </a:solidFill>
                <a:latin typeface="Arial"/>
              </a:rPr>
              <a:t>18</a:t>
            </a:r>
          </a:p>
        </p:txBody>
      </p:sp>
      <p:sp>
        <p:nvSpPr>
          <p:cNvPr id="33" name="t34"/>
          <p:cNvSpPr txBox="1"/>
          <p:nvPr/>
        </p:nvSpPr>
        <p:spPr>
          <a:xfrm>
            <a:off x="658368" y="3063240"/>
            <a:ext cx="2606040" cy="5029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0">
                <a:solidFill>
                  <a:srgbClr val="2B2B2B"/>
                </a:solidFill>
                <a:latin typeface="Arial"/>
              </a:rPr>
              <a:t>brand sites in scope</a:t>
            </a:r>
          </a:p>
        </p:txBody>
      </p:sp>
      <p:sp>
        <p:nvSpPr>
          <p:cNvPr id="35" name="r36"/>
          <p:cNvSpPr/>
          <p:nvPr/>
        </p:nvSpPr>
        <p:spPr>
          <a:xfrm>
            <a:off x="3319272" y="2240280"/>
            <a:ext cx="2606040" cy="13716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37" name="r38"/>
          <p:cNvSpPr/>
          <p:nvPr/>
        </p:nvSpPr>
        <p:spPr>
          <a:xfrm>
            <a:off x="3319272" y="2240280"/>
            <a:ext cx="109728" cy="1371600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t40"/>
          <p:cNvSpPr txBox="1"/>
          <p:nvPr/>
        </p:nvSpPr>
        <p:spPr>
          <a:xfrm>
            <a:off x="3429000" y="2331720"/>
            <a:ext cx="2606040" cy="7772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3200" b="1">
                <a:solidFill>
                  <a:srgbClr val="E8553D"/>
                </a:solidFill>
                <a:latin typeface="Arial"/>
              </a:rPr>
              <a:t>1</a:t>
            </a:r>
          </a:p>
        </p:txBody>
      </p:sp>
      <p:sp>
        <p:nvSpPr>
          <p:cNvPr id="41" name="t42"/>
          <p:cNvSpPr txBox="1"/>
          <p:nvPr/>
        </p:nvSpPr>
        <p:spPr>
          <a:xfrm>
            <a:off x="3429000" y="3063240"/>
            <a:ext cx="2606040" cy="5029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0">
                <a:solidFill>
                  <a:srgbClr val="2B2B2B"/>
                </a:solidFill>
                <a:latin typeface="Arial"/>
              </a:rPr>
              <a:t>shared design system &amp; block library</a:t>
            </a:r>
          </a:p>
        </p:txBody>
      </p:sp>
      <p:sp>
        <p:nvSpPr>
          <p:cNvPr id="43" name="r44"/>
          <p:cNvSpPr/>
          <p:nvPr/>
        </p:nvSpPr>
        <p:spPr>
          <a:xfrm>
            <a:off x="6089904" y="2240280"/>
            <a:ext cx="2606040" cy="13716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5" name="r46"/>
          <p:cNvSpPr/>
          <p:nvPr/>
        </p:nvSpPr>
        <p:spPr>
          <a:xfrm>
            <a:off x="6089904" y="2240280"/>
            <a:ext cx="109728" cy="1371600"/>
          </a:xfrm>
          <a:prstGeom prst="rect">
            <a:avLst/>
          </a:prstGeom>
          <a:solidFill>
            <a:srgbClr val="3F8F6B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t48"/>
          <p:cNvSpPr txBox="1"/>
          <p:nvPr/>
        </p:nvSpPr>
        <p:spPr>
          <a:xfrm>
            <a:off x="6199632" y="2331720"/>
            <a:ext cx="2606040" cy="7772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3200" b="1">
                <a:solidFill>
                  <a:srgbClr val="3F8F6B"/>
                </a:solidFill>
                <a:latin typeface="Arial"/>
              </a:rPr>
              <a:t>16</a:t>
            </a:r>
          </a:p>
        </p:txBody>
      </p:sp>
      <p:sp>
        <p:nvSpPr>
          <p:cNvPr id="49" name="t50"/>
          <p:cNvSpPr txBox="1"/>
          <p:nvPr/>
        </p:nvSpPr>
        <p:spPr>
          <a:xfrm>
            <a:off x="6199632" y="3063240"/>
            <a:ext cx="2606040" cy="5029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0">
                <a:solidFill>
                  <a:srgbClr val="2B2B2B"/>
                </a:solidFill>
                <a:latin typeface="Arial"/>
              </a:rPr>
              <a:t>existing blocks reused</a:t>
            </a:r>
          </a:p>
        </p:txBody>
      </p:sp>
      <p:sp>
        <p:nvSpPr>
          <p:cNvPr id="51" name="r52"/>
          <p:cNvSpPr/>
          <p:nvPr/>
        </p:nvSpPr>
        <p:spPr>
          <a:xfrm>
            <a:off x="8860536" y="2240280"/>
            <a:ext cx="2606040" cy="13716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53" name="r54"/>
          <p:cNvSpPr/>
          <p:nvPr/>
        </p:nvSpPr>
        <p:spPr>
          <a:xfrm>
            <a:off x="8860536" y="2240280"/>
            <a:ext cx="109728" cy="1371600"/>
          </a:xfrm>
          <a:prstGeom prst="rect">
            <a:avLst/>
          </a:prstGeom>
          <a:solidFill>
            <a:srgbClr val="071D49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t56"/>
          <p:cNvSpPr txBox="1"/>
          <p:nvPr/>
        </p:nvSpPr>
        <p:spPr>
          <a:xfrm>
            <a:off x="8970264" y="2331720"/>
            <a:ext cx="2606040" cy="7772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3200" b="1">
                <a:solidFill>
                  <a:srgbClr val="071D49"/>
                </a:solidFill>
                <a:latin typeface="Arial"/>
              </a:rPr>
              <a:t>~409</a:t>
            </a:r>
          </a:p>
        </p:txBody>
      </p:sp>
      <p:sp>
        <p:nvSpPr>
          <p:cNvPr id="57" name="t58"/>
          <p:cNvSpPr txBox="1"/>
          <p:nvPr/>
        </p:nvSpPr>
        <p:spPr>
          <a:xfrm>
            <a:off x="8970264" y="3063240"/>
            <a:ext cx="2606040" cy="5029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0">
                <a:solidFill>
                  <a:srgbClr val="2B2B2B"/>
                </a:solidFill>
                <a:latin typeface="Arial"/>
              </a:rPr>
              <a:t>person-days (355–465 range)</a:t>
            </a:r>
          </a:p>
        </p:txBody>
      </p:sp>
      <p:sp>
        <p:nvSpPr>
          <p:cNvPr id="59" name="t60"/>
          <p:cNvSpPr txBox="1"/>
          <p:nvPr/>
        </p:nvSpPr>
        <p:spPr>
          <a:xfrm>
            <a:off x="548640" y="3886200"/>
            <a:ext cx="10972800" cy="20116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500" b="1">
                <a:solidFill>
                  <a:srgbClr val="071D49"/>
                </a:solidFill>
                <a:latin typeface="Arial"/>
              </a:rPr>
              <a:t>Why this matters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lang="en-US" sz="1200" b="0">
                <a:solidFill>
                  <a:srgbClr val="2B2B2B"/>
                </a:solidFill>
                <a:latin typeface="Arial"/>
              </a:rPr>
              <a:t>Performance &amp; SEO — EDS targets a 100 Lighthouse score; replaces legacy jQuery/Bootstrap and an Angular SPA with fast, static-first delivery.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lang="en-US" sz="1200" b="0">
                <a:solidFill>
                  <a:srgbClr val="2B2B2B"/>
                </a:solidFill>
                <a:latin typeface="Arial"/>
              </a:rPr>
              <a:t>Authoring agility — marketers edit in documents; no code release for content change, accelerating regulated-content updates.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lang="en-US" sz="1200" b="0">
                <a:solidFill>
                  <a:srgbClr val="2B2B2B"/>
                </a:solidFill>
                <a:latin typeface="Arial"/>
              </a:rPr>
              <a:t>Compliance by design — ISI / PI fair-balance, references and PRC/job codes treated as first-class migration artifacts.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lang="en-US" sz="1200" b="0">
                <a:solidFill>
                  <a:srgbClr val="2B2B2B"/>
                </a:solidFill>
                <a:latin typeface="Arial"/>
              </a:rPr>
              <a:t>Economies of scale — build common blocks once, theme per brand; Wave 2’s 12 sites add almost no new blocks — near-total reuse.</a:t>
            </a:r>
          </a:p>
        </p:txBody>
      </p:sp>
      <p:sp>
        <p:nvSpPr>
          <p:cNvPr id="71" name="t72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5A5A5A"/>
                </a:solidFill>
                <a:latin typeface="Arial"/>
              </a:rPr>
              <a:t>AbbVie Pharma Portfolio → AEM Edge Delivery Services  |  Confidential – Client Proposal</a:t>
            </a:r>
          </a:p>
        </p:txBody>
      </p:sp>
      <p:sp>
        <p:nvSpPr>
          <p:cNvPr id="73" name="t74"/>
          <p:cNvSpPr txBox="1"/>
          <p:nvPr/>
        </p:nvSpPr>
        <p:spPr>
          <a:xfrm>
            <a:off x="10058400" y="5989320"/>
            <a:ext cx="173736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r">
              <a:spcAft>
                <a:spcPts val="0"/>
              </a:spcAft>
              <a:buNone/>
            </a:pPr>
            <a:r>
              <a:rPr lang="en-US" sz="1000" b="1">
                <a:solidFill>
                  <a:srgbClr val="071D49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r2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9" name="r220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71D49"/>
          </a:solidFill>
          <a:ln>
            <a:noFill/>
          </a:ln>
        </p:spPr>
        <p:txBody>
          <a:bodyPr/>
          <a:lstStyle/>
          <a:p/>
        </p:txBody>
      </p:sp>
      <p:sp>
        <p:nvSpPr>
          <p:cNvPr id="221" name="r222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223" name="t224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E8553D"/>
                </a:solidFill>
                <a:latin typeface="Arial"/>
              </a:rPr>
              <a:t>SCOPE</a:t>
            </a:r>
          </a:p>
        </p:txBody>
      </p:sp>
      <p:sp>
        <p:nvSpPr>
          <p:cNvPr id="225" name="t226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Arial"/>
              </a:rPr>
              <a:t>Portfolio at a Glance  ·  Wave 1 (original six)</a:t>
            </a:r>
          </a:p>
        </p:txBody>
      </p:sp>
      <p:sp>
        <p:nvSpPr>
          <p:cNvPr id="75" name="r76"/>
          <p:cNvSpPr/>
          <p:nvPr/>
        </p:nvSpPr>
        <p:spPr>
          <a:xfrm>
            <a:off x="548640" y="1417320"/>
            <a:ext cx="2183731" cy="548640"/>
          </a:xfrm>
          <a:prstGeom prst="rect">
            <a:avLst/>
          </a:prstGeom>
          <a:solidFill>
            <a:srgbClr val="071D49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77" name="t78"/>
          <p:cNvSpPr txBox="1"/>
          <p:nvPr/>
        </p:nvSpPr>
        <p:spPr>
          <a:xfrm>
            <a:off x="548640" y="1417320"/>
            <a:ext cx="2183731" cy="54864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Site</a:t>
            </a:r>
          </a:p>
        </p:txBody>
      </p:sp>
      <p:sp>
        <p:nvSpPr>
          <p:cNvPr id="79" name="r80"/>
          <p:cNvSpPr/>
          <p:nvPr/>
        </p:nvSpPr>
        <p:spPr>
          <a:xfrm>
            <a:off x="2732371" y="1417320"/>
            <a:ext cx="2766060" cy="548640"/>
          </a:xfrm>
          <a:prstGeom prst="rect">
            <a:avLst/>
          </a:prstGeom>
          <a:solidFill>
            <a:srgbClr val="071D49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81" name="t82"/>
          <p:cNvSpPr txBox="1"/>
          <p:nvPr/>
        </p:nvSpPr>
        <p:spPr>
          <a:xfrm>
            <a:off x="2732371" y="1417320"/>
            <a:ext cx="2766060" cy="54864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83" name="r84"/>
          <p:cNvSpPr/>
          <p:nvPr/>
        </p:nvSpPr>
        <p:spPr>
          <a:xfrm>
            <a:off x="5498431" y="1417320"/>
            <a:ext cx="2766060" cy="548640"/>
          </a:xfrm>
          <a:prstGeom prst="rect">
            <a:avLst/>
          </a:prstGeom>
          <a:solidFill>
            <a:srgbClr val="071D49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85" name="t86"/>
          <p:cNvSpPr txBox="1"/>
          <p:nvPr/>
        </p:nvSpPr>
        <p:spPr>
          <a:xfrm>
            <a:off x="5498431" y="1417320"/>
            <a:ext cx="2766060" cy="54864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Therapeutic area</a:t>
            </a:r>
          </a:p>
        </p:txBody>
      </p:sp>
      <p:sp>
        <p:nvSpPr>
          <p:cNvPr id="87" name="r88"/>
          <p:cNvSpPr/>
          <p:nvPr/>
        </p:nvSpPr>
        <p:spPr>
          <a:xfrm>
            <a:off x="8264491" y="1417320"/>
            <a:ext cx="1746985" cy="548640"/>
          </a:xfrm>
          <a:prstGeom prst="rect">
            <a:avLst/>
          </a:prstGeom>
          <a:solidFill>
            <a:srgbClr val="071D49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89" name="t90"/>
          <p:cNvSpPr txBox="1"/>
          <p:nvPr/>
        </p:nvSpPr>
        <p:spPr>
          <a:xfrm>
            <a:off x="8264491" y="1417320"/>
            <a:ext cx="1746985" cy="54864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Source state</a:t>
            </a:r>
          </a:p>
        </p:txBody>
      </p:sp>
      <p:sp>
        <p:nvSpPr>
          <p:cNvPr id="91" name="r92"/>
          <p:cNvSpPr/>
          <p:nvPr/>
        </p:nvSpPr>
        <p:spPr>
          <a:xfrm>
            <a:off x="10011476" y="1417320"/>
            <a:ext cx="1601403" cy="548640"/>
          </a:xfrm>
          <a:prstGeom prst="rect">
            <a:avLst/>
          </a:prstGeom>
          <a:solidFill>
            <a:srgbClr val="071D49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93" name="t94"/>
          <p:cNvSpPr txBox="1"/>
          <p:nvPr/>
        </p:nvSpPr>
        <p:spPr>
          <a:xfrm>
            <a:off x="10011476" y="1417320"/>
            <a:ext cx="1601403" cy="54864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Complexity</a:t>
            </a:r>
          </a:p>
        </p:txBody>
      </p:sp>
      <p:sp>
        <p:nvSpPr>
          <p:cNvPr id="95" name="r96"/>
          <p:cNvSpPr/>
          <p:nvPr/>
        </p:nvSpPr>
        <p:spPr>
          <a:xfrm>
            <a:off x="548640" y="1965960"/>
            <a:ext cx="2183731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97" name="t98"/>
          <p:cNvSpPr txBox="1"/>
          <p:nvPr/>
        </p:nvSpPr>
        <p:spPr>
          <a:xfrm>
            <a:off x="548640" y="1965960"/>
            <a:ext cx="2183731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1">
                <a:solidFill>
                  <a:srgbClr val="2B2B2B"/>
                </a:solidFill>
                <a:latin typeface="Arial"/>
              </a:rPr>
              <a:t>lupron.com</a:t>
            </a:r>
          </a:p>
        </p:txBody>
      </p:sp>
      <p:sp>
        <p:nvSpPr>
          <p:cNvPr id="99" name="r100"/>
          <p:cNvSpPr/>
          <p:nvPr/>
        </p:nvSpPr>
        <p:spPr>
          <a:xfrm>
            <a:off x="2732371" y="1965960"/>
            <a:ext cx="27660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1" name="t102"/>
          <p:cNvSpPr txBox="1"/>
          <p:nvPr/>
        </p:nvSpPr>
        <p:spPr>
          <a:xfrm>
            <a:off x="2732371" y="1965960"/>
            <a:ext cx="2766060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Patient (multi-indication)</a:t>
            </a:r>
          </a:p>
        </p:txBody>
      </p:sp>
      <p:sp>
        <p:nvSpPr>
          <p:cNvPr id="103" name="r104"/>
          <p:cNvSpPr/>
          <p:nvPr/>
        </p:nvSpPr>
        <p:spPr>
          <a:xfrm>
            <a:off x="5498431" y="1965960"/>
            <a:ext cx="27660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5" name="t106"/>
          <p:cNvSpPr txBox="1"/>
          <p:nvPr/>
        </p:nvSpPr>
        <p:spPr>
          <a:xfrm>
            <a:off x="5498431" y="1965960"/>
            <a:ext cx="2766060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Prostate / endo / fibroids</a:t>
            </a:r>
          </a:p>
        </p:txBody>
      </p:sp>
      <p:sp>
        <p:nvSpPr>
          <p:cNvPr id="107" name="r108"/>
          <p:cNvSpPr/>
          <p:nvPr/>
        </p:nvSpPr>
        <p:spPr>
          <a:xfrm>
            <a:off x="8264491" y="1965960"/>
            <a:ext cx="174698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9" name="t110"/>
          <p:cNvSpPr txBox="1"/>
          <p:nvPr/>
        </p:nvSpPr>
        <p:spPr>
          <a:xfrm>
            <a:off x="8264491" y="1965960"/>
            <a:ext cx="1746985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Live HTML</a:t>
            </a:r>
          </a:p>
        </p:txBody>
      </p:sp>
      <p:sp>
        <p:nvSpPr>
          <p:cNvPr id="111" name="r112"/>
          <p:cNvSpPr/>
          <p:nvPr/>
        </p:nvSpPr>
        <p:spPr>
          <a:xfrm>
            <a:off x="10011476" y="1965960"/>
            <a:ext cx="1601403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3" name="t114"/>
          <p:cNvSpPr txBox="1"/>
          <p:nvPr/>
        </p:nvSpPr>
        <p:spPr>
          <a:xfrm>
            <a:off x="10011476" y="1965960"/>
            <a:ext cx="1601403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1">
                <a:solidFill>
                  <a:srgbClr val="C9962E"/>
                </a:solidFill>
                <a:latin typeface="Arial"/>
              </a:rPr>
              <a:t>Med–High</a:t>
            </a:r>
          </a:p>
        </p:txBody>
      </p:sp>
      <p:sp>
        <p:nvSpPr>
          <p:cNvPr id="115" name="r116"/>
          <p:cNvSpPr/>
          <p:nvPr/>
        </p:nvSpPr>
        <p:spPr>
          <a:xfrm>
            <a:off x="548640" y="2404872"/>
            <a:ext cx="2183731" cy="438912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7" name="t118"/>
          <p:cNvSpPr txBox="1"/>
          <p:nvPr/>
        </p:nvSpPr>
        <p:spPr>
          <a:xfrm>
            <a:off x="548640" y="2404872"/>
            <a:ext cx="2183731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1">
                <a:solidFill>
                  <a:srgbClr val="2B2B2B"/>
                </a:solidFill>
                <a:latin typeface="Arial"/>
              </a:rPr>
              <a:t>lupronpedpro.com</a:t>
            </a:r>
          </a:p>
        </p:txBody>
      </p:sp>
      <p:sp>
        <p:nvSpPr>
          <p:cNvPr id="119" name="r120"/>
          <p:cNvSpPr/>
          <p:nvPr/>
        </p:nvSpPr>
        <p:spPr>
          <a:xfrm>
            <a:off x="2732371" y="2404872"/>
            <a:ext cx="2766060" cy="438912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1" name="t122"/>
          <p:cNvSpPr txBox="1"/>
          <p:nvPr/>
        </p:nvSpPr>
        <p:spPr>
          <a:xfrm>
            <a:off x="2732371" y="2404872"/>
            <a:ext cx="2766060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Caregiver / HCP</a:t>
            </a:r>
          </a:p>
        </p:txBody>
      </p:sp>
      <p:sp>
        <p:nvSpPr>
          <p:cNvPr id="123" name="r124"/>
          <p:cNvSpPr/>
          <p:nvPr/>
        </p:nvSpPr>
        <p:spPr>
          <a:xfrm>
            <a:off x="5498431" y="2404872"/>
            <a:ext cx="2766060" cy="438912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5" name="t126"/>
          <p:cNvSpPr txBox="1"/>
          <p:nvPr/>
        </p:nvSpPr>
        <p:spPr>
          <a:xfrm>
            <a:off x="5498431" y="2404872"/>
            <a:ext cx="2766060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Central precocious puberty</a:t>
            </a:r>
          </a:p>
        </p:txBody>
      </p:sp>
      <p:sp>
        <p:nvSpPr>
          <p:cNvPr id="127" name="r128"/>
          <p:cNvSpPr/>
          <p:nvPr/>
        </p:nvSpPr>
        <p:spPr>
          <a:xfrm>
            <a:off x="8264491" y="2404872"/>
            <a:ext cx="1746985" cy="438912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9" name="t130"/>
          <p:cNvSpPr txBox="1"/>
          <p:nvPr/>
        </p:nvSpPr>
        <p:spPr>
          <a:xfrm>
            <a:off x="8264491" y="2404872"/>
            <a:ext cx="1746985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WAF-blocked</a:t>
            </a:r>
          </a:p>
        </p:txBody>
      </p:sp>
      <p:sp>
        <p:nvSpPr>
          <p:cNvPr id="131" name="r132"/>
          <p:cNvSpPr/>
          <p:nvPr/>
        </p:nvSpPr>
        <p:spPr>
          <a:xfrm>
            <a:off x="10011476" y="2404872"/>
            <a:ext cx="1601403" cy="438912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33" name="t134"/>
          <p:cNvSpPr txBox="1"/>
          <p:nvPr/>
        </p:nvSpPr>
        <p:spPr>
          <a:xfrm>
            <a:off x="10011476" y="2404872"/>
            <a:ext cx="1601403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1">
                <a:solidFill>
                  <a:srgbClr val="3F8F6B"/>
                </a:solidFill>
                <a:latin typeface="Arial"/>
              </a:rPr>
              <a:t>Low–Med</a:t>
            </a:r>
          </a:p>
        </p:txBody>
      </p:sp>
      <p:sp>
        <p:nvSpPr>
          <p:cNvPr id="135" name="r136"/>
          <p:cNvSpPr/>
          <p:nvPr/>
        </p:nvSpPr>
        <p:spPr>
          <a:xfrm>
            <a:off x="548640" y="2843784"/>
            <a:ext cx="2183731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37" name="t138"/>
          <p:cNvSpPr txBox="1"/>
          <p:nvPr/>
        </p:nvSpPr>
        <p:spPr>
          <a:xfrm>
            <a:off x="548640" y="2843784"/>
            <a:ext cx="2183731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1">
                <a:solidFill>
                  <a:srgbClr val="2B2B2B"/>
                </a:solidFill>
                <a:latin typeface="Arial"/>
              </a:rPr>
              <a:t>armourthyroid.com</a:t>
            </a:r>
          </a:p>
        </p:txBody>
      </p:sp>
      <p:sp>
        <p:nvSpPr>
          <p:cNvPr id="139" name="r140"/>
          <p:cNvSpPr/>
          <p:nvPr/>
        </p:nvSpPr>
        <p:spPr>
          <a:xfrm>
            <a:off x="2732371" y="2843784"/>
            <a:ext cx="27660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41" name="t142"/>
          <p:cNvSpPr txBox="1"/>
          <p:nvPr/>
        </p:nvSpPr>
        <p:spPr>
          <a:xfrm>
            <a:off x="2732371" y="2843784"/>
            <a:ext cx="2766060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Patient</a:t>
            </a:r>
          </a:p>
        </p:txBody>
      </p:sp>
      <p:sp>
        <p:nvSpPr>
          <p:cNvPr id="143" name="r144"/>
          <p:cNvSpPr/>
          <p:nvPr/>
        </p:nvSpPr>
        <p:spPr>
          <a:xfrm>
            <a:off x="5498431" y="2843784"/>
            <a:ext cx="27660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45" name="t146"/>
          <p:cNvSpPr txBox="1"/>
          <p:nvPr/>
        </p:nvSpPr>
        <p:spPr>
          <a:xfrm>
            <a:off x="5498431" y="2843784"/>
            <a:ext cx="2766060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Hypothyroidism</a:t>
            </a:r>
          </a:p>
        </p:txBody>
      </p:sp>
      <p:sp>
        <p:nvSpPr>
          <p:cNvPr id="147" name="r148"/>
          <p:cNvSpPr/>
          <p:nvPr/>
        </p:nvSpPr>
        <p:spPr>
          <a:xfrm>
            <a:off x="8264491" y="2843784"/>
            <a:ext cx="174698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49" name="t150"/>
          <p:cNvSpPr txBox="1"/>
          <p:nvPr/>
        </p:nvSpPr>
        <p:spPr>
          <a:xfrm>
            <a:off x="8264491" y="2843784"/>
            <a:ext cx="1746985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Angular SPA</a:t>
            </a:r>
          </a:p>
        </p:txBody>
      </p:sp>
      <p:sp>
        <p:nvSpPr>
          <p:cNvPr id="151" name="r152"/>
          <p:cNvSpPr/>
          <p:nvPr/>
        </p:nvSpPr>
        <p:spPr>
          <a:xfrm>
            <a:off x="10011476" y="2843784"/>
            <a:ext cx="1601403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53" name="t154"/>
          <p:cNvSpPr txBox="1"/>
          <p:nvPr/>
        </p:nvSpPr>
        <p:spPr>
          <a:xfrm>
            <a:off x="10011476" y="2843784"/>
            <a:ext cx="1601403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1">
                <a:solidFill>
                  <a:srgbClr val="C9962E"/>
                </a:solidFill>
                <a:latin typeface="Arial"/>
              </a:rPr>
              <a:t>Medium</a:t>
            </a:r>
          </a:p>
        </p:txBody>
      </p:sp>
      <p:sp>
        <p:nvSpPr>
          <p:cNvPr id="155" name="r156"/>
          <p:cNvSpPr/>
          <p:nvPr/>
        </p:nvSpPr>
        <p:spPr>
          <a:xfrm>
            <a:off x="548640" y="3282696"/>
            <a:ext cx="2183731" cy="438912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57" name="t158"/>
          <p:cNvSpPr txBox="1"/>
          <p:nvPr/>
        </p:nvSpPr>
        <p:spPr>
          <a:xfrm>
            <a:off x="548640" y="3282696"/>
            <a:ext cx="2183731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1">
                <a:solidFill>
                  <a:srgbClr val="2B2B2B"/>
                </a:solidFill>
                <a:latin typeface="Arial"/>
              </a:rPr>
              <a:t>hypothyroidhub.com</a:t>
            </a:r>
          </a:p>
        </p:txBody>
      </p:sp>
      <p:sp>
        <p:nvSpPr>
          <p:cNvPr id="159" name="r160"/>
          <p:cNvSpPr/>
          <p:nvPr/>
        </p:nvSpPr>
        <p:spPr>
          <a:xfrm>
            <a:off x="2732371" y="3282696"/>
            <a:ext cx="2766060" cy="438912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61" name="t162"/>
          <p:cNvSpPr txBox="1"/>
          <p:nvPr/>
        </p:nvSpPr>
        <p:spPr>
          <a:xfrm>
            <a:off x="2732371" y="3282696"/>
            <a:ext cx="2766060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HCP portal</a:t>
            </a:r>
          </a:p>
        </p:txBody>
      </p:sp>
      <p:sp>
        <p:nvSpPr>
          <p:cNvPr id="163" name="r164"/>
          <p:cNvSpPr/>
          <p:nvPr/>
        </p:nvSpPr>
        <p:spPr>
          <a:xfrm>
            <a:off x="5498431" y="3282696"/>
            <a:ext cx="2766060" cy="438912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65" name="t166"/>
          <p:cNvSpPr txBox="1"/>
          <p:nvPr/>
        </p:nvSpPr>
        <p:spPr>
          <a:xfrm>
            <a:off x="5498431" y="3282696"/>
            <a:ext cx="2766060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Hypothyroidism</a:t>
            </a:r>
          </a:p>
        </p:txBody>
      </p:sp>
      <p:sp>
        <p:nvSpPr>
          <p:cNvPr id="167" name="r168"/>
          <p:cNvSpPr/>
          <p:nvPr/>
        </p:nvSpPr>
        <p:spPr>
          <a:xfrm>
            <a:off x="8264491" y="3282696"/>
            <a:ext cx="1746985" cy="438912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69" name="t170"/>
          <p:cNvSpPr txBox="1"/>
          <p:nvPr/>
        </p:nvSpPr>
        <p:spPr>
          <a:xfrm>
            <a:off x="8264491" y="3282696"/>
            <a:ext cx="1746985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WAF-blocked</a:t>
            </a:r>
          </a:p>
        </p:txBody>
      </p:sp>
      <p:sp>
        <p:nvSpPr>
          <p:cNvPr id="171" name="r172"/>
          <p:cNvSpPr/>
          <p:nvPr/>
        </p:nvSpPr>
        <p:spPr>
          <a:xfrm>
            <a:off x="10011476" y="3282696"/>
            <a:ext cx="1601403" cy="438912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73" name="t174"/>
          <p:cNvSpPr txBox="1"/>
          <p:nvPr/>
        </p:nvSpPr>
        <p:spPr>
          <a:xfrm>
            <a:off x="10011476" y="3282696"/>
            <a:ext cx="1601403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1">
                <a:solidFill>
                  <a:srgbClr val="C9962E"/>
                </a:solidFill>
                <a:latin typeface="Arial"/>
              </a:rPr>
              <a:t>Med *</a:t>
            </a:r>
          </a:p>
        </p:txBody>
      </p:sp>
      <p:sp>
        <p:nvSpPr>
          <p:cNvPr id="175" name="r176"/>
          <p:cNvSpPr/>
          <p:nvPr/>
        </p:nvSpPr>
        <p:spPr>
          <a:xfrm>
            <a:off x="548640" y="3721608"/>
            <a:ext cx="2183731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77" name="t178"/>
          <p:cNvSpPr txBox="1"/>
          <p:nvPr/>
        </p:nvSpPr>
        <p:spPr>
          <a:xfrm>
            <a:off x="548640" y="3721608"/>
            <a:ext cx="2183731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1">
                <a:solidFill>
                  <a:srgbClr val="2B2B2B"/>
                </a:solidFill>
                <a:latin typeface="Arial"/>
              </a:rPr>
              <a:t>liletta.com</a:t>
            </a:r>
          </a:p>
        </p:txBody>
      </p:sp>
      <p:sp>
        <p:nvSpPr>
          <p:cNvPr id="179" name="r180"/>
          <p:cNvSpPr/>
          <p:nvPr/>
        </p:nvSpPr>
        <p:spPr>
          <a:xfrm>
            <a:off x="2732371" y="3721608"/>
            <a:ext cx="27660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81" name="t182"/>
          <p:cNvSpPr txBox="1"/>
          <p:nvPr/>
        </p:nvSpPr>
        <p:spPr>
          <a:xfrm>
            <a:off x="2732371" y="3721608"/>
            <a:ext cx="2766060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Patient</a:t>
            </a:r>
          </a:p>
        </p:txBody>
      </p:sp>
      <p:sp>
        <p:nvSpPr>
          <p:cNvPr id="183" name="r184"/>
          <p:cNvSpPr/>
          <p:nvPr/>
        </p:nvSpPr>
        <p:spPr>
          <a:xfrm>
            <a:off x="5498431" y="3721608"/>
            <a:ext cx="27660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85" name="t186"/>
          <p:cNvSpPr txBox="1"/>
          <p:nvPr/>
        </p:nvSpPr>
        <p:spPr>
          <a:xfrm>
            <a:off x="5498431" y="3721608"/>
            <a:ext cx="2766060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Contraception (IUD)</a:t>
            </a:r>
          </a:p>
        </p:txBody>
      </p:sp>
      <p:sp>
        <p:nvSpPr>
          <p:cNvPr id="187" name="r188"/>
          <p:cNvSpPr/>
          <p:nvPr/>
        </p:nvSpPr>
        <p:spPr>
          <a:xfrm>
            <a:off x="8264491" y="3721608"/>
            <a:ext cx="1746985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89" name="t190"/>
          <p:cNvSpPr txBox="1"/>
          <p:nvPr/>
        </p:nvSpPr>
        <p:spPr>
          <a:xfrm>
            <a:off x="8264491" y="3721608"/>
            <a:ext cx="1746985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Live HTML</a:t>
            </a:r>
          </a:p>
        </p:txBody>
      </p:sp>
      <p:sp>
        <p:nvSpPr>
          <p:cNvPr id="191" name="r192"/>
          <p:cNvSpPr/>
          <p:nvPr/>
        </p:nvSpPr>
        <p:spPr>
          <a:xfrm>
            <a:off x="10011476" y="3721608"/>
            <a:ext cx="1601403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93" name="t194"/>
          <p:cNvSpPr txBox="1"/>
          <p:nvPr/>
        </p:nvSpPr>
        <p:spPr>
          <a:xfrm>
            <a:off x="10011476" y="3721608"/>
            <a:ext cx="1601403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1">
                <a:solidFill>
                  <a:srgbClr val="E8553D"/>
                </a:solidFill>
                <a:latin typeface="Arial"/>
              </a:rPr>
              <a:t>High</a:t>
            </a:r>
          </a:p>
        </p:txBody>
      </p:sp>
      <p:sp>
        <p:nvSpPr>
          <p:cNvPr id="195" name="r196"/>
          <p:cNvSpPr/>
          <p:nvPr/>
        </p:nvSpPr>
        <p:spPr>
          <a:xfrm>
            <a:off x="548640" y="4160520"/>
            <a:ext cx="2183731" cy="438912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97" name="t198"/>
          <p:cNvSpPr txBox="1"/>
          <p:nvPr/>
        </p:nvSpPr>
        <p:spPr>
          <a:xfrm>
            <a:off x="548640" y="4160520"/>
            <a:ext cx="2183731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1">
                <a:solidFill>
                  <a:srgbClr val="2B2B2B"/>
                </a:solidFill>
                <a:latin typeface="Arial"/>
              </a:rPr>
              <a:t>lilettahcp.com</a:t>
            </a:r>
          </a:p>
        </p:txBody>
      </p:sp>
      <p:sp>
        <p:nvSpPr>
          <p:cNvPr id="199" name="r200"/>
          <p:cNvSpPr/>
          <p:nvPr/>
        </p:nvSpPr>
        <p:spPr>
          <a:xfrm>
            <a:off x="2732371" y="4160520"/>
            <a:ext cx="2766060" cy="438912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201" name="t202"/>
          <p:cNvSpPr txBox="1"/>
          <p:nvPr/>
        </p:nvSpPr>
        <p:spPr>
          <a:xfrm>
            <a:off x="2732371" y="4160520"/>
            <a:ext cx="2766060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HCP</a:t>
            </a:r>
          </a:p>
        </p:txBody>
      </p:sp>
      <p:sp>
        <p:nvSpPr>
          <p:cNvPr id="203" name="r204"/>
          <p:cNvSpPr/>
          <p:nvPr/>
        </p:nvSpPr>
        <p:spPr>
          <a:xfrm>
            <a:off x="5498431" y="4160520"/>
            <a:ext cx="2766060" cy="438912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205" name="t206"/>
          <p:cNvSpPr txBox="1"/>
          <p:nvPr/>
        </p:nvSpPr>
        <p:spPr>
          <a:xfrm>
            <a:off x="5498431" y="4160520"/>
            <a:ext cx="2766060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Contraception (IUD)</a:t>
            </a:r>
          </a:p>
        </p:txBody>
      </p:sp>
      <p:sp>
        <p:nvSpPr>
          <p:cNvPr id="207" name="r208"/>
          <p:cNvSpPr/>
          <p:nvPr/>
        </p:nvSpPr>
        <p:spPr>
          <a:xfrm>
            <a:off x="8264491" y="4160520"/>
            <a:ext cx="1746985" cy="438912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209" name="t210"/>
          <p:cNvSpPr txBox="1"/>
          <p:nvPr/>
        </p:nvSpPr>
        <p:spPr>
          <a:xfrm>
            <a:off x="8264491" y="4160520"/>
            <a:ext cx="1746985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Live HTML</a:t>
            </a:r>
          </a:p>
        </p:txBody>
      </p:sp>
      <p:sp>
        <p:nvSpPr>
          <p:cNvPr id="211" name="r212"/>
          <p:cNvSpPr/>
          <p:nvPr/>
        </p:nvSpPr>
        <p:spPr>
          <a:xfrm>
            <a:off x="10011476" y="4160520"/>
            <a:ext cx="1601403" cy="438912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213" name="t214"/>
          <p:cNvSpPr txBox="1"/>
          <p:nvPr/>
        </p:nvSpPr>
        <p:spPr>
          <a:xfrm>
            <a:off x="10011476" y="4160520"/>
            <a:ext cx="1601403" cy="438912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1">
                <a:solidFill>
                  <a:srgbClr val="C9962E"/>
                </a:solidFill>
                <a:latin typeface="Arial"/>
              </a:rPr>
              <a:t>Med–High</a:t>
            </a:r>
          </a:p>
        </p:txBody>
      </p:sp>
      <p:sp>
        <p:nvSpPr>
          <p:cNvPr id="215" name="t216"/>
          <p:cNvSpPr txBox="1"/>
          <p:nvPr/>
        </p:nvSpPr>
        <p:spPr>
          <a:xfrm>
            <a:off x="548640" y="5074920"/>
            <a:ext cx="10972800" cy="8229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120"/>
              </a:spcAft>
              <a:buNone/>
            </a:pPr>
            <a:r>
              <a:rPr lang="en-US" sz="1000" b="0">
                <a:solidFill>
                  <a:srgbClr val="5A5A5A"/>
                </a:solidFill>
                <a:latin typeface="Arial"/>
              </a:rPr>
              <a:t>* Highest discovery risk — site is WAF-blocked and scope (HCP portal / registration / interactive tools) is unconfirmed. A discovery spike precedes its estimate.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050" b="1">
                <a:solidFill>
                  <a:srgbClr val="071D49"/>
                </a:solidFill>
                <a:latin typeface="Arial"/>
              </a:rPr>
              <a:t>All six are AbbVie properties sharing a common technology stack (Adobe Launch, OneTrust, Bootstrap/jQuery, Adobe Typekit) — the basis for one shared design system.</a:t>
            </a:r>
          </a:p>
        </p:txBody>
      </p:sp>
      <p:sp>
        <p:nvSpPr>
          <p:cNvPr id="227" name="t228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5A5A5A"/>
                </a:solidFill>
                <a:latin typeface="Arial"/>
              </a:rPr>
              <a:t>AbbVie Pharma Portfolio → AEM Edge Delivery Services  |  Confidential – Client Proposal</a:t>
            </a:r>
          </a:p>
        </p:txBody>
      </p:sp>
      <p:sp>
        <p:nvSpPr>
          <p:cNvPr id="229" name="t230"/>
          <p:cNvSpPr txBox="1"/>
          <p:nvPr/>
        </p:nvSpPr>
        <p:spPr>
          <a:xfrm>
            <a:off x="10058400" y="5989320"/>
            <a:ext cx="173736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r">
              <a:spcAft>
                <a:spcPts val="0"/>
              </a:spcAft>
              <a:buNone/>
            </a:pPr>
            <a:r>
              <a:rPr lang="en-US" sz="1000" b="1">
                <a:solidFill>
                  <a:srgbClr val="071D49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r2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9" name="r220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71D49"/>
          </a:solidFill>
          <a:ln>
            <a:noFill/>
          </a:ln>
        </p:spPr>
        <p:txBody>
          <a:bodyPr/>
          <a:lstStyle/>
          <a:p/>
        </p:txBody>
      </p:sp>
      <p:sp>
        <p:nvSpPr>
          <p:cNvPr id="221" name="r222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223" name="t224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E8553D"/>
                </a:solidFill>
                <a:latin typeface="Arial"/>
              </a:rPr>
              <a:t>SCOPE</a:t>
            </a:r>
          </a:p>
        </p:txBody>
      </p:sp>
      <p:sp>
        <p:nvSpPr>
          <p:cNvPr id="225" name="t226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Arial"/>
              </a:rPr>
              <a:t>Portfolio at a Glance  ·  Wave 2 (twelve new sites)</a:t>
            </a:r>
          </a:p>
        </p:txBody>
      </p:sp>
      <p:sp>
        <p:nvSpPr>
          <p:cNvPr id="1001" name="r1001"/>
          <p:cNvSpPr/>
          <p:nvPr/>
        </p:nvSpPr>
        <p:spPr>
          <a:xfrm>
            <a:off x="548640" y="1470000"/>
            <a:ext cx="2183731" cy="330000"/>
          </a:xfrm>
          <a:prstGeom prst="rect">
            <a:avLst/>
          </a:prstGeom>
          <a:solidFill>
            <a:srgbClr val="071D49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02" name="t1002"/>
          <p:cNvSpPr txBox="1"/>
          <p:nvPr/>
        </p:nvSpPr>
        <p:spPr>
          <a:xfrm>
            <a:off x="548640" y="1470000"/>
            <a:ext cx="2183731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FFFFFF"/>
                </a:solidFill>
                <a:latin typeface="Arial"/>
              </a:rPr>
              <a:t>Site</a:t>
            </a:r>
          </a:p>
        </p:txBody>
      </p:sp>
      <p:sp>
        <p:nvSpPr>
          <p:cNvPr id="1003" name="r1003"/>
          <p:cNvSpPr/>
          <p:nvPr/>
        </p:nvSpPr>
        <p:spPr>
          <a:xfrm>
            <a:off x="2732371" y="1470000"/>
            <a:ext cx="2766060" cy="330000"/>
          </a:xfrm>
          <a:prstGeom prst="rect">
            <a:avLst/>
          </a:prstGeom>
          <a:solidFill>
            <a:srgbClr val="071D49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04" name="t1004"/>
          <p:cNvSpPr txBox="1"/>
          <p:nvPr/>
        </p:nvSpPr>
        <p:spPr>
          <a:xfrm>
            <a:off x="2732371" y="1470000"/>
            <a:ext cx="2766060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FFFFFF"/>
                </a:solidFill>
                <a:latin typeface="Arial"/>
              </a:rPr>
              <a:t>Audience</a:t>
            </a:r>
          </a:p>
        </p:txBody>
      </p:sp>
      <p:sp>
        <p:nvSpPr>
          <p:cNvPr id="1005" name="r1005"/>
          <p:cNvSpPr/>
          <p:nvPr/>
        </p:nvSpPr>
        <p:spPr>
          <a:xfrm>
            <a:off x="5498431" y="1470000"/>
            <a:ext cx="2766060" cy="330000"/>
          </a:xfrm>
          <a:prstGeom prst="rect">
            <a:avLst/>
          </a:prstGeom>
          <a:solidFill>
            <a:srgbClr val="071D49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06" name="t1006"/>
          <p:cNvSpPr txBox="1"/>
          <p:nvPr/>
        </p:nvSpPr>
        <p:spPr>
          <a:xfrm>
            <a:off x="5498431" y="1470000"/>
            <a:ext cx="2766060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FFFFFF"/>
                </a:solidFill>
                <a:latin typeface="Arial"/>
              </a:rPr>
              <a:t>Therapeutic area</a:t>
            </a:r>
          </a:p>
        </p:txBody>
      </p:sp>
      <p:sp>
        <p:nvSpPr>
          <p:cNvPr id="1007" name="r1007"/>
          <p:cNvSpPr/>
          <p:nvPr/>
        </p:nvSpPr>
        <p:spPr>
          <a:xfrm>
            <a:off x="8264491" y="1470000"/>
            <a:ext cx="1746985" cy="330000"/>
          </a:xfrm>
          <a:prstGeom prst="rect">
            <a:avLst/>
          </a:prstGeom>
          <a:solidFill>
            <a:srgbClr val="071D49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08" name="t1008"/>
          <p:cNvSpPr txBox="1"/>
          <p:nvPr/>
        </p:nvSpPr>
        <p:spPr>
          <a:xfrm>
            <a:off x="8264491" y="1470000"/>
            <a:ext cx="1746985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FFFFFF"/>
                </a:solidFill>
                <a:latin typeface="Arial"/>
              </a:rPr>
              <a:t>Source state</a:t>
            </a:r>
          </a:p>
        </p:txBody>
      </p:sp>
      <p:sp>
        <p:nvSpPr>
          <p:cNvPr id="1009" name="r1009"/>
          <p:cNvSpPr/>
          <p:nvPr/>
        </p:nvSpPr>
        <p:spPr>
          <a:xfrm>
            <a:off x="10011476" y="1470000"/>
            <a:ext cx="1601403" cy="330000"/>
          </a:xfrm>
          <a:prstGeom prst="rect">
            <a:avLst/>
          </a:prstGeom>
          <a:solidFill>
            <a:srgbClr val="071D49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10" name="t1010"/>
          <p:cNvSpPr txBox="1"/>
          <p:nvPr/>
        </p:nvSpPr>
        <p:spPr>
          <a:xfrm>
            <a:off x="10011476" y="1470000"/>
            <a:ext cx="1601403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FFFFFF"/>
                </a:solidFill>
                <a:latin typeface="Arial"/>
              </a:rPr>
              <a:t>Complexity</a:t>
            </a:r>
          </a:p>
        </p:txBody>
      </p:sp>
      <p:sp>
        <p:nvSpPr>
          <p:cNvPr id="1011" name="r1011"/>
          <p:cNvSpPr/>
          <p:nvPr/>
        </p:nvSpPr>
        <p:spPr>
          <a:xfrm>
            <a:off x="548640" y="1800000"/>
            <a:ext cx="2183731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12" name="t1012"/>
          <p:cNvSpPr txBox="1"/>
          <p:nvPr/>
        </p:nvSpPr>
        <p:spPr>
          <a:xfrm>
            <a:off x="548640" y="1800000"/>
            <a:ext cx="2183731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viberzihcp.com</a:t>
            </a:r>
          </a:p>
        </p:txBody>
      </p:sp>
      <p:sp>
        <p:nvSpPr>
          <p:cNvPr id="1013" name="r1013"/>
          <p:cNvSpPr/>
          <p:nvPr/>
        </p:nvSpPr>
        <p:spPr>
          <a:xfrm>
            <a:off x="2732371" y="1800000"/>
            <a:ext cx="2766060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14" name="t1014"/>
          <p:cNvSpPr txBox="1"/>
          <p:nvPr/>
        </p:nvSpPr>
        <p:spPr>
          <a:xfrm>
            <a:off x="2732371" y="1800000"/>
            <a:ext cx="2766060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HCP</a:t>
            </a:r>
          </a:p>
        </p:txBody>
      </p:sp>
      <p:sp>
        <p:nvSpPr>
          <p:cNvPr id="1015" name="r1015"/>
          <p:cNvSpPr/>
          <p:nvPr/>
        </p:nvSpPr>
        <p:spPr>
          <a:xfrm>
            <a:off x="5498431" y="1800000"/>
            <a:ext cx="2766060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16" name="t1016"/>
          <p:cNvSpPr txBox="1"/>
          <p:nvPr/>
        </p:nvSpPr>
        <p:spPr>
          <a:xfrm>
            <a:off x="5498431" y="1800000"/>
            <a:ext cx="2766060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IBS-D (eluxadoline)</a:t>
            </a:r>
          </a:p>
        </p:txBody>
      </p:sp>
      <p:sp>
        <p:nvSpPr>
          <p:cNvPr id="1017" name="r1017"/>
          <p:cNvSpPr/>
          <p:nvPr/>
        </p:nvSpPr>
        <p:spPr>
          <a:xfrm>
            <a:off x="8264491" y="1800000"/>
            <a:ext cx="1746985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18" name="t1018"/>
          <p:cNvSpPr txBox="1"/>
          <p:nvPr/>
        </p:nvSpPr>
        <p:spPr>
          <a:xfrm>
            <a:off x="8264491" y="1800000"/>
            <a:ext cx="1746985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Not fetchable</a:t>
            </a:r>
          </a:p>
        </p:txBody>
      </p:sp>
      <p:sp>
        <p:nvSpPr>
          <p:cNvPr id="1019" name="r1019"/>
          <p:cNvSpPr/>
          <p:nvPr/>
        </p:nvSpPr>
        <p:spPr>
          <a:xfrm>
            <a:off x="10011476" y="1800000"/>
            <a:ext cx="1601403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20" name="t1020"/>
          <p:cNvSpPr txBox="1"/>
          <p:nvPr/>
        </p:nvSpPr>
        <p:spPr>
          <a:xfrm>
            <a:off x="10011476" y="1800000"/>
            <a:ext cx="1601403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C9962E"/>
                </a:solidFill>
                <a:latin typeface="Arial"/>
              </a:rPr>
              <a:t>Med–High</a:t>
            </a:r>
          </a:p>
        </p:txBody>
      </p:sp>
      <p:sp>
        <p:nvSpPr>
          <p:cNvPr id="1021" name="r1021"/>
          <p:cNvSpPr/>
          <p:nvPr/>
        </p:nvSpPr>
        <p:spPr>
          <a:xfrm>
            <a:off x="548640" y="2130000"/>
            <a:ext cx="2183731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22" name="t1022"/>
          <p:cNvSpPr txBox="1"/>
          <p:nvPr/>
        </p:nvSpPr>
        <p:spPr>
          <a:xfrm>
            <a:off x="548640" y="2130000"/>
            <a:ext cx="2183731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teflaro.com</a:t>
            </a:r>
          </a:p>
        </p:txBody>
      </p:sp>
      <p:sp>
        <p:nvSpPr>
          <p:cNvPr id="1023" name="r1023"/>
          <p:cNvSpPr/>
          <p:nvPr/>
        </p:nvSpPr>
        <p:spPr>
          <a:xfrm>
            <a:off x="2732371" y="2130000"/>
            <a:ext cx="2766060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24" name="t1024"/>
          <p:cNvSpPr txBox="1"/>
          <p:nvPr/>
        </p:nvSpPr>
        <p:spPr>
          <a:xfrm>
            <a:off x="2732371" y="2130000"/>
            <a:ext cx="2766060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HCP</a:t>
            </a:r>
          </a:p>
        </p:txBody>
      </p:sp>
      <p:sp>
        <p:nvSpPr>
          <p:cNvPr id="1025" name="r1025"/>
          <p:cNvSpPr/>
          <p:nvPr/>
        </p:nvSpPr>
        <p:spPr>
          <a:xfrm>
            <a:off x="5498431" y="2130000"/>
            <a:ext cx="2766060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26" name="t1026"/>
          <p:cNvSpPr txBox="1"/>
          <p:nvPr/>
        </p:nvSpPr>
        <p:spPr>
          <a:xfrm>
            <a:off x="5498431" y="2130000"/>
            <a:ext cx="2766060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IV antibiotic</a:t>
            </a:r>
          </a:p>
        </p:txBody>
      </p:sp>
      <p:sp>
        <p:nvSpPr>
          <p:cNvPr id="1027" name="r1027"/>
          <p:cNvSpPr/>
          <p:nvPr/>
        </p:nvSpPr>
        <p:spPr>
          <a:xfrm>
            <a:off x="8264491" y="2130000"/>
            <a:ext cx="1746985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28" name="t1028"/>
          <p:cNvSpPr txBox="1"/>
          <p:nvPr/>
        </p:nvSpPr>
        <p:spPr>
          <a:xfrm>
            <a:off x="8264491" y="2130000"/>
            <a:ext cx="1746985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Not fetchable</a:t>
            </a:r>
          </a:p>
        </p:txBody>
      </p:sp>
      <p:sp>
        <p:nvSpPr>
          <p:cNvPr id="1029" name="r1029"/>
          <p:cNvSpPr/>
          <p:nvPr/>
        </p:nvSpPr>
        <p:spPr>
          <a:xfrm>
            <a:off x="10011476" y="2130000"/>
            <a:ext cx="1601403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30" name="t1030"/>
          <p:cNvSpPr txBox="1"/>
          <p:nvPr/>
        </p:nvSpPr>
        <p:spPr>
          <a:xfrm>
            <a:off x="10011476" y="2130000"/>
            <a:ext cx="1601403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C9962E"/>
                </a:solidFill>
                <a:latin typeface="Arial"/>
              </a:rPr>
              <a:t>Med–High</a:t>
            </a:r>
          </a:p>
        </p:txBody>
      </p:sp>
      <p:sp>
        <p:nvSpPr>
          <p:cNvPr id="1031" name="r1031"/>
          <p:cNvSpPr/>
          <p:nvPr/>
        </p:nvSpPr>
        <p:spPr>
          <a:xfrm>
            <a:off x="548640" y="2460000"/>
            <a:ext cx="2183731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32" name="t1032"/>
          <p:cNvSpPr txBox="1"/>
          <p:nvPr/>
        </p:nvSpPr>
        <p:spPr>
          <a:xfrm>
            <a:off x="548640" y="2460000"/>
            <a:ext cx="2183731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xengelstent.com</a:t>
            </a:r>
          </a:p>
        </p:txBody>
      </p:sp>
      <p:sp>
        <p:nvSpPr>
          <p:cNvPr id="1033" name="r1033"/>
          <p:cNvSpPr/>
          <p:nvPr/>
        </p:nvSpPr>
        <p:spPr>
          <a:xfrm>
            <a:off x="2732371" y="2460000"/>
            <a:ext cx="2766060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34" name="t1034"/>
          <p:cNvSpPr txBox="1"/>
          <p:nvPr/>
        </p:nvSpPr>
        <p:spPr>
          <a:xfrm>
            <a:off x="2732371" y="2460000"/>
            <a:ext cx="2766060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Patient</a:t>
            </a:r>
          </a:p>
        </p:txBody>
      </p:sp>
      <p:sp>
        <p:nvSpPr>
          <p:cNvPr id="1035" name="r1035"/>
          <p:cNvSpPr/>
          <p:nvPr/>
        </p:nvSpPr>
        <p:spPr>
          <a:xfrm>
            <a:off x="5498431" y="2460000"/>
            <a:ext cx="2766060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36" name="t1036"/>
          <p:cNvSpPr txBox="1"/>
          <p:nvPr/>
        </p:nvSpPr>
        <p:spPr>
          <a:xfrm>
            <a:off x="5498431" y="2460000"/>
            <a:ext cx="2766060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Glaucoma device (MIGS)</a:t>
            </a:r>
          </a:p>
        </p:txBody>
      </p:sp>
      <p:sp>
        <p:nvSpPr>
          <p:cNvPr id="1037" name="r1037"/>
          <p:cNvSpPr/>
          <p:nvPr/>
        </p:nvSpPr>
        <p:spPr>
          <a:xfrm>
            <a:off x="8264491" y="2460000"/>
            <a:ext cx="1746985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38" name="t1038"/>
          <p:cNvSpPr txBox="1"/>
          <p:nvPr/>
        </p:nvSpPr>
        <p:spPr>
          <a:xfrm>
            <a:off x="8264491" y="2460000"/>
            <a:ext cx="1746985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Not fetchable</a:t>
            </a:r>
          </a:p>
        </p:txBody>
      </p:sp>
      <p:sp>
        <p:nvSpPr>
          <p:cNvPr id="1039" name="r1039"/>
          <p:cNvSpPr/>
          <p:nvPr/>
        </p:nvSpPr>
        <p:spPr>
          <a:xfrm>
            <a:off x="10011476" y="2460000"/>
            <a:ext cx="1601403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40" name="t1040"/>
          <p:cNvSpPr txBox="1"/>
          <p:nvPr/>
        </p:nvSpPr>
        <p:spPr>
          <a:xfrm>
            <a:off x="10011476" y="2460000"/>
            <a:ext cx="1601403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3F8F6B"/>
                </a:solidFill>
                <a:latin typeface="Arial"/>
              </a:rPr>
              <a:t>Low–Med</a:t>
            </a:r>
          </a:p>
        </p:txBody>
      </p:sp>
      <p:sp>
        <p:nvSpPr>
          <p:cNvPr id="1041" name="r1041"/>
          <p:cNvSpPr/>
          <p:nvPr/>
        </p:nvSpPr>
        <p:spPr>
          <a:xfrm>
            <a:off x="548640" y="2790000"/>
            <a:ext cx="2183731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42" name="t1042"/>
          <p:cNvSpPr txBox="1"/>
          <p:nvPr/>
        </p:nvSpPr>
        <p:spPr>
          <a:xfrm>
            <a:off x="548640" y="2790000"/>
            <a:ext cx="2183731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myglaucoma.com</a:t>
            </a:r>
          </a:p>
        </p:txBody>
      </p:sp>
      <p:sp>
        <p:nvSpPr>
          <p:cNvPr id="1043" name="r1043"/>
          <p:cNvSpPr/>
          <p:nvPr/>
        </p:nvSpPr>
        <p:spPr>
          <a:xfrm>
            <a:off x="2732371" y="2790000"/>
            <a:ext cx="2766060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44" name="t1044"/>
          <p:cNvSpPr txBox="1"/>
          <p:nvPr/>
        </p:nvSpPr>
        <p:spPr>
          <a:xfrm>
            <a:off x="2732371" y="2790000"/>
            <a:ext cx="2766060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Patient (unbranded)</a:t>
            </a:r>
          </a:p>
        </p:txBody>
      </p:sp>
      <p:sp>
        <p:nvSpPr>
          <p:cNvPr id="1045" name="r1045"/>
          <p:cNvSpPr/>
          <p:nvPr/>
        </p:nvSpPr>
        <p:spPr>
          <a:xfrm>
            <a:off x="5498431" y="2790000"/>
            <a:ext cx="2766060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46" name="t1046"/>
          <p:cNvSpPr txBox="1"/>
          <p:nvPr/>
        </p:nvSpPr>
        <p:spPr>
          <a:xfrm>
            <a:off x="5498431" y="2790000"/>
            <a:ext cx="2766060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Glaucoma awareness</a:t>
            </a:r>
          </a:p>
        </p:txBody>
      </p:sp>
      <p:sp>
        <p:nvSpPr>
          <p:cNvPr id="1047" name="r1047"/>
          <p:cNvSpPr/>
          <p:nvPr/>
        </p:nvSpPr>
        <p:spPr>
          <a:xfrm>
            <a:off x="8264491" y="2790000"/>
            <a:ext cx="1746985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48" name="t1048"/>
          <p:cNvSpPr txBox="1"/>
          <p:nvPr/>
        </p:nvSpPr>
        <p:spPr>
          <a:xfrm>
            <a:off x="8264491" y="2790000"/>
            <a:ext cx="1746985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ASP.NET</a:t>
            </a:r>
          </a:p>
        </p:txBody>
      </p:sp>
      <p:sp>
        <p:nvSpPr>
          <p:cNvPr id="1049" name="r1049"/>
          <p:cNvSpPr/>
          <p:nvPr/>
        </p:nvSpPr>
        <p:spPr>
          <a:xfrm>
            <a:off x="10011476" y="2790000"/>
            <a:ext cx="1601403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50" name="t1050"/>
          <p:cNvSpPr txBox="1"/>
          <p:nvPr/>
        </p:nvSpPr>
        <p:spPr>
          <a:xfrm>
            <a:off x="10011476" y="2790000"/>
            <a:ext cx="1601403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C9962E"/>
                </a:solidFill>
                <a:latin typeface="Arial"/>
              </a:rPr>
              <a:t>Medium</a:t>
            </a:r>
          </a:p>
        </p:txBody>
      </p:sp>
      <p:sp>
        <p:nvSpPr>
          <p:cNvPr id="1051" name="r1051"/>
          <p:cNvSpPr/>
          <p:nvPr/>
        </p:nvSpPr>
        <p:spPr>
          <a:xfrm>
            <a:off x="548640" y="3120000"/>
            <a:ext cx="2183731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52" name="t1052"/>
          <p:cNvSpPr txBox="1"/>
          <p:nvPr/>
        </p:nvSpPr>
        <p:spPr>
          <a:xfrm>
            <a:off x="548640" y="3120000"/>
            <a:ext cx="2183731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restasis.com</a:t>
            </a:r>
          </a:p>
        </p:txBody>
      </p:sp>
      <p:sp>
        <p:nvSpPr>
          <p:cNvPr id="1053" name="r1053"/>
          <p:cNvSpPr/>
          <p:nvPr/>
        </p:nvSpPr>
        <p:spPr>
          <a:xfrm>
            <a:off x="2732371" y="3120000"/>
            <a:ext cx="2766060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54" name="t1054"/>
          <p:cNvSpPr txBox="1"/>
          <p:nvPr/>
        </p:nvSpPr>
        <p:spPr>
          <a:xfrm>
            <a:off x="2732371" y="3120000"/>
            <a:ext cx="2766060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Patient</a:t>
            </a:r>
          </a:p>
        </p:txBody>
      </p:sp>
      <p:sp>
        <p:nvSpPr>
          <p:cNvPr id="1055" name="r1055"/>
          <p:cNvSpPr/>
          <p:nvPr/>
        </p:nvSpPr>
        <p:spPr>
          <a:xfrm>
            <a:off x="5498431" y="3120000"/>
            <a:ext cx="2766060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56" name="t1056"/>
          <p:cNvSpPr txBox="1"/>
          <p:nvPr/>
        </p:nvSpPr>
        <p:spPr>
          <a:xfrm>
            <a:off x="5498431" y="3120000"/>
            <a:ext cx="2766060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Chronic dry eye</a:t>
            </a:r>
          </a:p>
        </p:txBody>
      </p:sp>
      <p:sp>
        <p:nvSpPr>
          <p:cNvPr id="1057" name="r1057"/>
          <p:cNvSpPr/>
          <p:nvPr/>
        </p:nvSpPr>
        <p:spPr>
          <a:xfrm>
            <a:off x="8264491" y="3120000"/>
            <a:ext cx="1746985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58" name="t1058"/>
          <p:cNvSpPr txBox="1"/>
          <p:nvPr/>
        </p:nvSpPr>
        <p:spPr>
          <a:xfrm>
            <a:off x="8264491" y="3120000"/>
            <a:ext cx="1746985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Not fetchable</a:t>
            </a:r>
          </a:p>
        </p:txBody>
      </p:sp>
      <p:sp>
        <p:nvSpPr>
          <p:cNvPr id="1059" name="r1059"/>
          <p:cNvSpPr/>
          <p:nvPr/>
        </p:nvSpPr>
        <p:spPr>
          <a:xfrm>
            <a:off x="10011476" y="3120000"/>
            <a:ext cx="1601403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60" name="t1060"/>
          <p:cNvSpPr txBox="1"/>
          <p:nvPr/>
        </p:nvSpPr>
        <p:spPr>
          <a:xfrm>
            <a:off x="10011476" y="3120000"/>
            <a:ext cx="1601403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C9962E"/>
                </a:solidFill>
                <a:latin typeface="Arial"/>
              </a:rPr>
              <a:t>Medium</a:t>
            </a:r>
          </a:p>
        </p:txBody>
      </p:sp>
      <p:sp>
        <p:nvSpPr>
          <p:cNvPr id="1061" name="r1061"/>
          <p:cNvSpPr/>
          <p:nvPr/>
        </p:nvSpPr>
        <p:spPr>
          <a:xfrm>
            <a:off x="548640" y="3450000"/>
            <a:ext cx="2183731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62" name="t1062"/>
          <p:cNvSpPr txBox="1"/>
          <p:nvPr/>
        </p:nvSpPr>
        <p:spPr>
          <a:xfrm>
            <a:off x="548640" y="3450000"/>
            <a:ext cx="2183731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bystolic.com</a:t>
            </a:r>
          </a:p>
        </p:txBody>
      </p:sp>
      <p:sp>
        <p:nvSpPr>
          <p:cNvPr id="1063" name="r1063"/>
          <p:cNvSpPr/>
          <p:nvPr/>
        </p:nvSpPr>
        <p:spPr>
          <a:xfrm>
            <a:off x="2732371" y="3450000"/>
            <a:ext cx="2766060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64" name="t1064"/>
          <p:cNvSpPr txBox="1"/>
          <p:nvPr/>
        </p:nvSpPr>
        <p:spPr>
          <a:xfrm>
            <a:off x="2732371" y="3450000"/>
            <a:ext cx="2766060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Patient</a:t>
            </a:r>
          </a:p>
        </p:txBody>
      </p:sp>
      <p:sp>
        <p:nvSpPr>
          <p:cNvPr id="1065" name="r1065"/>
          <p:cNvSpPr/>
          <p:nvPr/>
        </p:nvSpPr>
        <p:spPr>
          <a:xfrm>
            <a:off x="5498431" y="3450000"/>
            <a:ext cx="2766060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66" name="t1066"/>
          <p:cNvSpPr txBox="1"/>
          <p:nvPr/>
        </p:nvSpPr>
        <p:spPr>
          <a:xfrm>
            <a:off x="5498431" y="3450000"/>
            <a:ext cx="2766060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Hypertension</a:t>
            </a:r>
          </a:p>
        </p:txBody>
      </p:sp>
      <p:sp>
        <p:nvSpPr>
          <p:cNvPr id="1067" name="r1067"/>
          <p:cNvSpPr/>
          <p:nvPr/>
        </p:nvSpPr>
        <p:spPr>
          <a:xfrm>
            <a:off x="8264491" y="3450000"/>
            <a:ext cx="1746985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68" name="t1068"/>
          <p:cNvSpPr txBox="1"/>
          <p:nvPr/>
        </p:nvSpPr>
        <p:spPr>
          <a:xfrm>
            <a:off x="8264491" y="3450000"/>
            <a:ext cx="1746985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Server HTML</a:t>
            </a:r>
          </a:p>
        </p:txBody>
      </p:sp>
      <p:sp>
        <p:nvSpPr>
          <p:cNvPr id="1069" name="r1069"/>
          <p:cNvSpPr/>
          <p:nvPr/>
        </p:nvSpPr>
        <p:spPr>
          <a:xfrm>
            <a:off x="10011476" y="3450000"/>
            <a:ext cx="1601403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70" name="t1070"/>
          <p:cNvSpPr txBox="1"/>
          <p:nvPr/>
        </p:nvSpPr>
        <p:spPr>
          <a:xfrm>
            <a:off x="10011476" y="3450000"/>
            <a:ext cx="1601403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3F8F6B"/>
                </a:solidFill>
                <a:latin typeface="Arial"/>
              </a:rPr>
              <a:t>Low–Med</a:t>
            </a:r>
          </a:p>
        </p:txBody>
      </p:sp>
      <p:sp>
        <p:nvSpPr>
          <p:cNvPr id="1071" name="r1071"/>
          <p:cNvSpPr/>
          <p:nvPr/>
        </p:nvSpPr>
        <p:spPr>
          <a:xfrm>
            <a:off x="548640" y="3780000"/>
            <a:ext cx="2183731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72" name="t1072"/>
          <p:cNvSpPr txBox="1"/>
          <p:nvPr/>
        </p:nvSpPr>
        <p:spPr>
          <a:xfrm>
            <a:off x="548640" y="3780000"/>
            <a:ext cx="2183731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viibryd.com</a:t>
            </a:r>
          </a:p>
        </p:txBody>
      </p:sp>
      <p:sp>
        <p:nvSpPr>
          <p:cNvPr id="1073" name="r1073"/>
          <p:cNvSpPr/>
          <p:nvPr/>
        </p:nvSpPr>
        <p:spPr>
          <a:xfrm>
            <a:off x="2732371" y="3780000"/>
            <a:ext cx="2766060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74" name="t1074"/>
          <p:cNvSpPr txBox="1"/>
          <p:nvPr/>
        </p:nvSpPr>
        <p:spPr>
          <a:xfrm>
            <a:off x="2732371" y="3780000"/>
            <a:ext cx="2766060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Patient</a:t>
            </a:r>
          </a:p>
        </p:txBody>
      </p:sp>
      <p:sp>
        <p:nvSpPr>
          <p:cNvPr id="1075" name="r1075"/>
          <p:cNvSpPr/>
          <p:nvPr/>
        </p:nvSpPr>
        <p:spPr>
          <a:xfrm>
            <a:off x="5498431" y="3780000"/>
            <a:ext cx="2766060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76" name="t1076"/>
          <p:cNvSpPr txBox="1"/>
          <p:nvPr/>
        </p:nvSpPr>
        <p:spPr>
          <a:xfrm>
            <a:off x="5498431" y="3780000"/>
            <a:ext cx="2766060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MDD (boxed warning)</a:t>
            </a:r>
          </a:p>
        </p:txBody>
      </p:sp>
      <p:sp>
        <p:nvSpPr>
          <p:cNvPr id="1077" name="r1077"/>
          <p:cNvSpPr/>
          <p:nvPr/>
        </p:nvSpPr>
        <p:spPr>
          <a:xfrm>
            <a:off x="8264491" y="3780000"/>
            <a:ext cx="1746985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78" name="t1078"/>
          <p:cNvSpPr txBox="1"/>
          <p:nvPr/>
        </p:nvSpPr>
        <p:spPr>
          <a:xfrm>
            <a:off x="8264491" y="3780000"/>
            <a:ext cx="1746985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Legacy .aspx</a:t>
            </a:r>
          </a:p>
        </p:txBody>
      </p:sp>
      <p:sp>
        <p:nvSpPr>
          <p:cNvPr id="1079" name="r1079"/>
          <p:cNvSpPr/>
          <p:nvPr/>
        </p:nvSpPr>
        <p:spPr>
          <a:xfrm>
            <a:off x="10011476" y="3780000"/>
            <a:ext cx="1601403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80" name="t1080"/>
          <p:cNvSpPr txBox="1"/>
          <p:nvPr/>
        </p:nvSpPr>
        <p:spPr>
          <a:xfrm>
            <a:off x="10011476" y="3780000"/>
            <a:ext cx="1601403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3F8F6B"/>
                </a:solidFill>
                <a:latin typeface="Arial"/>
              </a:rPr>
              <a:t>Low–Med</a:t>
            </a:r>
          </a:p>
        </p:txBody>
      </p:sp>
      <p:sp>
        <p:nvSpPr>
          <p:cNvPr id="1081" name="r1081"/>
          <p:cNvSpPr/>
          <p:nvPr/>
        </p:nvSpPr>
        <p:spPr>
          <a:xfrm>
            <a:off x="548640" y="4110000"/>
            <a:ext cx="2183731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82" name="t1082"/>
          <p:cNvSpPr txBox="1"/>
          <p:nvPr/>
        </p:nvSpPr>
        <p:spPr>
          <a:xfrm>
            <a:off x="548640" y="4110000"/>
            <a:ext cx="2183731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infedlocator.com</a:t>
            </a:r>
          </a:p>
        </p:txBody>
      </p:sp>
      <p:sp>
        <p:nvSpPr>
          <p:cNvPr id="1083" name="r1083"/>
          <p:cNvSpPr/>
          <p:nvPr/>
        </p:nvSpPr>
        <p:spPr>
          <a:xfrm>
            <a:off x="2732371" y="4110000"/>
            <a:ext cx="2766060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84" name="t1084"/>
          <p:cNvSpPr txBox="1"/>
          <p:nvPr/>
        </p:nvSpPr>
        <p:spPr>
          <a:xfrm>
            <a:off x="2732371" y="4110000"/>
            <a:ext cx="2766060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HCP</a:t>
            </a:r>
          </a:p>
        </p:txBody>
      </p:sp>
      <p:sp>
        <p:nvSpPr>
          <p:cNvPr id="1085" name="r1085"/>
          <p:cNvSpPr/>
          <p:nvPr/>
        </p:nvSpPr>
        <p:spPr>
          <a:xfrm>
            <a:off x="5498431" y="4110000"/>
            <a:ext cx="2766060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86" name="t1086"/>
          <p:cNvSpPr txBox="1"/>
          <p:nvPr/>
        </p:nvSpPr>
        <p:spPr>
          <a:xfrm>
            <a:off x="5498431" y="4110000"/>
            <a:ext cx="2766060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IV iron locator</a:t>
            </a:r>
          </a:p>
        </p:txBody>
      </p:sp>
      <p:sp>
        <p:nvSpPr>
          <p:cNvPr id="1087" name="r1087"/>
          <p:cNvSpPr/>
          <p:nvPr/>
        </p:nvSpPr>
        <p:spPr>
          <a:xfrm>
            <a:off x="8264491" y="4110000"/>
            <a:ext cx="1746985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88" name="t1088"/>
          <p:cNvSpPr txBox="1"/>
          <p:nvPr/>
        </p:nvSpPr>
        <p:spPr>
          <a:xfrm>
            <a:off x="8264491" y="4110000"/>
            <a:ext cx="1746985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JS map app</a:t>
            </a:r>
          </a:p>
        </p:txBody>
      </p:sp>
      <p:sp>
        <p:nvSpPr>
          <p:cNvPr id="1089" name="r1089"/>
          <p:cNvSpPr/>
          <p:nvPr/>
        </p:nvSpPr>
        <p:spPr>
          <a:xfrm>
            <a:off x="10011476" y="4110000"/>
            <a:ext cx="1601403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90" name="t1090"/>
          <p:cNvSpPr txBox="1"/>
          <p:nvPr/>
        </p:nvSpPr>
        <p:spPr>
          <a:xfrm>
            <a:off x="10011476" y="4110000"/>
            <a:ext cx="1601403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C9962E"/>
                </a:solidFill>
                <a:latin typeface="Arial"/>
              </a:rPr>
              <a:t>Med–High</a:t>
            </a:r>
          </a:p>
        </p:txBody>
      </p:sp>
      <p:sp>
        <p:nvSpPr>
          <p:cNvPr id="1091" name="r1091"/>
          <p:cNvSpPr/>
          <p:nvPr/>
        </p:nvSpPr>
        <p:spPr>
          <a:xfrm>
            <a:off x="548640" y="4440000"/>
            <a:ext cx="2183731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92" name="t1092"/>
          <p:cNvSpPr txBox="1"/>
          <p:nvPr/>
        </p:nvSpPr>
        <p:spPr>
          <a:xfrm>
            <a:off x="548640" y="4440000"/>
            <a:ext cx="2183731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depakotehcp.com</a:t>
            </a:r>
          </a:p>
        </p:txBody>
      </p:sp>
      <p:sp>
        <p:nvSpPr>
          <p:cNvPr id="1093" name="r1093"/>
          <p:cNvSpPr/>
          <p:nvPr/>
        </p:nvSpPr>
        <p:spPr>
          <a:xfrm>
            <a:off x="2732371" y="4440000"/>
            <a:ext cx="2766060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94" name="t1094"/>
          <p:cNvSpPr txBox="1"/>
          <p:nvPr/>
        </p:nvSpPr>
        <p:spPr>
          <a:xfrm>
            <a:off x="2732371" y="4440000"/>
            <a:ext cx="2766060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HCP</a:t>
            </a:r>
          </a:p>
        </p:txBody>
      </p:sp>
      <p:sp>
        <p:nvSpPr>
          <p:cNvPr id="1095" name="r1095"/>
          <p:cNvSpPr/>
          <p:nvPr/>
        </p:nvSpPr>
        <p:spPr>
          <a:xfrm>
            <a:off x="5498431" y="4440000"/>
            <a:ext cx="2766060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96" name="t1096"/>
          <p:cNvSpPr txBox="1"/>
          <p:nvPr/>
        </p:nvSpPr>
        <p:spPr>
          <a:xfrm>
            <a:off x="5498431" y="4440000"/>
            <a:ext cx="2766060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Multi-indication (boxed)</a:t>
            </a:r>
          </a:p>
        </p:txBody>
      </p:sp>
      <p:sp>
        <p:nvSpPr>
          <p:cNvPr id="1097" name="r1097"/>
          <p:cNvSpPr/>
          <p:nvPr/>
        </p:nvSpPr>
        <p:spPr>
          <a:xfrm>
            <a:off x="8264491" y="4440000"/>
            <a:ext cx="1746985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098" name="t1098"/>
          <p:cNvSpPr txBox="1"/>
          <p:nvPr/>
        </p:nvSpPr>
        <p:spPr>
          <a:xfrm>
            <a:off x="8264491" y="4440000"/>
            <a:ext cx="1746985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Not fetchable</a:t>
            </a:r>
          </a:p>
        </p:txBody>
      </p:sp>
      <p:sp>
        <p:nvSpPr>
          <p:cNvPr id="1099" name="r1099"/>
          <p:cNvSpPr/>
          <p:nvPr/>
        </p:nvSpPr>
        <p:spPr>
          <a:xfrm>
            <a:off x="10011476" y="4440000"/>
            <a:ext cx="1601403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00" name="t1100"/>
          <p:cNvSpPr txBox="1"/>
          <p:nvPr/>
        </p:nvSpPr>
        <p:spPr>
          <a:xfrm>
            <a:off x="10011476" y="4440000"/>
            <a:ext cx="1601403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C9962E"/>
                </a:solidFill>
                <a:latin typeface="Arial"/>
              </a:rPr>
              <a:t>Med–High</a:t>
            </a:r>
          </a:p>
        </p:txBody>
      </p:sp>
      <p:sp>
        <p:nvSpPr>
          <p:cNvPr id="1101" name="r1101"/>
          <p:cNvSpPr/>
          <p:nvPr/>
        </p:nvSpPr>
        <p:spPr>
          <a:xfrm>
            <a:off x="548640" y="4770000"/>
            <a:ext cx="2183731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02" name="t1102"/>
          <p:cNvSpPr txBox="1"/>
          <p:nvPr/>
        </p:nvSpPr>
        <p:spPr>
          <a:xfrm>
            <a:off x="548640" y="4770000"/>
            <a:ext cx="2183731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depakote.com</a:t>
            </a:r>
          </a:p>
        </p:txBody>
      </p:sp>
      <p:sp>
        <p:nvSpPr>
          <p:cNvPr id="1103" name="r1103"/>
          <p:cNvSpPr/>
          <p:nvPr/>
        </p:nvSpPr>
        <p:spPr>
          <a:xfrm>
            <a:off x="2732371" y="4770000"/>
            <a:ext cx="2766060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04" name="t1104"/>
          <p:cNvSpPr txBox="1"/>
          <p:nvPr/>
        </p:nvSpPr>
        <p:spPr>
          <a:xfrm>
            <a:off x="2732371" y="4770000"/>
            <a:ext cx="2766060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Patient</a:t>
            </a:r>
          </a:p>
        </p:txBody>
      </p:sp>
      <p:sp>
        <p:nvSpPr>
          <p:cNvPr id="1105" name="r1105"/>
          <p:cNvSpPr/>
          <p:nvPr/>
        </p:nvSpPr>
        <p:spPr>
          <a:xfrm>
            <a:off x="5498431" y="4770000"/>
            <a:ext cx="2766060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06" name="t1106"/>
          <p:cNvSpPr txBox="1"/>
          <p:nvPr/>
        </p:nvSpPr>
        <p:spPr>
          <a:xfrm>
            <a:off x="5498431" y="4770000"/>
            <a:ext cx="2766060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Multi-indication (boxed)</a:t>
            </a:r>
          </a:p>
        </p:txBody>
      </p:sp>
      <p:sp>
        <p:nvSpPr>
          <p:cNvPr id="1107" name="r1107"/>
          <p:cNvSpPr/>
          <p:nvPr/>
        </p:nvSpPr>
        <p:spPr>
          <a:xfrm>
            <a:off x="8264491" y="4770000"/>
            <a:ext cx="1746985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08" name="t1108"/>
          <p:cNvSpPr txBox="1"/>
          <p:nvPr/>
        </p:nvSpPr>
        <p:spPr>
          <a:xfrm>
            <a:off x="8264491" y="4770000"/>
            <a:ext cx="1746985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Not fetchable</a:t>
            </a:r>
          </a:p>
        </p:txBody>
      </p:sp>
      <p:sp>
        <p:nvSpPr>
          <p:cNvPr id="1109" name="r1109"/>
          <p:cNvSpPr/>
          <p:nvPr/>
        </p:nvSpPr>
        <p:spPr>
          <a:xfrm>
            <a:off x="10011476" y="4770000"/>
            <a:ext cx="1601403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10" name="t1110"/>
          <p:cNvSpPr txBox="1"/>
          <p:nvPr/>
        </p:nvSpPr>
        <p:spPr>
          <a:xfrm>
            <a:off x="10011476" y="4770000"/>
            <a:ext cx="1601403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C9962E"/>
                </a:solidFill>
                <a:latin typeface="Arial"/>
              </a:rPr>
              <a:t>Med–High</a:t>
            </a:r>
          </a:p>
        </p:txBody>
      </p:sp>
      <p:sp>
        <p:nvSpPr>
          <p:cNvPr id="1111" name="r1111"/>
          <p:cNvSpPr/>
          <p:nvPr/>
        </p:nvSpPr>
        <p:spPr>
          <a:xfrm>
            <a:off x="548640" y="5100000"/>
            <a:ext cx="2183731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12" name="t1112"/>
          <p:cNvSpPr txBox="1"/>
          <p:nvPr/>
        </p:nvSpPr>
        <p:spPr>
          <a:xfrm>
            <a:off x="548640" y="5100000"/>
            <a:ext cx="2183731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taytulla.com</a:t>
            </a:r>
          </a:p>
        </p:txBody>
      </p:sp>
      <p:sp>
        <p:nvSpPr>
          <p:cNvPr id="1113" name="r1113"/>
          <p:cNvSpPr/>
          <p:nvPr/>
        </p:nvSpPr>
        <p:spPr>
          <a:xfrm>
            <a:off x="2732371" y="5100000"/>
            <a:ext cx="2766060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14" name="t1114"/>
          <p:cNvSpPr txBox="1"/>
          <p:nvPr/>
        </p:nvSpPr>
        <p:spPr>
          <a:xfrm>
            <a:off x="2732371" y="5100000"/>
            <a:ext cx="2766060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Patient</a:t>
            </a:r>
          </a:p>
        </p:txBody>
      </p:sp>
      <p:sp>
        <p:nvSpPr>
          <p:cNvPr id="1115" name="r1115"/>
          <p:cNvSpPr/>
          <p:nvPr/>
        </p:nvSpPr>
        <p:spPr>
          <a:xfrm>
            <a:off x="5498431" y="5100000"/>
            <a:ext cx="2766060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16" name="t1116"/>
          <p:cNvSpPr txBox="1"/>
          <p:nvPr/>
        </p:nvSpPr>
        <p:spPr>
          <a:xfrm>
            <a:off x="5498431" y="5100000"/>
            <a:ext cx="2766060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Oral contraceptive</a:t>
            </a:r>
          </a:p>
        </p:txBody>
      </p:sp>
      <p:sp>
        <p:nvSpPr>
          <p:cNvPr id="1117" name="r1117"/>
          <p:cNvSpPr/>
          <p:nvPr/>
        </p:nvSpPr>
        <p:spPr>
          <a:xfrm>
            <a:off x="8264491" y="5100000"/>
            <a:ext cx="1746985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18" name="t1118"/>
          <p:cNvSpPr txBox="1"/>
          <p:nvPr/>
        </p:nvSpPr>
        <p:spPr>
          <a:xfrm>
            <a:off x="8264491" y="5100000"/>
            <a:ext cx="1746985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Not fetchable</a:t>
            </a:r>
          </a:p>
        </p:txBody>
      </p:sp>
      <p:sp>
        <p:nvSpPr>
          <p:cNvPr id="1119" name="r1119"/>
          <p:cNvSpPr/>
          <p:nvPr/>
        </p:nvSpPr>
        <p:spPr>
          <a:xfrm>
            <a:off x="10011476" y="5100000"/>
            <a:ext cx="1601403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20" name="t1120"/>
          <p:cNvSpPr txBox="1"/>
          <p:nvPr/>
        </p:nvSpPr>
        <p:spPr>
          <a:xfrm>
            <a:off x="10011476" y="5100000"/>
            <a:ext cx="1601403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C9962E"/>
                </a:solidFill>
                <a:latin typeface="Arial"/>
              </a:rPr>
              <a:t>Medium</a:t>
            </a:r>
          </a:p>
        </p:txBody>
      </p:sp>
      <p:sp>
        <p:nvSpPr>
          <p:cNvPr id="1121" name="r1121"/>
          <p:cNvSpPr/>
          <p:nvPr/>
        </p:nvSpPr>
        <p:spPr>
          <a:xfrm>
            <a:off x="548640" y="5430000"/>
            <a:ext cx="2183731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22" name="t1122"/>
          <p:cNvSpPr txBox="1"/>
          <p:nvPr/>
        </p:nvSpPr>
        <p:spPr>
          <a:xfrm>
            <a:off x="548640" y="5430000"/>
            <a:ext cx="2183731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fetzima.com</a:t>
            </a:r>
          </a:p>
        </p:txBody>
      </p:sp>
      <p:sp>
        <p:nvSpPr>
          <p:cNvPr id="1123" name="r1123"/>
          <p:cNvSpPr/>
          <p:nvPr/>
        </p:nvSpPr>
        <p:spPr>
          <a:xfrm>
            <a:off x="2732371" y="5430000"/>
            <a:ext cx="2766060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24" name="t1124"/>
          <p:cNvSpPr txBox="1"/>
          <p:nvPr/>
        </p:nvSpPr>
        <p:spPr>
          <a:xfrm>
            <a:off x="2732371" y="5430000"/>
            <a:ext cx="2766060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Patient</a:t>
            </a:r>
          </a:p>
        </p:txBody>
      </p:sp>
      <p:sp>
        <p:nvSpPr>
          <p:cNvPr id="1125" name="r1125"/>
          <p:cNvSpPr/>
          <p:nvPr/>
        </p:nvSpPr>
        <p:spPr>
          <a:xfrm>
            <a:off x="5498431" y="5430000"/>
            <a:ext cx="2766060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26" name="t1126"/>
          <p:cNvSpPr txBox="1"/>
          <p:nvPr/>
        </p:nvSpPr>
        <p:spPr>
          <a:xfrm>
            <a:off x="5498431" y="5430000"/>
            <a:ext cx="2766060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MDD (boxed warning)</a:t>
            </a:r>
          </a:p>
        </p:txBody>
      </p:sp>
      <p:sp>
        <p:nvSpPr>
          <p:cNvPr id="1127" name="r1127"/>
          <p:cNvSpPr/>
          <p:nvPr/>
        </p:nvSpPr>
        <p:spPr>
          <a:xfrm>
            <a:off x="8264491" y="5430000"/>
            <a:ext cx="1746985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28" name="t1128"/>
          <p:cNvSpPr txBox="1"/>
          <p:nvPr/>
        </p:nvSpPr>
        <p:spPr>
          <a:xfrm>
            <a:off x="8264491" y="5430000"/>
            <a:ext cx="1746985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Not fetchable</a:t>
            </a:r>
          </a:p>
        </p:txBody>
      </p:sp>
      <p:sp>
        <p:nvSpPr>
          <p:cNvPr id="1129" name="r1129"/>
          <p:cNvSpPr/>
          <p:nvPr/>
        </p:nvSpPr>
        <p:spPr>
          <a:xfrm>
            <a:off x="10011476" y="5430000"/>
            <a:ext cx="1601403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30" name="t1130"/>
          <p:cNvSpPr txBox="1"/>
          <p:nvPr/>
        </p:nvSpPr>
        <p:spPr>
          <a:xfrm>
            <a:off x="10011476" y="5430000"/>
            <a:ext cx="1601403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3F8F6B"/>
                </a:solidFill>
                <a:latin typeface="Arial"/>
              </a:rPr>
              <a:t>Low–Med</a:t>
            </a:r>
          </a:p>
        </p:txBody>
      </p:sp>
      <p:sp>
        <p:nvSpPr>
          <p:cNvPr id="1131" name="t1131"/>
          <p:cNvSpPr txBox="1"/>
          <p:nvPr/>
        </p:nvSpPr>
        <p:spPr>
          <a:xfrm>
            <a:off x="548640" y="5800000"/>
            <a:ext cx="10972800" cy="460000"/>
          </a:xfrm>
          <a:prstGeom prst="rect">
            <a:avLst/>
          </a:prstGeom>
          <a:noFill/>
        </p:spPr>
        <p:txBody>
          <a:bodyPr wrap="square" lIns="45720" tIns="18000" rIns="45720" bIns="1800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0">
                <a:solidFill>
                  <a:srgbClr val="5A5A5A"/>
                </a:solidFill>
                <a:latin typeface="Arial"/>
              </a:rPr>
              <a:t>Twelve additional AbbVie/Allergan brand sites — Wave 2 of the portfolio migration. 10 of 12 were not fetchable this pass → a discovery spike precedes each estimate.</a:t>
            </a:r>
          </a:p>
        </p:txBody>
      </p:sp>
      <p:sp>
        <p:nvSpPr>
          <p:cNvPr id="227" name="t228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5A5A5A"/>
                </a:solidFill>
                <a:latin typeface="Arial"/>
              </a:rPr>
              <a:t>AbbVie Pharma Portfolio → AEM Edge Delivery Services  |  Confidential – Client Proposal</a:t>
            </a:r>
          </a:p>
        </p:txBody>
      </p:sp>
      <p:sp>
        <p:nvSpPr>
          <p:cNvPr id="229" name="t230"/>
          <p:cNvSpPr txBox="1"/>
          <p:nvPr/>
        </p:nvSpPr>
        <p:spPr>
          <a:xfrm>
            <a:off x="10058400" y="5989320"/>
            <a:ext cx="173736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r">
              <a:spcAft>
                <a:spcPts val="0"/>
              </a:spcAft>
              <a:buNone/>
            </a:pPr>
            <a:r>
              <a:rPr lang="en-US" sz="1000" b="1">
                <a:solidFill>
                  <a:srgbClr val="071D49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r26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67" name="r268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71D49"/>
          </a:solidFill>
          <a:ln>
            <a:noFill/>
          </a:ln>
        </p:spPr>
        <p:txBody>
          <a:bodyPr/>
          <a:lstStyle/>
          <a:p/>
        </p:txBody>
      </p:sp>
      <p:sp>
        <p:nvSpPr>
          <p:cNvPr id="269" name="r270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271" name="t272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E8553D"/>
                </a:solidFill>
                <a:latin typeface="Arial"/>
              </a:rPr>
              <a:t>METHOD</a:t>
            </a:r>
          </a:p>
        </p:txBody>
      </p:sp>
      <p:sp>
        <p:nvSpPr>
          <p:cNvPr id="273" name="t274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Arial"/>
              </a:rPr>
              <a:t>Our Solution Approach</a:t>
            </a:r>
          </a:p>
        </p:txBody>
      </p:sp>
      <p:sp>
        <p:nvSpPr>
          <p:cNvPr id="231" name="t232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250" b="1">
                <a:solidFill>
                  <a:srgbClr val="071D49"/>
                </a:solidFill>
                <a:latin typeface="Arial"/>
              </a:rPr>
              <a:t>AEM Edge Delivery Services — vanilla JS/CSS, no build step, three-phase loading, document-authored content.</a:t>
            </a:r>
          </a:p>
        </p:txBody>
      </p:sp>
      <p:sp>
        <p:nvSpPr>
          <p:cNvPr id="233" name="r234"/>
          <p:cNvSpPr/>
          <p:nvPr/>
        </p:nvSpPr>
        <p:spPr>
          <a:xfrm>
            <a:off x="548640" y="1965960"/>
            <a:ext cx="2670048" cy="329184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235" name="r236"/>
          <p:cNvSpPr/>
          <p:nvPr/>
        </p:nvSpPr>
        <p:spPr>
          <a:xfrm>
            <a:off x="548640" y="1965960"/>
            <a:ext cx="2670048" cy="640080"/>
          </a:xfrm>
          <a:prstGeom prst="rect">
            <a:avLst/>
          </a:prstGeom>
          <a:solidFill>
            <a:srgbClr val="0B5F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37" name="t238"/>
          <p:cNvSpPr txBox="1"/>
          <p:nvPr/>
        </p:nvSpPr>
        <p:spPr>
          <a:xfrm>
            <a:off x="548640" y="2029968"/>
            <a:ext cx="2670048" cy="5669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Arial"/>
              </a:rPr>
              <a:t>One shared design system</a:t>
            </a:r>
          </a:p>
        </p:txBody>
      </p:sp>
      <p:sp>
        <p:nvSpPr>
          <p:cNvPr id="239" name="t240"/>
          <p:cNvSpPr txBox="1"/>
          <p:nvPr/>
        </p:nvSpPr>
        <p:spPr>
          <a:xfrm>
            <a:off x="621792" y="2743200"/>
            <a:ext cx="2523744" cy="23774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182880" indent="-182880" algn="l">
              <a:spcAft>
                <a:spcPts val="200"/>
              </a:spcAft>
              <a:buFont typeface="Arial"/>
              <a:buChar char="•"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Single AbbVie brand base; per-brand theming via token overrides — not bespoke code.</a:t>
            </a:r>
          </a:p>
          <a:p>
            <a:pPr marL="182880" indent="-182880" algn="l">
              <a:spcAft>
                <a:spcPts val="200"/>
              </a:spcAft>
              <a:buFont typeface="Arial"/>
              <a:buChar char="•"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Colors, type, spacing &amp; motion captured once as reusable tokens.</a:t>
            </a:r>
          </a:p>
        </p:txBody>
      </p:sp>
      <p:sp>
        <p:nvSpPr>
          <p:cNvPr id="241" name="r242"/>
          <p:cNvSpPr/>
          <p:nvPr/>
        </p:nvSpPr>
        <p:spPr>
          <a:xfrm>
            <a:off x="3337560" y="1965960"/>
            <a:ext cx="2670048" cy="329184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243" name="r244"/>
          <p:cNvSpPr/>
          <p:nvPr/>
        </p:nvSpPr>
        <p:spPr>
          <a:xfrm>
            <a:off x="3337560" y="1965960"/>
            <a:ext cx="2670048" cy="640080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245" name="t246"/>
          <p:cNvSpPr txBox="1"/>
          <p:nvPr/>
        </p:nvSpPr>
        <p:spPr>
          <a:xfrm>
            <a:off x="3337560" y="2029968"/>
            <a:ext cx="2670048" cy="5669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Arial"/>
              </a:rPr>
              <a:t>One block library</a:t>
            </a:r>
          </a:p>
        </p:txBody>
      </p:sp>
      <p:sp>
        <p:nvSpPr>
          <p:cNvPr id="247" name="t248"/>
          <p:cNvSpPr txBox="1"/>
          <p:nvPr/>
        </p:nvSpPr>
        <p:spPr>
          <a:xfrm>
            <a:off x="3410712" y="2743200"/>
            <a:ext cx="2523744" cy="23774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182880" indent="-182880" algn="l">
              <a:spcAft>
                <a:spcPts val="200"/>
              </a:spcAft>
              <a:buFont typeface="Arial"/>
              <a:buChar char="•"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16 existing blocks reused (gate, ISI bar, hero, cards, tabs…).</a:t>
            </a:r>
          </a:p>
          <a:p>
            <a:pPr marL="182880" indent="-182880" algn="l">
              <a:spcAft>
                <a:spcPts val="200"/>
              </a:spcAft>
              <a:buFont typeface="Arial"/>
              <a:buChar char="•"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9 new shared blocks built once (incl. locator-map, risk-assessment); site-specific blocks only where the design demands — Wave 2 needs none.</a:t>
            </a:r>
          </a:p>
        </p:txBody>
      </p:sp>
      <p:sp>
        <p:nvSpPr>
          <p:cNvPr id="249" name="r250"/>
          <p:cNvSpPr/>
          <p:nvPr/>
        </p:nvSpPr>
        <p:spPr>
          <a:xfrm>
            <a:off x="6126480" y="1965960"/>
            <a:ext cx="2670048" cy="329184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251" name="r252"/>
          <p:cNvSpPr/>
          <p:nvPr/>
        </p:nvSpPr>
        <p:spPr>
          <a:xfrm>
            <a:off x="6126480" y="1965960"/>
            <a:ext cx="2670048" cy="640080"/>
          </a:xfrm>
          <a:prstGeom prst="rect">
            <a:avLst/>
          </a:prstGeom>
          <a:solidFill>
            <a:srgbClr val="3F8F6B"/>
          </a:solidFill>
          <a:ln>
            <a:noFill/>
          </a:ln>
        </p:spPr>
        <p:txBody>
          <a:bodyPr/>
          <a:lstStyle/>
          <a:p/>
        </p:txBody>
      </p:sp>
      <p:sp>
        <p:nvSpPr>
          <p:cNvPr id="253" name="t254"/>
          <p:cNvSpPr txBox="1"/>
          <p:nvPr/>
        </p:nvSpPr>
        <p:spPr>
          <a:xfrm>
            <a:off x="6126480" y="2029968"/>
            <a:ext cx="2670048" cy="5669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Arial"/>
              </a:rPr>
              <a:t>Content-driven delivery</a:t>
            </a:r>
          </a:p>
        </p:txBody>
      </p:sp>
      <p:sp>
        <p:nvSpPr>
          <p:cNvPr id="255" name="t256"/>
          <p:cNvSpPr txBox="1"/>
          <p:nvPr/>
        </p:nvSpPr>
        <p:spPr>
          <a:xfrm>
            <a:off x="6199632" y="2743200"/>
            <a:ext cx="2523744" cy="23774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182880" indent="-182880" algn="l">
              <a:spcAft>
                <a:spcPts val="200"/>
              </a:spcAft>
              <a:buFont typeface="Arial"/>
              <a:buChar char="•"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Every block starts from a block.md content-model contract.</a:t>
            </a:r>
          </a:p>
          <a:p>
            <a:pPr marL="182880" indent="-182880" algn="l">
              <a:spcAft>
                <a:spcPts val="200"/>
              </a:spcAft>
              <a:buFont typeface="Arial"/>
              <a:buChar char="•"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Authored draft content drives decoration &amp; automated tests.</a:t>
            </a:r>
          </a:p>
        </p:txBody>
      </p:sp>
      <p:sp>
        <p:nvSpPr>
          <p:cNvPr id="257" name="r258"/>
          <p:cNvSpPr/>
          <p:nvPr/>
        </p:nvSpPr>
        <p:spPr>
          <a:xfrm>
            <a:off x="8915400" y="1965960"/>
            <a:ext cx="2670048" cy="329184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259" name="r260"/>
          <p:cNvSpPr/>
          <p:nvPr/>
        </p:nvSpPr>
        <p:spPr>
          <a:xfrm>
            <a:off x="8915400" y="1965960"/>
            <a:ext cx="2670048" cy="640080"/>
          </a:xfrm>
          <a:prstGeom prst="rect">
            <a:avLst/>
          </a:prstGeom>
          <a:solidFill>
            <a:srgbClr val="071D49"/>
          </a:solidFill>
          <a:ln>
            <a:noFill/>
          </a:ln>
        </p:spPr>
        <p:txBody>
          <a:bodyPr/>
          <a:lstStyle/>
          <a:p/>
        </p:txBody>
      </p:sp>
      <p:sp>
        <p:nvSpPr>
          <p:cNvPr id="261" name="t262"/>
          <p:cNvSpPr txBox="1"/>
          <p:nvPr/>
        </p:nvSpPr>
        <p:spPr>
          <a:xfrm>
            <a:off x="8915400" y="2029968"/>
            <a:ext cx="2670048" cy="5669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Arial"/>
              </a:rPr>
              <a:t>Compliance-first</a:t>
            </a:r>
          </a:p>
        </p:txBody>
      </p:sp>
      <p:sp>
        <p:nvSpPr>
          <p:cNvPr id="263" name="t264"/>
          <p:cNvSpPr txBox="1"/>
          <p:nvPr/>
        </p:nvSpPr>
        <p:spPr>
          <a:xfrm>
            <a:off x="8988552" y="2743200"/>
            <a:ext cx="2523744" cy="23774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182880" indent="-182880" algn="l">
              <a:spcAft>
                <a:spcPts val="200"/>
              </a:spcAft>
              <a:buFont typeface="Arial"/>
              <a:buChar char="•"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ISI/PI fair balance, references &amp; PRC codes migrated verbatim.</a:t>
            </a:r>
          </a:p>
          <a:p>
            <a:pPr marL="182880" indent="-182880" algn="l">
              <a:spcAft>
                <a:spcPts val="200"/>
              </a:spcAft>
              <a:buFont typeface="Arial"/>
              <a:buChar char="•"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WCAG 2.1 AA baked into review, not bolted on.</a:t>
            </a:r>
          </a:p>
        </p:txBody>
      </p:sp>
      <p:sp>
        <p:nvSpPr>
          <p:cNvPr id="275" name="t276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5A5A5A"/>
                </a:solidFill>
                <a:latin typeface="Arial"/>
              </a:rPr>
              <a:t>AbbVie Pharma Portfolio → AEM Edge Delivery Services  |  Confidential – Client Proposal</a:t>
            </a:r>
          </a:p>
        </p:txBody>
      </p:sp>
      <p:sp>
        <p:nvSpPr>
          <p:cNvPr id="277" name="t278"/>
          <p:cNvSpPr txBox="1"/>
          <p:nvPr/>
        </p:nvSpPr>
        <p:spPr>
          <a:xfrm>
            <a:off x="10058400" y="5989320"/>
            <a:ext cx="173736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r">
              <a:spcAft>
                <a:spcPts val="0"/>
              </a:spcAft>
              <a:buNone/>
            </a:pPr>
            <a:r>
              <a:rPr lang="en-US" sz="1000" b="1">
                <a:solidFill>
                  <a:srgbClr val="071D49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r3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45" name="r346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71D49"/>
          </a:solidFill>
          <a:ln>
            <a:noFill/>
          </a:ln>
        </p:spPr>
        <p:txBody>
          <a:bodyPr/>
          <a:lstStyle/>
          <a:p/>
        </p:txBody>
      </p:sp>
      <p:sp>
        <p:nvSpPr>
          <p:cNvPr id="347" name="r348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349" name="t350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E8553D"/>
                </a:solidFill>
                <a:latin typeface="Arial"/>
              </a:rPr>
              <a:t>HOW WE BUILD</a:t>
            </a:r>
          </a:p>
        </p:txBody>
      </p:sp>
      <p:sp>
        <p:nvSpPr>
          <p:cNvPr id="351" name="t352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Arial"/>
              </a:rPr>
              <a:t>The 6-Stage EDS Delivery Lifecycle</a:t>
            </a:r>
          </a:p>
        </p:txBody>
      </p:sp>
      <p:sp>
        <p:nvSpPr>
          <p:cNvPr id="279" name="t280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250" b="0">
                <a:solidFill>
                  <a:srgbClr val="2B2B2B"/>
                </a:solidFill>
                <a:latin typeface="Arial"/>
              </a:rPr>
              <a:t>Each block flows through six specialised delivery stages — a repeatable, quality-gated lifecycle.</a:t>
            </a:r>
          </a:p>
        </p:txBody>
      </p:sp>
      <p:sp>
        <p:nvSpPr>
          <p:cNvPr id="281" name="r282"/>
          <p:cNvSpPr/>
          <p:nvPr/>
        </p:nvSpPr>
        <p:spPr>
          <a:xfrm>
            <a:off x="548640" y="2011680"/>
            <a:ext cx="1764792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283" name="r284"/>
          <p:cNvSpPr/>
          <p:nvPr/>
        </p:nvSpPr>
        <p:spPr>
          <a:xfrm>
            <a:off x="548640" y="2011680"/>
            <a:ext cx="1764792" cy="868680"/>
          </a:xfrm>
          <a:prstGeom prst="rect">
            <a:avLst/>
          </a:prstGeom>
          <a:solidFill>
            <a:srgbClr val="0B5F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85" name="t286"/>
          <p:cNvSpPr txBox="1"/>
          <p:nvPr/>
        </p:nvSpPr>
        <p:spPr>
          <a:xfrm>
            <a:off x="548640" y="2084831"/>
            <a:ext cx="1764792" cy="4114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950" b="1">
                <a:solidFill>
                  <a:srgbClr val="FFFFFF"/>
                </a:solidFill>
                <a:latin typeface="Arial"/>
              </a:rPr>
              <a:t>STAGE 1</a:t>
            </a:r>
          </a:p>
        </p:txBody>
      </p:sp>
      <p:sp>
        <p:nvSpPr>
          <p:cNvPr id="287" name="t288"/>
          <p:cNvSpPr txBox="1"/>
          <p:nvPr/>
        </p:nvSpPr>
        <p:spPr>
          <a:xfrm>
            <a:off x="548640" y="2432304"/>
            <a:ext cx="1764792" cy="4114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Arial"/>
              </a:rPr>
              <a:t>Strategist</a:t>
            </a:r>
          </a:p>
        </p:txBody>
      </p:sp>
      <p:sp>
        <p:nvSpPr>
          <p:cNvPr id="289" name="t290"/>
          <p:cNvSpPr txBox="1"/>
          <p:nvPr/>
        </p:nvSpPr>
        <p:spPr>
          <a:xfrm>
            <a:off x="594360" y="3017520"/>
            <a:ext cx="1673352" cy="1874519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Story, acceptance criteria, content model (block.md), IA</a:t>
            </a:r>
          </a:p>
        </p:txBody>
      </p:sp>
      <p:sp>
        <p:nvSpPr>
          <p:cNvPr id="291" name="r292"/>
          <p:cNvSpPr/>
          <p:nvPr/>
        </p:nvSpPr>
        <p:spPr>
          <a:xfrm>
            <a:off x="2368296" y="2011680"/>
            <a:ext cx="1764792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293" name="r294"/>
          <p:cNvSpPr/>
          <p:nvPr/>
        </p:nvSpPr>
        <p:spPr>
          <a:xfrm>
            <a:off x="2368296" y="2011680"/>
            <a:ext cx="1764792" cy="868680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295" name="t296"/>
          <p:cNvSpPr txBox="1"/>
          <p:nvPr/>
        </p:nvSpPr>
        <p:spPr>
          <a:xfrm>
            <a:off x="2368296" y="2084831"/>
            <a:ext cx="1764792" cy="4114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950" b="1">
                <a:solidFill>
                  <a:srgbClr val="FFFFFF"/>
                </a:solidFill>
                <a:latin typeface="Arial"/>
              </a:rPr>
              <a:t>STAGE 2</a:t>
            </a:r>
          </a:p>
        </p:txBody>
      </p:sp>
      <p:sp>
        <p:nvSpPr>
          <p:cNvPr id="297" name="t298"/>
          <p:cNvSpPr txBox="1"/>
          <p:nvPr/>
        </p:nvSpPr>
        <p:spPr>
          <a:xfrm>
            <a:off x="2368296" y="2432304"/>
            <a:ext cx="1764792" cy="4114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Arial"/>
              </a:rPr>
              <a:t>Styleforge</a:t>
            </a:r>
          </a:p>
        </p:txBody>
      </p:sp>
      <p:sp>
        <p:nvSpPr>
          <p:cNvPr id="299" name="t300"/>
          <p:cNvSpPr txBox="1"/>
          <p:nvPr/>
        </p:nvSpPr>
        <p:spPr>
          <a:xfrm>
            <a:off x="2414016" y="3017520"/>
            <a:ext cx="1673352" cy="1874519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Design tokens, color/type, responsive &amp; motion specs</a:t>
            </a:r>
          </a:p>
        </p:txBody>
      </p:sp>
      <p:sp>
        <p:nvSpPr>
          <p:cNvPr id="301" name="r302"/>
          <p:cNvSpPr/>
          <p:nvPr/>
        </p:nvSpPr>
        <p:spPr>
          <a:xfrm>
            <a:off x="4187952" y="2011680"/>
            <a:ext cx="1764792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303" name="r304"/>
          <p:cNvSpPr/>
          <p:nvPr/>
        </p:nvSpPr>
        <p:spPr>
          <a:xfrm>
            <a:off x="4187952" y="2011680"/>
            <a:ext cx="1764792" cy="868680"/>
          </a:xfrm>
          <a:prstGeom prst="rect">
            <a:avLst/>
          </a:prstGeom>
          <a:solidFill>
            <a:srgbClr val="3F8F6B"/>
          </a:solidFill>
          <a:ln>
            <a:noFill/>
          </a:ln>
        </p:spPr>
        <p:txBody>
          <a:bodyPr/>
          <a:lstStyle/>
          <a:p/>
        </p:txBody>
      </p:sp>
      <p:sp>
        <p:nvSpPr>
          <p:cNvPr id="305" name="t306"/>
          <p:cNvSpPr txBox="1"/>
          <p:nvPr/>
        </p:nvSpPr>
        <p:spPr>
          <a:xfrm>
            <a:off x="4187952" y="2084831"/>
            <a:ext cx="1764792" cy="4114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950" b="1">
                <a:solidFill>
                  <a:srgbClr val="FFFFFF"/>
                </a:solidFill>
                <a:latin typeface="Arial"/>
              </a:rPr>
              <a:t>STAGE 3</a:t>
            </a:r>
          </a:p>
        </p:txBody>
      </p:sp>
      <p:sp>
        <p:nvSpPr>
          <p:cNvPr id="307" name="t308"/>
          <p:cNvSpPr txBox="1"/>
          <p:nvPr/>
        </p:nvSpPr>
        <p:spPr>
          <a:xfrm>
            <a:off x="4187952" y="2432304"/>
            <a:ext cx="1764792" cy="4114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Arial"/>
              </a:rPr>
              <a:t>Blockwright</a:t>
            </a:r>
          </a:p>
        </p:txBody>
      </p:sp>
      <p:sp>
        <p:nvSpPr>
          <p:cNvPr id="309" name="t310"/>
          <p:cNvSpPr txBox="1"/>
          <p:nvPr/>
        </p:nvSpPr>
        <p:spPr>
          <a:xfrm>
            <a:off x="4233672" y="3017520"/>
            <a:ext cx="1673352" cy="1874519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Build block JS/CSS/markup, draft content, lint, local tests</a:t>
            </a:r>
          </a:p>
        </p:txBody>
      </p:sp>
      <p:sp>
        <p:nvSpPr>
          <p:cNvPr id="311" name="r312"/>
          <p:cNvSpPr/>
          <p:nvPr/>
        </p:nvSpPr>
        <p:spPr>
          <a:xfrm>
            <a:off x="6007608" y="2011680"/>
            <a:ext cx="1764792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313" name="r314"/>
          <p:cNvSpPr/>
          <p:nvPr/>
        </p:nvSpPr>
        <p:spPr>
          <a:xfrm>
            <a:off x="6007608" y="2011680"/>
            <a:ext cx="1764792" cy="868680"/>
          </a:xfrm>
          <a:prstGeom prst="rect">
            <a:avLst/>
          </a:prstGeom>
          <a:solidFill>
            <a:srgbClr val="071D49"/>
          </a:solidFill>
          <a:ln>
            <a:noFill/>
          </a:ln>
        </p:spPr>
        <p:txBody>
          <a:bodyPr/>
          <a:lstStyle/>
          <a:p/>
        </p:txBody>
      </p:sp>
      <p:sp>
        <p:nvSpPr>
          <p:cNvPr id="315" name="t316"/>
          <p:cNvSpPr txBox="1"/>
          <p:nvPr/>
        </p:nvSpPr>
        <p:spPr>
          <a:xfrm>
            <a:off x="6007608" y="2084831"/>
            <a:ext cx="1764792" cy="4114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950" b="1">
                <a:solidFill>
                  <a:srgbClr val="FFFFFF"/>
                </a:solidFill>
                <a:latin typeface="Arial"/>
              </a:rPr>
              <a:t>STAGE 4</a:t>
            </a:r>
          </a:p>
        </p:txBody>
      </p:sp>
      <p:sp>
        <p:nvSpPr>
          <p:cNvPr id="317" name="t318"/>
          <p:cNvSpPr txBox="1"/>
          <p:nvPr/>
        </p:nvSpPr>
        <p:spPr>
          <a:xfrm>
            <a:off x="6007608" y="2432304"/>
            <a:ext cx="1764792" cy="4114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Arial"/>
              </a:rPr>
              <a:t>Sentinel</a:t>
            </a:r>
          </a:p>
        </p:txBody>
      </p:sp>
      <p:sp>
        <p:nvSpPr>
          <p:cNvPr id="319" name="t320"/>
          <p:cNvSpPr txBox="1"/>
          <p:nvPr/>
        </p:nvSpPr>
        <p:spPr>
          <a:xfrm>
            <a:off x="6053328" y="3017520"/>
            <a:ext cx="1673352" cy="1874519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Code review (standards + WCAG AA), Playwright specs, green run</a:t>
            </a:r>
          </a:p>
        </p:txBody>
      </p:sp>
      <p:sp>
        <p:nvSpPr>
          <p:cNvPr id="321" name="r322"/>
          <p:cNvSpPr/>
          <p:nvPr/>
        </p:nvSpPr>
        <p:spPr>
          <a:xfrm>
            <a:off x="7827264" y="2011680"/>
            <a:ext cx="1764792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323" name="r324"/>
          <p:cNvSpPr/>
          <p:nvPr/>
        </p:nvSpPr>
        <p:spPr>
          <a:xfrm>
            <a:off x="7827264" y="2011680"/>
            <a:ext cx="1764792" cy="868680"/>
          </a:xfrm>
          <a:prstGeom prst="rect">
            <a:avLst/>
          </a:prstGeom>
          <a:solidFill>
            <a:srgbClr val="C9962E"/>
          </a:solidFill>
          <a:ln>
            <a:noFill/>
          </a:ln>
        </p:spPr>
        <p:txBody>
          <a:bodyPr/>
          <a:lstStyle/>
          <a:p/>
        </p:txBody>
      </p:sp>
      <p:sp>
        <p:nvSpPr>
          <p:cNvPr id="325" name="t326"/>
          <p:cNvSpPr txBox="1"/>
          <p:nvPr/>
        </p:nvSpPr>
        <p:spPr>
          <a:xfrm>
            <a:off x="7827264" y="2084831"/>
            <a:ext cx="1764792" cy="4114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950" b="1">
                <a:solidFill>
                  <a:srgbClr val="FFFFFF"/>
                </a:solidFill>
                <a:latin typeface="Arial"/>
              </a:rPr>
              <a:t>STAGE 5</a:t>
            </a:r>
          </a:p>
        </p:txBody>
      </p:sp>
      <p:sp>
        <p:nvSpPr>
          <p:cNvPr id="327" name="t328"/>
          <p:cNvSpPr txBox="1"/>
          <p:nvPr/>
        </p:nvSpPr>
        <p:spPr>
          <a:xfrm>
            <a:off x="7827264" y="2432304"/>
            <a:ext cx="1764792" cy="4114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Arial"/>
              </a:rPr>
              <a:t>Composer</a:t>
            </a:r>
          </a:p>
        </p:txBody>
      </p:sp>
      <p:sp>
        <p:nvSpPr>
          <p:cNvPr id="329" name="t330"/>
          <p:cNvSpPr txBox="1"/>
          <p:nvPr/>
        </p:nvSpPr>
        <p:spPr>
          <a:xfrm>
            <a:off x="7872984" y="3017520"/>
            <a:ext cx="1673352" cy="1874519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Block-library entry + page assembly from authored content</a:t>
            </a:r>
          </a:p>
        </p:txBody>
      </p:sp>
      <p:sp>
        <p:nvSpPr>
          <p:cNvPr id="331" name="r332"/>
          <p:cNvSpPr/>
          <p:nvPr/>
        </p:nvSpPr>
        <p:spPr>
          <a:xfrm>
            <a:off x="9646920" y="2011680"/>
            <a:ext cx="1764792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333" name="r334"/>
          <p:cNvSpPr/>
          <p:nvPr/>
        </p:nvSpPr>
        <p:spPr>
          <a:xfrm>
            <a:off x="9646920" y="2011680"/>
            <a:ext cx="1764792" cy="868680"/>
          </a:xfrm>
          <a:prstGeom prst="rect">
            <a:avLst/>
          </a:prstGeom>
          <a:solidFill>
            <a:srgbClr val="0B5FA5"/>
          </a:solidFill>
          <a:ln>
            <a:noFill/>
          </a:ln>
        </p:spPr>
        <p:txBody>
          <a:bodyPr/>
          <a:lstStyle/>
          <a:p/>
        </p:txBody>
      </p:sp>
      <p:sp>
        <p:nvSpPr>
          <p:cNvPr id="335" name="t336"/>
          <p:cNvSpPr txBox="1"/>
          <p:nvPr/>
        </p:nvSpPr>
        <p:spPr>
          <a:xfrm>
            <a:off x="9646920" y="2084831"/>
            <a:ext cx="1764792" cy="4114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950" b="1">
                <a:solidFill>
                  <a:srgbClr val="FFFFFF"/>
                </a:solidFill>
                <a:latin typeface="Arial"/>
              </a:rPr>
              <a:t>STAGE 6</a:t>
            </a:r>
          </a:p>
        </p:txBody>
      </p:sp>
      <p:sp>
        <p:nvSpPr>
          <p:cNvPr id="337" name="t338"/>
          <p:cNvSpPr txBox="1"/>
          <p:nvPr/>
        </p:nvSpPr>
        <p:spPr>
          <a:xfrm>
            <a:off x="9646920" y="2432304"/>
            <a:ext cx="1764792" cy="4114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Arial"/>
              </a:rPr>
              <a:t>Pilot</a:t>
            </a:r>
          </a:p>
        </p:txBody>
      </p:sp>
      <p:sp>
        <p:nvSpPr>
          <p:cNvPr id="339" name="t340"/>
          <p:cNvSpPr txBox="1"/>
          <p:nvPr/>
        </p:nvSpPr>
        <p:spPr>
          <a:xfrm>
            <a:off x="9692640" y="3017520"/>
            <a:ext cx="1673352" cy="1874519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Pre-push hygiene, PageSpeed ≥100, preview URL, PR prep</a:t>
            </a:r>
          </a:p>
        </p:txBody>
      </p:sp>
      <p:sp>
        <p:nvSpPr>
          <p:cNvPr id="341" name="t342"/>
          <p:cNvSpPr txBox="1"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>
                <a:solidFill>
                  <a:srgbClr val="071D49"/>
                </a:solidFill>
                <a:latin typeface="Arial"/>
              </a:rPr>
              <a:t>Plan  →  Design  →  Build  →  Review/Test  →  Integrate  →  Deploy</a:t>
            </a:r>
          </a:p>
        </p:txBody>
      </p:sp>
      <p:sp>
        <p:nvSpPr>
          <p:cNvPr id="353" name="t354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5A5A5A"/>
                </a:solidFill>
                <a:latin typeface="Arial"/>
              </a:rPr>
              <a:t>AbbVie Pharma Portfolio → AEM Edge Delivery Services  |  Confidential – Client Proposal</a:t>
            </a:r>
          </a:p>
        </p:txBody>
      </p:sp>
      <p:sp>
        <p:nvSpPr>
          <p:cNvPr id="355" name="t356"/>
          <p:cNvSpPr txBox="1"/>
          <p:nvPr/>
        </p:nvSpPr>
        <p:spPr>
          <a:xfrm>
            <a:off x="10058400" y="5989320"/>
            <a:ext cx="173736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r">
              <a:spcAft>
                <a:spcPts val="0"/>
              </a:spcAft>
              <a:buNone/>
            </a:pPr>
            <a:r>
              <a:rPr lang="en-US" sz="1000" b="1">
                <a:solidFill>
                  <a:srgbClr val="071D49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r38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85" name="r386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71D49"/>
          </a:solidFill>
          <a:ln>
            <a:noFill/>
          </a:ln>
        </p:spPr>
        <p:txBody>
          <a:bodyPr/>
          <a:lstStyle/>
          <a:p/>
        </p:txBody>
      </p:sp>
      <p:sp>
        <p:nvSpPr>
          <p:cNvPr id="387" name="r388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389" name="t390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E8553D"/>
                </a:solidFill>
                <a:latin typeface="Arial"/>
              </a:rPr>
              <a:t>REUSE STRATEGY</a:t>
            </a:r>
          </a:p>
        </p:txBody>
      </p:sp>
      <p:sp>
        <p:nvSpPr>
          <p:cNvPr id="391" name="t392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Arial"/>
              </a:rPr>
              <a:t>Shared Block Library</a:t>
            </a:r>
          </a:p>
        </p:txBody>
      </p:sp>
      <p:sp>
        <p:nvSpPr>
          <p:cNvPr id="357" name="t358"/>
          <p:cNvSpPr txBox="1"/>
          <p:nvPr/>
        </p:nvSpPr>
        <p:spPr>
          <a:xfrm>
            <a:off x="548640" y="1298448"/>
            <a:ext cx="10972800" cy="41148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250" b="0">
                <a:solidFill>
                  <a:srgbClr val="2B2B2B"/>
                </a:solidFill>
                <a:latin typeface="Arial"/>
              </a:rPr>
              <a:t>Reuse first, build once, reuse again — the library compounds across the portfolio.</a:t>
            </a:r>
          </a:p>
        </p:txBody>
      </p:sp>
      <p:sp>
        <p:nvSpPr>
          <p:cNvPr id="359" name="r360"/>
          <p:cNvSpPr/>
          <p:nvPr/>
        </p:nvSpPr>
        <p:spPr>
          <a:xfrm>
            <a:off x="548640" y="1874519"/>
            <a:ext cx="3566160" cy="566928"/>
          </a:xfrm>
          <a:prstGeom prst="rect">
            <a:avLst/>
          </a:prstGeom>
          <a:solidFill>
            <a:srgbClr val="3F8F6B"/>
          </a:solidFill>
          <a:ln>
            <a:noFill/>
          </a:ln>
        </p:spPr>
        <p:txBody>
          <a:bodyPr/>
          <a:lstStyle/>
          <a:p/>
        </p:txBody>
      </p:sp>
      <p:sp>
        <p:nvSpPr>
          <p:cNvPr id="361" name="t362"/>
          <p:cNvSpPr txBox="1"/>
          <p:nvPr/>
        </p:nvSpPr>
        <p:spPr>
          <a:xfrm>
            <a:off x="548640" y="1920240"/>
            <a:ext cx="3566160" cy="47548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Arial"/>
              </a:rPr>
              <a:t>Reused (existing)</a:t>
            </a:r>
          </a:p>
        </p:txBody>
      </p:sp>
      <p:sp>
        <p:nvSpPr>
          <p:cNvPr id="363" name="r364"/>
          <p:cNvSpPr/>
          <p:nvPr/>
        </p:nvSpPr>
        <p:spPr>
          <a:xfrm>
            <a:off x="548640" y="2441448"/>
            <a:ext cx="3566160" cy="288036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365" name="t366"/>
          <p:cNvSpPr txBox="1"/>
          <p:nvPr/>
        </p:nvSpPr>
        <p:spPr>
          <a:xfrm>
            <a:off x="640080" y="2532888"/>
            <a:ext cx="3383280" cy="27432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180"/>
              </a:spcAft>
              <a:buNone/>
            </a:pPr>
            <a:r>
              <a:rPr lang="en-US" sz="1000" b="1">
                <a:solidFill>
                  <a:srgbClr val="3F8F6B"/>
                </a:solidFill>
                <a:latin typeface="Arial"/>
              </a:rPr>
              <a:t>16 blocks — 0 build cost</a:t>
            </a:r>
          </a:p>
          <a:p>
            <a:pPr marL="182880" indent="-182880" algn="l">
              <a:spcAft>
                <a:spcPts val="120"/>
              </a:spcAft>
              <a:buFont typeface="Arial"/>
              <a:buChar char="•"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audience-gate, isi-bar</a:t>
            </a:r>
          </a:p>
          <a:p>
            <a:pPr marL="182880" indent="-182880" algn="l">
              <a:spcAft>
                <a:spcPts val="120"/>
              </a:spcAft>
              <a:buFont typeface="Arial"/>
              <a:buChar char="•"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header, footer, navigation</a:t>
            </a:r>
          </a:p>
          <a:p>
            <a:pPr marL="182880" indent="-182880" algn="l">
              <a:spcAft>
                <a:spcPts val="120"/>
              </a:spcAft>
              <a:buFont typeface="Arial"/>
              <a:buChar char="•"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hero-carousel, nav-cards, tabs</a:t>
            </a:r>
          </a:p>
          <a:p>
            <a:pPr marL="182880" indent="-182880" algn="l">
              <a:spcAft>
                <a:spcPts val="120"/>
              </a:spcAft>
              <a:buFont typeface="Arial"/>
              <a:buChar char="•"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stat-bar, split-section</a:t>
            </a:r>
          </a:p>
          <a:p>
            <a:pPr marL="182880" indent="-182880" algn="l">
              <a:spcAft>
                <a:spcPts val="120"/>
              </a:spcAft>
              <a:buFont typeface="Arial"/>
              <a:buChar char="•"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promo-banner, promo-pair, resource-list</a:t>
            </a:r>
          </a:p>
        </p:txBody>
      </p:sp>
      <p:sp>
        <p:nvSpPr>
          <p:cNvPr id="367" name="r368"/>
          <p:cNvSpPr/>
          <p:nvPr/>
        </p:nvSpPr>
        <p:spPr>
          <a:xfrm>
            <a:off x="4251960" y="1874519"/>
            <a:ext cx="3566160" cy="566928"/>
          </a:xfrm>
          <a:prstGeom prst="rect">
            <a:avLst/>
          </a:prstGeom>
          <a:solidFill>
            <a:srgbClr val="0B5FA5"/>
          </a:solidFill>
          <a:ln>
            <a:noFill/>
          </a:ln>
        </p:spPr>
        <p:txBody>
          <a:bodyPr/>
          <a:lstStyle/>
          <a:p/>
        </p:txBody>
      </p:sp>
      <p:sp>
        <p:nvSpPr>
          <p:cNvPr id="369" name="t370"/>
          <p:cNvSpPr txBox="1"/>
          <p:nvPr/>
        </p:nvSpPr>
        <p:spPr>
          <a:xfrm>
            <a:off x="4251960" y="1920240"/>
            <a:ext cx="3566160" cy="47548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Arial"/>
              </a:rPr>
              <a:t>New — shared</a:t>
            </a:r>
          </a:p>
        </p:txBody>
      </p:sp>
      <p:sp>
        <p:nvSpPr>
          <p:cNvPr id="371" name="r372"/>
          <p:cNvSpPr/>
          <p:nvPr/>
        </p:nvSpPr>
        <p:spPr>
          <a:xfrm>
            <a:off x="4251960" y="2441448"/>
            <a:ext cx="3566160" cy="288036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373" name="t374"/>
          <p:cNvSpPr txBox="1"/>
          <p:nvPr/>
        </p:nvSpPr>
        <p:spPr>
          <a:xfrm>
            <a:off x="4343400" y="2532888"/>
            <a:ext cx="3383280" cy="27432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180"/>
              </a:spcAft>
              <a:buNone/>
            </a:pPr>
            <a:r>
              <a:rPr lang="en-US" sz="1000" b="1">
                <a:solidFill>
                  <a:srgbClr val="0B5FA5"/>
                </a:solidFill>
                <a:latin typeface="Arial"/>
              </a:rPr>
              <a:t>9 blocks — built once</a:t>
            </a:r>
          </a:p>
          <a:p>
            <a:pPr marL="182880" indent="-182880" algn="l">
              <a:spcAft>
                <a:spcPts val="120"/>
              </a:spcAft>
              <a:buFont typeface="Arial"/>
              <a:buChar char="•"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savings-card</a:t>
            </a:r>
          </a:p>
          <a:p>
            <a:pPr marL="182880" indent="-182880" algn="l">
              <a:spcAft>
                <a:spcPts val="120"/>
              </a:spcAft>
              <a:buFont typeface="Arial"/>
              <a:buChar char="•"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faq-accordion</a:t>
            </a:r>
          </a:p>
          <a:p>
            <a:pPr marL="182880" indent="-182880" algn="l">
              <a:spcAft>
                <a:spcPts val="120"/>
              </a:spcAft>
              <a:buFont typeface="Arial"/>
              <a:buChar char="•"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reference-list</a:t>
            </a:r>
          </a:p>
          <a:p>
            <a:pPr marL="182880" indent="-182880" algn="l">
              <a:spcAft>
                <a:spcPts val="120"/>
              </a:spcAft>
              <a:buFont typeface="Arial"/>
              <a:buChar char="•"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downloadable-resource</a:t>
            </a:r>
          </a:p>
          <a:p>
            <a:pPr marL="182880" indent="-182880" algn="l">
              <a:spcAft>
                <a:spcPts val="120"/>
              </a:spcAft>
              <a:buFont typeface="Arial"/>
              <a:buChar char="•"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dosing-table, discussion-guide, spec-list</a:t>
            </a:r>
          </a:p>
          <a:p>
            <a:pPr marL="182880" indent="-182880" algn="l">
              <a:spcAft>
                <a:spcPts val="120"/>
              </a:spcAft>
              <a:buFont typeface="Arial"/>
              <a:buChar char="•"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locator-map *</a:t>
            </a:r>
          </a:p>
          <a:p>
            <a:pPr marL="182880" indent="-182880" algn="l">
              <a:spcAft>
                <a:spcPts val="120"/>
              </a:spcAft>
              <a:buFont typeface="Arial"/>
              <a:buChar char="•"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risk-assessment *</a:t>
            </a:r>
          </a:p>
        </p:txBody>
      </p:sp>
      <p:sp>
        <p:nvSpPr>
          <p:cNvPr id="375" name="r376"/>
          <p:cNvSpPr/>
          <p:nvPr/>
        </p:nvSpPr>
        <p:spPr>
          <a:xfrm>
            <a:off x="7955279" y="1874519"/>
            <a:ext cx="3566160" cy="566928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377" name="t378"/>
          <p:cNvSpPr txBox="1"/>
          <p:nvPr/>
        </p:nvSpPr>
        <p:spPr>
          <a:xfrm>
            <a:off x="7955279" y="1920240"/>
            <a:ext cx="3566160" cy="47548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Arial"/>
              </a:rPr>
              <a:t>New — site-specific</a:t>
            </a:r>
          </a:p>
        </p:txBody>
      </p:sp>
      <p:sp>
        <p:nvSpPr>
          <p:cNvPr id="379" name="r380"/>
          <p:cNvSpPr/>
          <p:nvPr/>
        </p:nvSpPr>
        <p:spPr>
          <a:xfrm>
            <a:off x="7955279" y="2441448"/>
            <a:ext cx="3566160" cy="288036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381" name="t382"/>
          <p:cNvSpPr txBox="1"/>
          <p:nvPr/>
        </p:nvSpPr>
        <p:spPr>
          <a:xfrm>
            <a:off x="8046719" y="2532888"/>
            <a:ext cx="3383280" cy="27432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180"/>
              </a:spcAft>
              <a:buNone/>
            </a:pPr>
            <a:r>
              <a:rPr lang="en-US" sz="1000" b="1">
                <a:solidFill>
                  <a:srgbClr val="E8553D"/>
                </a:solidFill>
                <a:latin typeface="Arial"/>
              </a:rPr>
              <a:t>9 blocks — Wave-1 cost drivers</a:t>
            </a:r>
          </a:p>
          <a:p>
            <a:pPr marL="182880" indent="-182880" algn="l">
              <a:spcAft>
                <a:spcPts val="120"/>
              </a:spcAft>
              <a:buFont typeface="Arial"/>
              <a:buChar char="•"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indication-selector (lupron)</a:t>
            </a:r>
          </a:p>
          <a:p>
            <a:pPr marL="182880" indent="-182880" algn="l">
              <a:spcAft>
                <a:spcPts val="120"/>
              </a:spcAft>
              <a:buFont typeface="Arial"/>
              <a:buChar char="•"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quiz, comparison-table, email-share (liletta)</a:t>
            </a:r>
          </a:p>
          <a:p>
            <a:pPr marL="182880" indent="-182880" algn="l">
              <a:spcAft>
                <a:spcPts val="120"/>
              </a:spcAft>
              <a:buFont typeface="Arial"/>
              <a:buChar char="•"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clinical-data-table, rep-request-form, video-embed (HCP)</a:t>
            </a:r>
          </a:p>
          <a:p>
            <a:pPr marL="182880" indent="-182880" algn="l">
              <a:spcAft>
                <a:spcPts val="120"/>
              </a:spcAft>
              <a:buFont typeface="Arial"/>
              <a:buChar char="•"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symptom-checker (hub), symptom-checklist (ped)</a:t>
            </a:r>
          </a:p>
          <a:p>
            <a:pPr marL="182880" indent="-182880" algn="l">
              <a:spcAft>
                <a:spcPts val="120"/>
              </a:spcAft>
              <a:buFont typeface="Arial"/>
              <a:buChar char="•"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Wave 2: no bespoke blocks — full reuse</a:t>
            </a:r>
          </a:p>
        </p:txBody>
      </p:sp>
      <p:sp>
        <p:nvSpPr>
          <p:cNvPr id="393" name="t394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5A5A5A"/>
                </a:solidFill>
                <a:latin typeface="Arial"/>
              </a:rPr>
              <a:t>AbbVie Pharma Portfolio → AEM Edge Delivery Services  |  Confidential – Client Proposal</a:t>
            </a:r>
          </a:p>
        </p:txBody>
      </p:sp>
      <p:sp>
        <p:nvSpPr>
          <p:cNvPr id="395" name="t396"/>
          <p:cNvSpPr txBox="1"/>
          <p:nvPr/>
        </p:nvSpPr>
        <p:spPr>
          <a:xfrm>
            <a:off x="10058400" y="5989320"/>
            <a:ext cx="173736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r">
              <a:spcAft>
                <a:spcPts val="0"/>
              </a:spcAft>
              <a:buNone/>
            </a:pPr>
            <a:r>
              <a:rPr lang="en-US" sz="1000" b="1">
                <a:solidFill>
                  <a:srgbClr val="071D49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r5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13" name="r514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71D49"/>
          </a:solidFill>
          <a:ln>
            <a:noFill/>
          </a:ln>
        </p:spPr>
        <p:txBody>
          <a:bodyPr/>
          <a:lstStyle/>
          <a:p/>
        </p:txBody>
      </p:sp>
      <p:sp>
        <p:nvSpPr>
          <p:cNvPr id="515" name="r516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517" name="t518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E8553D"/>
                </a:solidFill>
                <a:latin typeface="Arial"/>
              </a:rPr>
              <a:t>SITE DETAIL</a:t>
            </a:r>
          </a:p>
        </p:txBody>
      </p:sp>
      <p:sp>
        <p:nvSpPr>
          <p:cNvPr id="519" name="t520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Arial"/>
              </a:rPr>
              <a:t>Per-Site Scope Summary  ·  Wave 1 (original six)</a:t>
            </a:r>
          </a:p>
        </p:txBody>
      </p:sp>
      <p:sp>
        <p:nvSpPr>
          <p:cNvPr id="397" name="r398"/>
          <p:cNvSpPr/>
          <p:nvPr/>
        </p:nvSpPr>
        <p:spPr>
          <a:xfrm>
            <a:off x="548640" y="1417320"/>
            <a:ext cx="2370908" cy="628650"/>
          </a:xfrm>
          <a:prstGeom prst="rect">
            <a:avLst/>
          </a:prstGeom>
          <a:solidFill>
            <a:srgbClr val="071D49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399" name="t400"/>
          <p:cNvSpPr txBox="1"/>
          <p:nvPr/>
        </p:nvSpPr>
        <p:spPr>
          <a:xfrm>
            <a:off x="548640" y="1417320"/>
            <a:ext cx="2370908" cy="62865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Site</a:t>
            </a:r>
          </a:p>
        </p:txBody>
      </p:sp>
      <p:sp>
        <p:nvSpPr>
          <p:cNvPr id="401" name="r402"/>
          <p:cNvSpPr/>
          <p:nvPr/>
        </p:nvSpPr>
        <p:spPr>
          <a:xfrm>
            <a:off x="2919548" y="1417320"/>
            <a:ext cx="1422545" cy="628650"/>
          </a:xfrm>
          <a:prstGeom prst="rect">
            <a:avLst/>
          </a:prstGeom>
          <a:solidFill>
            <a:srgbClr val="071D49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03" name="t404"/>
          <p:cNvSpPr txBox="1"/>
          <p:nvPr/>
        </p:nvSpPr>
        <p:spPr>
          <a:xfrm>
            <a:off x="2919548" y="1417320"/>
            <a:ext cx="1422545" cy="62865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Pages (est.)</a:t>
            </a:r>
          </a:p>
        </p:txBody>
      </p:sp>
      <p:sp>
        <p:nvSpPr>
          <p:cNvPr id="405" name="r406"/>
          <p:cNvSpPr/>
          <p:nvPr/>
        </p:nvSpPr>
        <p:spPr>
          <a:xfrm>
            <a:off x="4342093" y="1417320"/>
            <a:ext cx="3793453" cy="628650"/>
          </a:xfrm>
          <a:prstGeom prst="rect">
            <a:avLst/>
          </a:prstGeom>
          <a:solidFill>
            <a:srgbClr val="071D49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07" name="t408"/>
          <p:cNvSpPr txBox="1"/>
          <p:nvPr/>
        </p:nvSpPr>
        <p:spPr>
          <a:xfrm>
            <a:off x="4342093" y="1417320"/>
            <a:ext cx="3793453" cy="62865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Key new blocks</a:t>
            </a:r>
          </a:p>
        </p:txBody>
      </p:sp>
      <p:sp>
        <p:nvSpPr>
          <p:cNvPr id="409" name="r410"/>
          <p:cNvSpPr/>
          <p:nvPr/>
        </p:nvSpPr>
        <p:spPr>
          <a:xfrm>
            <a:off x="8135546" y="1417320"/>
            <a:ext cx="3477332" cy="628650"/>
          </a:xfrm>
          <a:prstGeom prst="rect">
            <a:avLst/>
          </a:prstGeom>
          <a:solidFill>
            <a:srgbClr val="071D49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11" name="t412"/>
          <p:cNvSpPr txBox="1"/>
          <p:nvPr/>
        </p:nvSpPr>
        <p:spPr>
          <a:xfrm>
            <a:off x="8135546" y="1417320"/>
            <a:ext cx="3477332" cy="62865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Stand-out need</a:t>
            </a:r>
          </a:p>
        </p:txBody>
      </p:sp>
      <p:sp>
        <p:nvSpPr>
          <p:cNvPr id="413" name="r414"/>
          <p:cNvSpPr/>
          <p:nvPr/>
        </p:nvSpPr>
        <p:spPr>
          <a:xfrm>
            <a:off x="548640" y="2045970"/>
            <a:ext cx="237090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15" name="t416"/>
          <p:cNvSpPr txBox="1"/>
          <p:nvPr/>
        </p:nvSpPr>
        <p:spPr>
          <a:xfrm>
            <a:off x="548640" y="2045970"/>
            <a:ext cx="2370908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2B2B2B"/>
                </a:solidFill>
                <a:latin typeface="Arial"/>
              </a:rPr>
              <a:t>lupron.com</a:t>
            </a:r>
          </a:p>
        </p:txBody>
      </p:sp>
      <p:sp>
        <p:nvSpPr>
          <p:cNvPr id="417" name="r418"/>
          <p:cNvSpPr/>
          <p:nvPr/>
        </p:nvSpPr>
        <p:spPr>
          <a:xfrm>
            <a:off x="2919548" y="2045970"/>
            <a:ext cx="142254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19" name="t420"/>
          <p:cNvSpPr txBox="1"/>
          <p:nvPr/>
        </p:nvSpPr>
        <p:spPr>
          <a:xfrm>
            <a:off x="2919548" y="2045970"/>
            <a:ext cx="1422545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~18</a:t>
            </a:r>
          </a:p>
        </p:txBody>
      </p:sp>
      <p:sp>
        <p:nvSpPr>
          <p:cNvPr id="421" name="r422"/>
          <p:cNvSpPr/>
          <p:nvPr/>
        </p:nvSpPr>
        <p:spPr>
          <a:xfrm>
            <a:off x="4342093" y="2045970"/>
            <a:ext cx="3793453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23" name="t424"/>
          <p:cNvSpPr txBox="1"/>
          <p:nvPr/>
        </p:nvSpPr>
        <p:spPr>
          <a:xfrm>
            <a:off x="4342093" y="2045970"/>
            <a:ext cx="3793453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indication-selector, dosing-table</a:t>
            </a:r>
          </a:p>
        </p:txBody>
      </p:sp>
      <p:sp>
        <p:nvSpPr>
          <p:cNvPr id="425" name="r426"/>
          <p:cNvSpPr/>
          <p:nvPr/>
        </p:nvSpPr>
        <p:spPr>
          <a:xfrm>
            <a:off x="8135546" y="2045970"/>
            <a:ext cx="347733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27" name="t428"/>
          <p:cNvSpPr txBox="1"/>
          <p:nvPr/>
        </p:nvSpPr>
        <p:spPr>
          <a:xfrm>
            <a:off x="8135546" y="2045970"/>
            <a:ext cx="3477332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3-indication IA &amp; dosing</a:t>
            </a:r>
          </a:p>
        </p:txBody>
      </p:sp>
      <p:sp>
        <p:nvSpPr>
          <p:cNvPr id="429" name="r430"/>
          <p:cNvSpPr/>
          <p:nvPr/>
        </p:nvSpPr>
        <p:spPr>
          <a:xfrm>
            <a:off x="548640" y="2548890"/>
            <a:ext cx="2370908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31" name="t432"/>
          <p:cNvSpPr txBox="1"/>
          <p:nvPr/>
        </p:nvSpPr>
        <p:spPr>
          <a:xfrm>
            <a:off x="548640" y="2548890"/>
            <a:ext cx="2370908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2B2B2B"/>
                </a:solidFill>
                <a:latin typeface="Arial"/>
              </a:rPr>
              <a:t>lupronpedpro.com</a:t>
            </a:r>
          </a:p>
        </p:txBody>
      </p:sp>
      <p:sp>
        <p:nvSpPr>
          <p:cNvPr id="433" name="r434"/>
          <p:cNvSpPr/>
          <p:nvPr/>
        </p:nvSpPr>
        <p:spPr>
          <a:xfrm>
            <a:off x="2919548" y="2548890"/>
            <a:ext cx="1422545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35" name="t436"/>
          <p:cNvSpPr txBox="1"/>
          <p:nvPr/>
        </p:nvSpPr>
        <p:spPr>
          <a:xfrm>
            <a:off x="2919548" y="2548890"/>
            <a:ext cx="1422545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~8</a:t>
            </a:r>
          </a:p>
        </p:txBody>
      </p:sp>
      <p:sp>
        <p:nvSpPr>
          <p:cNvPr id="437" name="r438"/>
          <p:cNvSpPr/>
          <p:nvPr/>
        </p:nvSpPr>
        <p:spPr>
          <a:xfrm>
            <a:off x="4342093" y="2548890"/>
            <a:ext cx="3793453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39" name="t440"/>
          <p:cNvSpPr txBox="1"/>
          <p:nvPr/>
        </p:nvSpPr>
        <p:spPr>
          <a:xfrm>
            <a:off x="4342093" y="2548890"/>
            <a:ext cx="3793453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symptom-checklist, savings-card</a:t>
            </a:r>
          </a:p>
        </p:txBody>
      </p:sp>
      <p:sp>
        <p:nvSpPr>
          <p:cNvPr id="441" name="r442"/>
          <p:cNvSpPr/>
          <p:nvPr/>
        </p:nvSpPr>
        <p:spPr>
          <a:xfrm>
            <a:off x="8135546" y="2548890"/>
            <a:ext cx="3477332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43" name="t444"/>
          <p:cNvSpPr txBox="1"/>
          <p:nvPr/>
        </p:nvSpPr>
        <p:spPr>
          <a:xfrm>
            <a:off x="8135546" y="2548890"/>
            <a:ext cx="3477332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Caregiver journey + content export</a:t>
            </a:r>
          </a:p>
        </p:txBody>
      </p:sp>
      <p:sp>
        <p:nvSpPr>
          <p:cNvPr id="445" name="r446"/>
          <p:cNvSpPr/>
          <p:nvPr/>
        </p:nvSpPr>
        <p:spPr>
          <a:xfrm>
            <a:off x="548640" y="3051810"/>
            <a:ext cx="237090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47" name="t448"/>
          <p:cNvSpPr txBox="1"/>
          <p:nvPr/>
        </p:nvSpPr>
        <p:spPr>
          <a:xfrm>
            <a:off x="548640" y="3051810"/>
            <a:ext cx="2370908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2B2B2B"/>
                </a:solidFill>
                <a:latin typeface="Arial"/>
              </a:rPr>
              <a:t>armourthyroid.com</a:t>
            </a:r>
          </a:p>
        </p:txBody>
      </p:sp>
      <p:sp>
        <p:nvSpPr>
          <p:cNvPr id="449" name="r450"/>
          <p:cNvSpPr/>
          <p:nvPr/>
        </p:nvSpPr>
        <p:spPr>
          <a:xfrm>
            <a:off x="2919548" y="3051810"/>
            <a:ext cx="142254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51" name="t452"/>
          <p:cNvSpPr txBox="1"/>
          <p:nvPr/>
        </p:nvSpPr>
        <p:spPr>
          <a:xfrm>
            <a:off x="2919548" y="3051810"/>
            <a:ext cx="1422545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~8</a:t>
            </a:r>
          </a:p>
        </p:txBody>
      </p:sp>
      <p:sp>
        <p:nvSpPr>
          <p:cNvPr id="453" name="r454"/>
          <p:cNvSpPr/>
          <p:nvPr/>
        </p:nvSpPr>
        <p:spPr>
          <a:xfrm>
            <a:off x="4342093" y="3051810"/>
            <a:ext cx="3793453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55" name="t456"/>
          <p:cNvSpPr txBox="1"/>
          <p:nvPr/>
        </p:nvSpPr>
        <p:spPr>
          <a:xfrm>
            <a:off x="4342093" y="3051810"/>
            <a:ext cx="3793453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dosing-table, discussion-guide</a:t>
            </a:r>
          </a:p>
        </p:txBody>
      </p:sp>
      <p:sp>
        <p:nvSpPr>
          <p:cNvPr id="457" name="r458"/>
          <p:cNvSpPr/>
          <p:nvPr/>
        </p:nvSpPr>
        <p:spPr>
          <a:xfrm>
            <a:off x="8135546" y="3051810"/>
            <a:ext cx="347733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59" name="t460"/>
          <p:cNvSpPr txBox="1"/>
          <p:nvPr/>
        </p:nvSpPr>
        <p:spPr>
          <a:xfrm>
            <a:off x="8135546" y="3051810"/>
            <a:ext cx="3477332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SPA content extraction</a:t>
            </a:r>
          </a:p>
        </p:txBody>
      </p:sp>
      <p:sp>
        <p:nvSpPr>
          <p:cNvPr id="461" name="r462"/>
          <p:cNvSpPr/>
          <p:nvPr/>
        </p:nvSpPr>
        <p:spPr>
          <a:xfrm>
            <a:off x="548640" y="3554730"/>
            <a:ext cx="2370908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63" name="t464"/>
          <p:cNvSpPr txBox="1"/>
          <p:nvPr/>
        </p:nvSpPr>
        <p:spPr>
          <a:xfrm>
            <a:off x="548640" y="3554730"/>
            <a:ext cx="2370908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2B2B2B"/>
                </a:solidFill>
                <a:latin typeface="Arial"/>
              </a:rPr>
              <a:t>hypothyroidhub.com</a:t>
            </a:r>
          </a:p>
        </p:txBody>
      </p:sp>
      <p:sp>
        <p:nvSpPr>
          <p:cNvPr id="465" name="r466"/>
          <p:cNvSpPr/>
          <p:nvPr/>
        </p:nvSpPr>
        <p:spPr>
          <a:xfrm>
            <a:off x="2919548" y="3554730"/>
            <a:ext cx="1422545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67" name="t468"/>
          <p:cNvSpPr txBox="1"/>
          <p:nvPr/>
        </p:nvSpPr>
        <p:spPr>
          <a:xfrm>
            <a:off x="2919548" y="3554730"/>
            <a:ext cx="1422545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~9</a:t>
            </a:r>
          </a:p>
        </p:txBody>
      </p:sp>
      <p:sp>
        <p:nvSpPr>
          <p:cNvPr id="469" name="r470"/>
          <p:cNvSpPr/>
          <p:nvPr/>
        </p:nvSpPr>
        <p:spPr>
          <a:xfrm>
            <a:off x="4342093" y="3554730"/>
            <a:ext cx="3793453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71" name="t472"/>
          <p:cNvSpPr txBox="1"/>
          <p:nvPr/>
        </p:nvSpPr>
        <p:spPr>
          <a:xfrm>
            <a:off x="4342093" y="3554730"/>
            <a:ext cx="3793453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symptom-checker</a:t>
            </a:r>
          </a:p>
        </p:txBody>
      </p:sp>
      <p:sp>
        <p:nvSpPr>
          <p:cNvPr id="473" name="r474"/>
          <p:cNvSpPr/>
          <p:nvPr/>
        </p:nvSpPr>
        <p:spPr>
          <a:xfrm>
            <a:off x="8135546" y="3554730"/>
            <a:ext cx="3477332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75" name="t476"/>
          <p:cNvSpPr txBox="1"/>
          <p:nvPr/>
        </p:nvSpPr>
        <p:spPr>
          <a:xfrm>
            <a:off x="8135546" y="3554730"/>
            <a:ext cx="3477332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Scope discovery + interactive tool</a:t>
            </a:r>
          </a:p>
        </p:txBody>
      </p:sp>
      <p:sp>
        <p:nvSpPr>
          <p:cNvPr id="477" name="r478"/>
          <p:cNvSpPr/>
          <p:nvPr/>
        </p:nvSpPr>
        <p:spPr>
          <a:xfrm>
            <a:off x="548640" y="4057650"/>
            <a:ext cx="2370908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79" name="t480"/>
          <p:cNvSpPr txBox="1"/>
          <p:nvPr/>
        </p:nvSpPr>
        <p:spPr>
          <a:xfrm>
            <a:off x="548640" y="4057650"/>
            <a:ext cx="2370908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2B2B2B"/>
                </a:solidFill>
                <a:latin typeface="Arial"/>
              </a:rPr>
              <a:t>liletta.com</a:t>
            </a:r>
          </a:p>
        </p:txBody>
      </p:sp>
      <p:sp>
        <p:nvSpPr>
          <p:cNvPr id="481" name="r482"/>
          <p:cNvSpPr/>
          <p:nvPr/>
        </p:nvSpPr>
        <p:spPr>
          <a:xfrm>
            <a:off x="2919548" y="4057650"/>
            <a:ext cx="142254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83" name="t484"/>
          <p:cNvSpPr txBox="1"/>
          <p:nvPr/>
        </p:nvSpPr>
        <p:spPr>
          <a:xfrm>
            <a:off x="2919548" y="4057650"/>
            <a:ext cx="1422545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~20</a:t>
            </a:r>
          </a:p>
        </p:txBody>
      </p:sp>
      <p:sp>
        <p:nvSpPr>
          <p:cNvPr id="485" name="r486"/>
          <p:cNvSpPr/>
          <p:nvPr/>
        </p:nvSpPr>
        <p:spPr>
          <a:xfrm>
            <a:off x="4342093" y="4057650"/>
            <a:ext cx="3793453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87" name="t488"/>
          <p:cNvSpPr txBox="1"/>
          <p:nvPr/>
        </p:nvSpPr>
        <p:spPr>
          <a:xfrm>
            <a:off x="4342093" y="4057650"/>
            <a:ext cx="3793453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quiz, comparison-table, email-share</a:t>
            </a:r>
          </a:p>
        </p:txBody>
      </p:sp>
      <p:sp>
        <p:nvSpPr>
          <p:cNvPr id="489" name="r490"/>
          <p:cNvSpPr/>
          <p:nvPr/>
        </p:nvSpPr>
        <p:spPr>
          <a:xfrm>
            <a:off x="8135546" y="4057650"/>
            <a:ext cx="347733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91" name="t492"/>
          <p:cNvSpPr txBox="1"/>
          <p:nvPr/>
        </p:nvSpPr>
        <p:spPr>
          <a:xfrm>
            <a:off x="8135546" y="4057650"/>
            <a:ext cx="3477332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Most net-new + GSAP motion</a:t>
            </a:r>
          </a:p>
        </p:txBody>
      </p:sp>
      <p:sp>
        <p:nvSpPr>
          <p:cNvPr id="493" name="r494"/>
          <p:cNvSpPr/>
          <p:nvPr/>
        </p:nvSpPr>
        <p:spPr>
          <a:xfrm>
            <a:off x="548640" y="4560570"/>
            <a:ext cx="2370908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95" name="t496"/>
          <p:cNvSpPr txBox="1"/>
          <p:nvPr/>
        </p:nvSpPr>
        <p:spPr>
          <a:xfrm>
            <a:off x="548640" y="4560570"/>
            <a:ext cx="2370908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2B2B2B"/>
                </a:solidFill>
                <a:latin typeface="Arial"/>
              </a:rPr>
              <a:t>lilettahcp.com</a:t>
            </a:r>
          </a:p>
        </p:txBody>
      </p:sp>
      <p:sp>
        <p:nvSpPr>
          <p:cNvPr id="497" name="r498"/>
          <p:cNvSpPr/>
          <p:nvPr/>
        </p:nvSpPr>
        <p:spPr>
          <a:xfrm>
            <a:off x="2919548" y="4560570"/>
            <a:ext cx="1422545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499" name="t500"/>
          <p:cNvSpPr txBox="1"/>
          <p:nvPr/>
        </p:nvSpPr>
        <p:spPr>
          <a:xfrm>
            <a:off x="2919548" y="4560570"/>
            <a:ext cx="1422545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~9</a:t>
            </a:r>
          </a:p>
        </p:txBody>
      </p:sp>
      <p:sp>
        <p:nvSpPr>
          <p:cNvPr id="501" name="r502"/>
          <p:cNvSpPr/>
          <p:nvPr/>
        </p:nvSpPr>
        <p:spPr>
          <a:xfrm>
            <a:off x="4342093" y="4560570"/>
            <a:ext cx="3793453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503" name="t504"/>
          <p:cNvSpPr txBox="1"/>
          <p:nvPr/>
        </p:nvSpPr>
        <p:spPr>
          <a:xfrm>
            <a:off x="4342093" y="4560570"/>
            <a:ext cx="3793453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clinical-data-table, rep-request-form, video-embed</a:t>
            </a:r>
          </a:p>
        </p:txBody>
      </p:sp>
      <p:sp>
        <p:nvSpPr>
          <p:cNvPr id="505" name="r506"/>
          <p:cNvSpPr/>
          <p:nvPr/>
        </p:nvSpPr>
        <p:spPr>
          <a:xfrm>
            <a:off x="8135546" y="4560570"/>
            <a:ext cx="3477332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507" name="t508"/>
          <p:cNvSpPr txBox="1"/>
          <p:nvPr/>
        </p:nvSpPr>
        <p:spPr>
          <a:xfrm>
            <a:off x="8135546" y="4560570"/>
            <a:ext cx="3477332" cy="50292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Clinical data + CRM form</a:t>
            </a:r>
          </a:p>
        </p:txBody>
      </p:sp>
      <p:sp>
        <p:nvSpPr>
          <p:cNvPr id="509" name="t510"/>
          <p:cNvSpPr txBox="1"/>
          <p:nvPr/>
        </p:nvSpPr>
        <p:spPr>
          <a:xfrm>
            <a:off x="548640" y="5349240"/>
            <a:ext cx="10972800" cy="4572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1">
                <a:solidFill>
                  <a:srgbClr val="071D49"/>
                </a:solidFill>
                <a:latin typeface="Arial"/>
              </a:rPr>
              <a:t>Interactive blocks (quiz, symptom-checker, clinical-data-table, lead forms) carry the most build, accessibility and integration effort.</a:t>
            </a:r>
          </a:p>
        </p:txBody>
      </p:sp>
      <p:sp>
        <p:nvSpPr>
          <p:cNvPr id="521" name="t522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5A5A5A"/>
                </a:solidFill>
                <a:latin typeface="Arial"/>
              </a:rPr>
              <a:t>AbbVie Pharma Portfolio → AEM Edge Delivery Services  |  Confidential – Client Proposal</a:t>
            </a:r>
          </a:p>
        </p:txBody>
      </p:sp>
      <p:sp>
        <p:nvSpPr>
          <p:cNvPr id="523" name="t524"/>
          <p:cNvSpPr txBox="1"/>
          <p:nvPr/>
        </p:nvSpPr>
        <p:spPr>
          <a:xfrm>
            <a:off x="10058400" y="5989320"/>
            <a:ext cx="173736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r">
              <a:spcAft>
                <a:spcPts val="0"/>
              </a:spcAft>
              <a:buNone/>
            </a:pPr>
            <a:r>
              <a:rPr lang="en-US" sz="1000" b="1">
                <a:solidFill>
                  <a:srgbClr val="071D49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r5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13" name="r514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71D49"/>
          </a:solidFill>
          <a:ln>
            <a:noFill/>
          </a:ln>
        </p:spPr>
        <p:txBody>
          <a:bodyPr/>
          <a:lstStyle/>
          <a:p/>
        </p:txBody>
      </p:sp>
      <p:sp>
        <p:nvSpPr>
          <p:cNvPr id="515" name="r516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517" name="t518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E8553D"/>
                </a:solidFill>
                <a:latin typeface="Arial"/>
              </a:rPr>
              <a:t>SITE DETAIL</a:t>
            </a:r>
          </a:p>
        </p:txBody>
      </p:sp>
      <p:sp>
        <p:nvSpPr>
          <p:cNvPr id="519" name="t520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Arial"/>
              </a:rPr>
              <a:t>Per-Site Scope  ·  Wave 2 (twelve new sites)</a:t>
            </a:r>
          </a:p>
        </p:txBody>
      </p:sp>
      <p:sp>
        <p:nvSpPr>
          <p:cNvPr id="1132" name="r1132"/>
          <p:cNvSpPr/>
          <p:nvPr/>
        </p:nvSpPr>
        <p:spPr>
          <a:xfrm>
            <a:off x="548640" y="1440000"/>
            <a:ext cx="2370908" cy="330000"/>
          </a:xfrm>
          <a:prstGeom prst="rect">
            <a:avLst/>
          </a:prstGeom>
          <a:solidFill>
            <a:srgbClr val="071D49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33" name="t1133"/>
          <p:cNvSpPr txBox="1"/>
          <p:nvPr/>
        </p:nvSpPr>
        <p:spPr>
          <a:xfrm>
            <a:off x="548640" y="1440000"/>
            <a:ext cx="2370908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FFFFFF"/>
                </a:solidFill>
                <a:latin typeface="Arial"/>
              </a:rPr>
              <a:t>Site</a:t>
            </a:r>
          </a:p>
        </p:txBody>
      </p:sp>
      <p:sp>
        <p:nvSpPr>
          <p:cNvPr id="1134" name="r1134"/>
          <p:cNvSpPr/>
          <p:nvPr/>
        </p:nvSpPr>
        <p:spPr>
          <a:xfrm>
            <a:off x="2919548" y="1440000"/>
            <a:ext cx="1422545" cy="330000"/>
          </a:xfrm>
          <a:prstGeom prst="rect">
            <a:avLst/>
          </a:prstGeom>
          <a:solidFill>
            <a:srgbClr val="071D49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35" name="t1135"/>
          <p:cNvSpPr txBox="1"/>
          <p:nvPr/>
        </p:nvSpPr>
        <p:spPr>
          <a:xfrm>
            <a:off x="2919548" y="1440000"/>
            <a:ext cx="1422545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FFFFFF"/>
                </a:solidFill>
                <a:latin typeface="Arial"/>
              </a:rPr>
              <a:t>Pages (est.)</a:t>
            </a:r>
          </a:p>
        </p:txBody>
      </p:sp>
      <p:sp>
        <p:nvSpPr>
          <p:cNvPr id="1136" name="r1136"/>
          <p:cNvSpPr/>
          <p:nvPr/>
        </p:nvSpPr>
        <p:spPr>
          <a:xfrm>
            <a:off x="4342093" y="1440000"/>
            <a:ext cx="3793453" cy="330000"/>
          </a:xfrm>
          <a:prstGeom prst="rect">
            <a:avLst/>
          </a:prstGeom>
          <a:solidFill>
            <a:srgbClr val="071D49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37" name="t1137"/>
          <p:cNvSpPr txBox="1"/>
          <p:nvPr/>
        </p:nvSpPr>
        <p:spPr>
          <a:xfrm>
            <a:off x="4342093" y="1440000"/>
            <a:ext cx="3793453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FFFFFF"/>
                </a:solidFill>
                <a:latin typeface="Arial"/>
              </a:rPr>
              <a:t>Key new blocks</a:t>
            </a:r>
          </a:p>
        </p:txBody>
      </p:sp>
      <p:sp>
        <p:nvSpPr>
          <p:cNvPr id="1138" name="r1138"/>
          <p:cNvSpPr/>
          <p:nvPr/>
        </p:nvSpPr>
        <p:spPr>
          <a:xfrm>
            <a:off x="8135546" y="1440000"/>
            <a:ext cx="3477332" cy="330000"/>
          </a:xfrm>
          <a:prstGeom prst="rect">
            <a:avLst/>
          </a:prstGeom>
          <a:solidFill>
            <a:srgbClr val="071D49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39" name="t1139"/>
          <p:cNvSpPr txBox="1"/>
          <p:nvPr/>
        </p:nvSpPr>
        <p:spPr>
          <a:xfrm>
            <a:off x="8135546" y="1440000"/>
            <a:ext cx="3477332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FFFFFF"/>
                </a:solidFill>
                <a:latin typeface="Arial"/>
              </a:rPr>
              <a:t>Stand-out need</a:t>
            </a:r>
          </a:p>
        </p:txBody>
      </p:sp>
      <p:sp>
        <p:nvSpPr>
          <p:cNvPr id="1140" name="r1140"/>
          <p:cNvSpPr/>
          <p:nvPr/>
        </p:nvSpPr>
        <p:spPr>
          <a:xfrm>
            <a:off x="548640" y="1770000"/>
            <a:ext cx="2370908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41" name="t1141"/>
          <p:cNvSpPr txBox="1"/>
          <p:nvPr/>
        </p:nvSpPr>
        <p:spPr>
          <a:xfrm>
            <a:off x="548640" y="1770000"/>
            <a:ext cx="2370908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1">
                <a:solidFill>
                  <a:srgbClr val="2B2B2B"/>
                </a:solidFill>
                <a:latin typeface="Arial"/>
              </a:rPr>
              <a:t>viberzihcp.com</a:t>
            </a:r>
          </a:p>
        </p:txBody>
      </p:sp>
      <p:sp>
        <p:nvSpPr>
          <p:cNvPr id="1142" name="r1142"/>
          <p:cNvSpPr/>
          <p:nvPr/>
        </p:nvSpPr>
        <p:spPr>
          <a:xfrm>
            <a:off x="2919548" y="1770000"/>
            <a:ext cx="1422545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43" name="t1143"/>
          <p:cNvSpPr txBox="1"/>
          <p:nvPr/>
        </p:nvSpPr>
        <p:spPr>
          <a:xfrm>
            <a:off x="2919548" y="1770000"/>
            <a:ext cx="1422545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2B2B2B"/>
                </a:solidFill>
                <a:latin typeface="Arial"/>
              </a:rPr>
              <a:t>~14</a:t>
            </a:r>
          </a:p>
        </p:txBody>
      </p:sp>
      <p:sp>
        <p:nvSpPr>
          <p:cNvPr id="1144" name="r1144"/>
          <p:cNvSpPr/>
          <p:nvPr/>
        </p:nvSpPr>
        <p:spPr>
          <a:xfrm>
            <a:off x="4342093" y="1770000"/>
            <a:ext cx="3793453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45" name="t1145"/>
          <p:cNvSpPr txBox="1"/>
          <p:nvPr/>
        </p:nvSpPr>
        <p:spPr>
          <a:xfrm>
            <a:off x="4342093" y="1770000"/>
            <a:ext cx="3793453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2B2B2B"/>
                </a:solidFill>
                <a:latin typeface="Arial"/>
              </a:rPr>
              <a:t>clinical-data-table, dosing-table, video-embed</a:t>
            </a:r>
          </a:p>
        </p:txBody>
      </p:sp>
      <p:sp>
        <p:nvSpPr>
          <p:cNvPr id="1146" name="r1146"/>
          <p:cNvSpPr/>
          <p:nvPr/>
        </p:nvSpPr>
        <p:spPr>
          <a:xfrm>
            <a:off x="8135546" y="1770000"/>
            <a:ext cx="3477332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47" name="t1147"/>
          <p:cNvSpPr txBox="1"/>
          <p:nvPr/>
        </p:nvSpPr>
        <p:spPr>
          <a:xfrm>
            <a:off x="8135546" y="1770000"/>
            <a:ext cx="3477332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2B2B2B"/>
                </a:solidFill>
                <a:latin typeface="Arial"/>
              </a:rPr>
              <a:t>HCP gate + clinical/dosing</a:t>
            </a:r>
          </a:p>
        </p:txBody>
      </p:sp>
      <p:sp>
        <p:nvSpPr>
          <p:cNvPr id="1148" name="r1148"/>
          <p:cNvSpPr/>
          <p:nvPr/>
        </p:nvSpPr>
        <p:spPr>
          <a:xfrm>
            <a:off x="548640" y="2100000"/>
            <a:ext cx="2370908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49" name="t1149"/>
          <p:cNvSpPr txBox="1"/>
          <p:nvPr/>
        </p:nvSpPr>
        <p:spPr>
          <a:xfrm>
            <a:off x="548640" y="2100000"/>
            <a:ext cx="2370908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1">
                <a:solidFill>
                  <a:srgbClr val="2B2B2B"/>
                </a:solidFill>
                <a:latin typeface="Arial"/>
              </a:rPr>
              <a:t>teflaro.com</a:t>
            </a:r>
          </a:p>
        </p:txBody>
      </p:sp>
      <p:sp>
        <p:nvSpPr>
          <p:cNvPr id="1150" name="r1150"/>
          <p:cNvSpPr/>
          <p:nvPr/>
        </p:nvSpPr>
        <p:spPr>
          <a:xfrm>
            <a:off x="2919548" y="2100000"/>
            <a:ext cx="1422545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51" name="t1151"/>
          <p:cNvSpPr txBox="1"/>
          <p:nvPr/>
        </p:nvSpPr>
        <p:spPr>
          <a:xfrm>
            <a:off x="2919548" y="2100000"/>
            <a:ext cx="1422545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2B2B2B"/>
                </a:solidFill>
                <a:latin typeface="Arial"/>
              </a:rPr>
              <a:t>~20</a:t>
            </a:r>
          </a:p>
        </p:txBody>
      </p:sp>
      <p:sp>
        <p:nvSpPr>
          <p:cNvPr id="1152" name="r1152"/>
          <p:cNvSpPr/>
          <p:nvPr/>
        </p:nvSpPr>
        <p:spPr>
          <a:xfrm>
            <a:off x="4342093" y="2100000"/>
            <a:ext cx="3793453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53" name="t1153"/>
          <p:cNvSpPr txBox="1"/>
          <p:nvPr/>
        </p:nvSpPr>
        <p:spPr>
          <a:xfrm>
            <a:off x="4342093" y="2100000"/>
            <a:ext cx="3793453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2B2B2B"/>
                </a:solidFill>
                <a:latin typeface="Arial"/>
              </a:rPr>
              <a:t>dosing-table, clinical-data-table, comparison-table</a:t>
            </a:r>
          </a:p>
        </p:txBody>
      </p:sp>
      <p:sp>
        <p:nvSpPr>
          <p:cNvPr id="1154" name="r1154"/>
          <p:cNvSpPr/>
          <p:nvPr/>
        </p:nvSpPr>
        <p:spPr>
          <a:xfrm>
            <a:off x="8135546" y="2100000"/>
            <a:ext cx="3477332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55" name="t1155"/>
          <p:cNvSpPr txBox="1"/>
          <p:nvPr/>
        </p:nvSpPr>
        <p:spPr>
          <a:xfrm>
            <a:off x="8135546" y="2100000"/>
            <a:ext cx="3477332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2B2B2B"/>
                </a:solidFill>
                <a:latin typeface="Arial"/>
              </a:rPr>
              <a:t>Adult/peds × ABSSSI/CABP matrix</a:t>
            </a:r>
          </a:p>
        </p:txBody>
      </p:sp>
      <p:sp>
        <p:nvSpPr>
          <p:cNvPr id="1156" name="r1156"/>
          <p:cNvSpPr/>
          <p:nvPr/>
        </p:nvSpPr>
        <p:spPr>
          <a:xfrm>
            <a:off x="548640" y="2430000"/>
            <a:ext cx="2370908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57" name="t1157"/>
          <p:cNvSpPr txBox="1"/>
          <p:nvPr/>
        </p:nvSpPr>
        <p:spPr>
          <a:xfrm>
            <a:off x="548640" y="2430000"/>
            <a:ext cx="2370908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1">
                <a:solidFill>
                  <a:srgbClr val="2B2B2B"/>
                </a:solidFill>
                <a:latin typeface="Arial"/>
              </a:rPr>
              <a:t>xengelstent.com</a:t>
            </a:r>
          </a:p>
        </p:txBody>
      </p:sp>
      <p:sp>
        <p:nvSpPr>
          <p:cNvPr id="1158" name="r1158"/>
          <p:cNvSpPr/>
          <p:nvPr/>
        </p:nvSpPr>
        <p:spPr>
          <a:xfrm>
            <a:off x="2919548" y="2430000"/>
            <a:ext cx="1422545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59" name="t1159"/>
          <p:cNvSpPr txBox="1"/>
          <p:nvPr/>
        </p:nvSpPr>
        <p:spPr>
          <a:xfrm>
            <a:off x="2919548" y="2430000"/>
            <a:ext cx="1422545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2B2B2B"/>
                </a:solidFill>
                <a:latin typeface="Arial"/>
              </a:rPr>
              <a:t>4</a:t>
            </a:r>
          </a:p>
        </p:txBody>
      </p:sp>
      <p:sp>
        <p:nvSpPr>
          <p:cNvPr id="1160" name="r1160"/>
          <p:cNvSpPr/>
          <p:nvPr/>
        </p:nvSpPr>
        <p:spPr>
          <a:xfrm>
            <a:off x="4342093" y="2430000"/>
            <a:ext cx="3793453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61" name="t1161"/>
          <p:cNvSpPr txBox="1"/>
          <p:nvPr/>
        </p:nvSpPr>
        <p:spPr>
          <a:xfrm>
            <a:off x="4342093" y="2430000"/>
            <a:ext cx="3793453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2B2B2B"/>
                </a:solidFill>
                <a:latin typeface="Arial"/>
              </a:rPr>
              <a:t>video-embed, locator-map *</a:t>
            </a:r>
          </a:p>
        </p:txBody>
      </p:sp>
      <p:sp>
        <p:nvSpPr>
          <p:cNvPr id="1162" name="r1162"/>
          <p:cNvSpPr/>
          <p:nvPr/>
        </p:nvSpPr>
        <p:spPr>
          <a:xfrm>
            <a:off x="8135546" y="2430000"/>
            <a:ext cx="3477332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63" name="t1163"/>
          <p:cNvSpPr txBox="1"/>
          <p:nvPr/>
        </p:nvSpPr>
        <p:spPr>
          <a:xfrm>
            <a:off x="8135546" y="2430000"/>
            <a:ext cx="3477332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2B2B2B"/>
                </a:solidFill>
                <a:latin typeface="Arial"/>
              </a:rPr>
              <a:t>Device DFU; low-vision a11y</a:t>
            </a:r>
          </a:p>
        </p:txBody>
      </p:sp>
      <p:sp>
        <p:nvSpPr>
          <p:cNvPr id="1164" name="r1164"/>
          <p:cNvSpPr/>
          <p:nvPr/>
        </p:nvSpPr>
        <p:spPr>
          <a:xfrm>
            <a:off x="548640" y="2760000"/>
            <a:ext cx="2370908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65" name="t1165"/>
          <p:cNvSpPr txBox="1"/>
          <p:nvPr/>
        </p:nvSpPr>
        <p:spPr>
          <a:xfrm>
            <a:off x="548640" y="2760000"/>
            <a:ext cx="2370908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1">
                <a:solidFill>
                  <a:srgbClr val="2B2B2B"/>
                </a:solidFill>
                <a:latin typeface="Arial"/>
              </a:rPr>
              <a:t>myglaucoma.com</a:t>
            </a:r>
          </a:p>
        </p:txBody>
      </p:sp>
      <p:sp>
        <p:nvSpPr>
          <p:cNvPr id="1166" name="r1166"/>
          <p:cNvSpPr/>
          <p:nvPr/>
        </p:nvSpPr>
        <p:spPr>
          <a:xfrm>
            <a:off x="2919548" y="2760000"/>
            <a:ext cx="1422545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67" name="t1167"/>
          <p:cNvSpPr txBox="1"/>
          <p:nvPr/>
        </p:nvSpPr>
        <p:spPr>
          <a:xfrm>
            <a:off x="2919548" y="2760000"/>
            <a:ext cx="1422545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2B2B2B"/>
                </a:solidFill>
                <a:latin typeface="Arial"/>
              </a:rPr>
              <a:t>~8</a:t>
            </a:r>
          </a:p>
        </p:txBody>
      </p:sp>
      <p:sp>
        <p:nvSpPr>
          <p:cNvPr id="1168" name="r1168"/>
          <p:cNvSpPr/>
          <p:nvPr/>
        </p:nvSpPr>
        <p:spPr>
          <a:xfrm>
            <a:off x="4342093" y="2760000"/>
            <a:ext cx="3793453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69" name="t1169"/>
          <p:cNvSpPr txBox="1"/>
          <p:nvPr/>
        </p:nvSpPr>
        <p:spPr>
          <a:xfrm>
            <a:off x="4342093" y="2760000"/>
            <a:ext cx="3793453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2B2B2B"/>
                </a:solidFill>
                <a:latin typeface="Arial"/>
              </a:rPr>
              <a:t>risk-assessment (quiz), video-embed</a:t>
            </a:r>
          </a:p>
        </p:txBody>
      </p:sp>
      <p:sp>
        <p:nvSpPr>
          <p:cNvPr id="1170" name="r1170"/>
          <p:cNvSpPr/>
          <p:nvPr/>
        </p:nvSpPr>
        <p:spPr>
          <a:xfrm>
            <a:off x="8135546" y="2760000"/>
            <a:ext cx="3477332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71" name="t1171"/>
          <p:cNvSpPr txBox="1"/>
          <p:nvPr/>
        </p:nvSpPr>
        <p:spPr>
          <a:xfrm>
            <a:off x="8135546" y="2760000"/>
            <a:ext cx="3477332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2B2B2B"/>
                </a:solidFill>
                <a:latin typeface="Arial"/>
              </a:rPr>
              <a:t>Unbranded; scrapeable; quiz</a:t>
            </a:r>
          </a:p>
        </p:txBody>
      </p:sp>
      <p:sp>
        <p:nvSpPr>
          <p:cNvPr id="1172" name="r1172"/>
          <p:cNvSpPr/>
          <p:nvPr/>
        </p:nvSpPr>
        <p:spPr>
          <a:xfrm>
            <a:off x="548640" y="3090000"/>
            <a:ext cx="2370908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73" name="t1173"/>
          <p:cNvSpPr txBox="1"/>
          <p:nvPr/>
        </p:nvSpPr>
        <p:spPr>
          <a:xfrm>
            <a:off x="548640" y="3090000"/>
            <a:ext cx="2370908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1">
                <a:solidFill>
                  <a:srgbClr val="2B2B2B"/>
                </a:solidFill>
                <a:latin typeface="Arial"/>
              </a:rPr>
              <a:t>restasis.com</a:t>
            </a:r>
          </a:p>
        </p:txBody>
      </p:sp>
      <p:sp>
        <p:nvSpPr>
          <p:cNvPr id="1174" name="r1174"/>
          <p:cNvSpPr/>
          <p:nvPr/>
        </p:nvSpPr>
        <p:spPr>
          <a:xfrm>
            <a:off x="2919548" y="3090000"/>
            <a:ext cx="1422545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75" name="t1175"/>
          <p:cNvSpPr txBox="1"/>
          <p:nvPr/>
        </p:nvSpPr>
        <p:spPr>
          <a:xfrm>
            <a:off x="2919548" y="3090000"/>
            <a:ext cx="1422545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2B2B2B"/>
                </a:solidFill>
                <a:latin typeface="Arial"/>
              </a:rPr>
              <a:t>~14</a:t>
            </a:r>
          </a:p>
        </p:txBody>
      </p:sp>
      <p:sp>
        <p:nvSpPr>
          <p:cNvPr id="1176" name="r1176"/>
          <p:cNvSpPr/>
          <p:nvPr/>
        </p:nvSpPr>
        <p:spPr>
          <a:xfrm>
            <a:off x="4342093" y="3090000"/>
            <a:ext cx="3793453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77" name="t1177"/>
          <p:cNvSpPr txBox="1"/>
          <p:nvPr/>
        </p:nvSpPr>
        <p:spPr>
          <a:xfrm>
            <a:off x="4342093" y="3090000"/>
            <a:ext cx="3793453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2B2B2B"/>
                </a:solidFill>
                <a:latin typeface="Arial"/>
              </a:rPr>
              <a:t>clinical-data-table, comparison-table</a:t>
            </a:r>
          </a:p>
        </p:txBody>
      </p:sp>
      <p:sp>
        <p:nvSpPr>
          <p:cNvPr id="1178" name="r1178"/>
          <p:cNvSpPr/>
          <p:nvPr/>
        </p:nvSpPr>
        <p:spPr>
          <a:xfrm>
            <a:off x="8135546" y="3090000"/>
            <a:ext cx="3477332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79" name="t1179"/>
          <p:cNvSpPr txBox="1"/>
          <p:nvPr/>
        </p:nvSpPr>
        <p:spPr>
          <a:xfrm>
            <a:off x="8135546" y="3090000"/>
            <a:ext cx="3477332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2B2B2B"/>
                </a:solidFill>
                <a:latin typeface="Arial"/>
              </a:rPr>
              <a:t>Multi-step savings flow</a:t>
            </a:r>
          </a:p>
        </p:txBody>
      </p:sp>
      <p:sp>
        <p:nvSpPr>
          <p:cNvPr id="1180" name="r1180"/>
          <p:cNvSpPr/>
          <p:nvPr/>
        </p:nvSpPr>
        <p:spPr>
          <a:xfrm>
            <a:off x="548640" y="3420000"/>
            <a:ext cx="2370908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81" name="t1181"/>
          <p:cNvSpPr txBox="1"/>
          <p:nvPr/>
        </p:nvSpPr>
        <p:spPr>
          <a:xfrm>
            <a:off x="548640" y="3420000"/>
            <a:ext cx="2370908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1">
                <a:solidFill>
                  <a:srgbClr val="2B2B2B"/>
                </a:solidFill>
                <a:latin typeface="Arial"/>
              </a:rPr>
              <a:t>bystolic.com</a:t>
            </a:r>
          </a:p>
        </p:txBody>
      </p:sp>
      <p:sp>
        <p:nvSpPr>
          <p:cNvPr id="1182" name="r1182"/>
          <p:cNvSpPr/>
          <p:nvPr/>
        </p:nvSpPr>
        <p:spPr>
          <a:xfrm>
            <a:off x="2919548" y="3420000"/>
            <a:ext cx="1422545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83" name="t1183"/>
          <p:cNvSpPr txBox="1"/>
          <p:nvPr/>
        </p:nvSpPr>
        <p:spPr>
          <a:xfrm>
            <a:off x="2919548" y="3420000"/>
            <a:ext cx="1422545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2B2B2B"/>
                </a:solidFill>
                <a:latin typeface="Arial"/>
              </a:rPr>
              <a:t>~12</a:t>
            </a:r>
          </a:p>
        </p:txBody>
      </p:sp>
      <p:sp>
        <p:nvSpPr>
          <p:cNvPr id="1184" name="r1184"/>
          <p:cNvSpPr/>
          <p:nvPr/>
        </p:nvSpPr>
        <p:spPr>
          <a:xfrm>
            <a:off x="4342093" y="3420000"/>
            <a:ext cx="3793453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85" name="t1185"/>
          <p:cNvSpPr txBox="1"/>
          <p:nvPr/>
        </p:nvSpPr>
        <p:spPr>
          <a:xfrm>
            <a:off x="4342093" y="3420000"/>
            <a:ext cx="3793453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2B2B2B"/>
                </a:solidFill>
                <a:latin typeface="Arial"/>
              </a:rPr>
              <a:t>all shared — no bespoke block</a:t>
            </a:r>
          </a:p>
        </p:txBody>
      </p:sp>
      <p:sp>
        <p:nvSpPr>
          <p:cNvPr id="1186" name="r1186"/>
          <p:cNvSpPr/>
          <p:nvPr/>
        </p:nvSpPr>
        <p:spPr>
          <a:xfrm>
            <a:off x="8135546" y="3420000"/>
            <a:ext cx="3477332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87" name="t1187"/>
          <p:cNvSpPr txBox="1"/>
          <p:nvPr/>
        </p:nvSpPr>
        <p:spPr>
          <a:xfrm>
            <a:off x="8135546" y="3420000"/>
            <a:ext cx="3477332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2B2B2B"/>
                </a:solidFill>
                <a:latin typeface="Arial"/>
              </a:rPr>
              <a:t>Scrapeable; full reuse</a:t>
            </a:r>
          </a:p>
        </p:txBody>
      </p:sp>
      <p:sp>
        <p:nvSpPr>
          <p:cNvPr id="1188" name="r1188"/>
          <p:cNvSpPr/>
          <p:nvPr/>
        </p:nvSpPr>
        <p:spPr>
          <a:xfrm>
            <a:off x="548640" y="3750000"/>
            <a:ext cx="2370908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89" name="t1189"/>
          <p:cNvSpPr txBox="1"/>
          <p:nvPr/>
        </p:nvSpPr>
        <p:spPr>
          <a:xfrm>
            <a:off x="548640" y="3750000"/>
            <a:ext cx="2370908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1">
                <a:solidFill>
                  <a:srgbClr val="2B2B2B"/>
                </a:solidFill>
                <a:latin typeface="Arial"/>
              </a:rPr>
              <a:t>viibryd.com</a:t>
            </a:r>
          </a:p>
        </p:txBody>
      </p:sp>
      <p:sp>
        <p:nvSpPr>
          <p:cNvPr id="1190" name="r1190"/>
          <p:cNvSpPr/>
          <p:nvPr/>
        </p:nvSpPr>
        <p:spPr>
          <a:xfrm>
            <a:off x="2919548" y="3750000"/>
            <a:ext cx="1422545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91" name="t1191"/>
          <p:cNvSpPr txBox="1"/>
          <p:nvPr/>
        </p:nvSpPr>
        <p:spPr>
          <a:xfrm>
            <a:off x="2919548" y="3750000"/>
            <a:ext cx="1422545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2B2B2B"/>
                </a:solidFill>
                <a:latin typeface="Arial"/>
              </a:rPr>
              <a:t>~12</a:t>
            </a:r>
          </a:p>
        </p:txBody>
      </p:sp>
      <p:sp>
        <p:nvSpPr>
          <p:cNvPr id="1192" name="r1192"/>
          <p:cNvSpPr/>
          <p:nvPr/>
        </p:nvSpPr>
        <p:spPr>
          <a:xfrm>
            <a:off x="4342093" y="3750000"/>
            <a:ext cx="3793453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93" name="t1193"/>
          <p:cNvSpPr txBox="1"/>
          <p:nvPr/>
        </p:nvSpPr>
        <p:spPr>
          <a:xfrm>
            <a:off x="4342093" y="3750000"/>
            <a:ext cx="3793453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2B2B2B"/>
                </a:solidFill>
                <a:latin typeface="Arial"/>
              </a:rPr>
              <a:t>all shared — no bespoke block</a:t>
            </a:r>
          </a:p>
        </p:txBody>
      </p:sp>
      <p:sp>
        <p:nvSpPr>
          <p:cNvPr id="1194" name="r1194"/>
          <p:cNvSpPr/>
          <p:nvPr/>
        </p:nvSpPr>
        <p:spPr>
          <a:xfrm>
            <a:off x="8135546" y="3750000"/>
            <a:ext cx="3477332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95" name="t1195"/>
          <p:cNvSpPr txBox="1"/>
          <p:nvPr/>
        </p:nvSpPr>
        <p:spPr>
          <a:xfrm>
            <a:off x="8135546" y="3750000"/>
            <a:ext cx="3477332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2B2B2B"/>
                </a:solidFill>
                <a:latin typeface="Arial"/>
              </a:rPr>
              <a:t>Boxed warning; legacy .aspx</a:t>
            </a:r>
          </a:p>
        </p:txBody>
      </p:sp>
      <p:sp>
        <p:nvSpPr>
          <p:cNvPr id="1196" name="r1196"/>
          <p:cNvSpPr/>
          <p:nvPr/>
        </p:nvSpPr>
        <p:spPr>
          <a:xfrm>
            <a:off x="548640" y="4080000"/>
            <a:ext cx="2370908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97" name="t1197"/>
          <p:cNvSpPr txBox="1"/>
          <p:nvPr/>
        </p:nvSpPr>
        <p:spPr>
          <a:xfrm>
            <a:off x="548640" y="4080000"/>
            <a:ext cx="2370908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1">
                <a:solidFill>
                  <a:srgbClr val="2B2B2B"/>
                </a:solidFill>
                <a:latin typeface="Arial"/>
              </a:rPr>
              <a:t>infedlocator.com</a:t>
            </a:r>
          </a:p>
        </p:txBody>
      </p:sp>
      <p:sp>
        <p:nvSpPr>
          <p:cNvPr id="1198" name="r1198"/>
          <p:cNvSpPr/>
          <p:nvPr/>
        </p:nvSpPr>
        <p:spPr>
          <a:xfrm>
            <a:off x="2919548" y="4080000"/>
            <a:ext cx="1422545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199" name="t1199"/>
          <p:cNvSpPr txBox="1"/>
          <p:nvPr/>
        </p:nvSpPr>
        <p:spPr>
          <a:xfrm>
            <a:off x="2919548" y="4080000"/>
            <a:ext cx="1422545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2B2B2B"/>
                </a:solidFill>
                <a:latin typeface="Arial"/>
              </a:rPr>
              <a:t>~2</a:t>
            </a:r>
          </a:p>
        </p:txBody>
      </p:sp>
      <p:sp>
        <p:nvSpPr>
          <p:cNvPr id="1200" name="r1200"/>
          <p:cNvSpPr/>
          <p:nvPr/>
        </p:nvSpPr>
        <p:spPr>
          <a:xfrm>
            <a:off x="4342093" y="4080000"/>
            <a:ext cx="3793453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01" name="t1201"/>
          <p:cNvSpPr txBox="1"/>
          <p:nvPr/>
        </p:nvSpPr>
        <p:spPr>
          <a:xfrm>
            <a:off x="4342093" y="4080000"/>
            <a:ext cx="3793453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2B2B2B"/>
                </a:solidFill>
                <a:latin typeface="Arial"/>
              </a:rPr>
              <a:t>locator-map</a:t>
            </a:r>
          </a:p>
        </p:txBody>
      </p:sp>
      <p:sp>
        <p:nvSpPr>
          <p:cNvPr id="1202" name="r1202"/>
          <p:cNvSpPr/>
          <p:nvPr/>
        </p:nvSpPr>
        <p:spPr>
          <a:xfrm>
            <a:off x="8135546" y="4080000"/>
            <a:ext cx="3477332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03" name="t1203"/>
          <p:cNvSpPr txBox="1"/>
          <p:nvPr/>
        </p:nvSpPr>
        <p:spPr>
          <a:xfrm>
            <a:off x="8135546" y="4080000"/>
            <a:ext cx="3477332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2B2B2B"/>
                </a:solidFill>
                <a:latin typeface="Arial"/>
              </a:rPr>
              <a:t>Locator data-API dependency</a:t>
            </a:r>
          </a:p>
        </p:txBody>
      </p:sp>
      <p:sp>
        <p:nvSpPr>
          <p:cNvPr id="1204" name="r1204"/>
          <p:cNvSpPr/>
          <p:nvPr/>
        </p:nvSpPr>
        <p:spPr>
          <a:xfrm>
            <a:off x="548640" y="4410000"/>
            <a:ext cx="2370908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05" name="t1205"/>
          <p:cNvSpPr txBox="1"/>
          <p:nvPr/>
        </p:nvSpPr>
        <p:spPr>
          <a:xfrm>
            <a:off x="548640" y="4410000"/>
            <a:ext cx="2370908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1">
                <a:solidFill>
                  <a:srgbClr val="2B2B2B"/>
                </a:solidFill>
                <a:latin typeface="Arial"/>
              </a:rPr>
              <a:t>depakotehcp.com</a:t>
            </a:r>
          </a:p>
        </p:txBody>
      </p:sp>
      <p:sp>
        <p:nvSpPr>
          <p:cNvPr id="1206" name="r1206"/>
          <p:cNvSpPr/>
          <p:nvPr/>
        </p:nvSpPr>
        <p:spPr>
          <a:xfrm>
            <a:off x="2919548" y="4410000"/>
            <a:ext cx="1422545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07" name="t1207"/>
          <p:cNvSpPr txBox="1"/>
          <p:nvPr/>
        </p:nvSpPr>
        <p:spPr>
          <a:xfrm>
            <a:off x="2919548" y="4410000"/>
            <a:ext cx="1422545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2B2B2B"/>
                </a:solidFill>
                <a:latin typeface="Arial"/>
              </a:rPr>
              <a:t>~16</a:t>
            </a:r>
          </a:p>
        </p:txBody>
      </p:sp>
      <p:sp>
        <p:nvSpPr>
          <p:cNvPr id="1208" name="r1208"/>
          <p:cNvSpPr/>
          <p:nvPr/>
        </p:nvSpPr>
        <p:spPr>
          <a:xfrm>
            <a:off x="4342093" y="4410000"/>
            <a:ext cx="3793453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09" name="t1209"/>
          <p:cNvSpPr txBox="1"/>
          <p:nvPr/>
        </p:nvSpPr>
        <p:spPr>
          <a:xfrm>
            <a:off x="4342093" y="4410000"/>
            <a:ext cx="3793453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2B2B2B"/>
                </a:solidFill>
                <a:latin typeface="Arial"/>
              </a:rPr>
              <a:t>indication-selector, clinical-data-table</a:t>
            </a:r>
          </a:p>
        </p:txBody>
      </p:sp>
      <p:sp>
        <p:nvSpPr>
          <p:cNvPr id="1210" name="r1210"/>
          <p:cNvSpPr/>
          <p:nvPr/>
        </p:nvSpPr>
        <p:spPr>
          <a:xfrm>
            <a:off x="8135546" y="4410000"/>
            <a:ext cx="3477332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11" name="t1211"/>
          <p:cNvSpPr txBox="1"/>
          <p:nvPr/>
        </p:nvSpPr>
        <p:spPr>
          <a:xfrm>
            <a:off x="8135546" y="4410000"/>
            <a:ext cx="3477332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2B2B2B"/>
                </a:solidFill>
                <a:latin typeface="Arial"/>
              </a:rPr>
              <a:t>Multi-indication; boxed</a:t>
            </a:r>
          </a:p>
        </p:txBody>
      </p:sp>
      <p:sp>
        <p:nvSpPr>
          <p:cNvPr id="1212" name="r1212"/>
          <p:cNvSpPr/>
          <p:nvPr/>
        </p:nvSpPr>
        <p:spPr>
          <a:xfrm>
            <a:off x="548640" y="4740000"/>
            <a:ext cx="2370908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13" name="t1213"/>
          <p:cNvSpPr txBox="1"/>
          <p:nvPr/>
        </p:nvSpPr>
        <p:spPr>
          <a:xfrm>
            <a:off x="548640" y="4740000"/>
            <a:ext cx="2370908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1">
                <a:solidFill>
                  <a:srgbClr val="2B2B2B"/>
                </a:solidFill>
                <a:latin typeface="Arial"/>
              </a:rPr>
              <a:t>depakote.com</a:t>
            </a:r>
          </a:p>
        </p:txBody>
      </p:sp>
      <p:sp>
        <p:nvSpPr>
          <p:cNvPr id="1214" name="r1214"/>
          <p:cNvSpPr/>
          <p:nvPr/>
        </p:nvSpPr>
        <p:spPr>
          <a:xfrm>
            <a:off x="2919548" y="4740000"/>
            <a:ext cx="1422545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15" name="t1215"/>
          <p:cNvSpPr txBox="1"/>
          <p:nvPr/>
        </p:nvSpPr>
        <p:spPr>
          <a:xfrm>
            <a:off x="2919548" y="4740000"/>
            <a:ext cx="1422545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2B2B2B"/>
                </a:solidFill>
                <a:latin typeface="Arial"/>
              </a:rPr>
              <a:t>~16</a:t>
            </a:r>
          </a:p>
        </p:txBody>
      </p:sp>
      <p:sp>
        <p:nvSpPr>
          <p:cNvPr id="1216" name="r1216"/>
          <p:cNvSpPr/>
          <p:nvPr/>
        </p:nvSpPr>
        <p:spPr>
          <a:xfrm>
            <a:off x="4342093" y="4740000"/>
            <a:ext cx="3793453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17" name="t1217"/>
          <p:cNvSpPr txBox="1"/>
          <p:nvPr/>
        </p:nvSpPr>
        <p:spPr>
          <a:xfrm>
            <a:off x="4342093" y="4740000"/>
            <a:ext cx="3793453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2B2B2B"/>
                </a:solidFill>
                <a:latin typeface="Arial"/>
              </a:rPr>
              <a:t>indication-selector, dosing-table</a:t>
            </a:r>
          </a:p>
        </p:txBody>
      </p:sp>
      <p:sp>
        <p:nvSpPr>
          <p:cNvPr id="1218" name="r1218"/>
          <p:cNvSpPr/>
          <p:nvPr/>
        </p:nvSpPr>
        <p:spPr>
          <a:xfrm>
            <a:off x="8135546" y="4740000"/>
            <a:ext cx="3477332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19" name="t1219"/>
          <p:cNvSpPr txBox="1"/>
          <p:nvPr/>
        </p:nvSpPr>
        <p:spPr>
          <a:xfrm>
            <a:off x="8135546" y="4740000"/>
            <a:ext cx="3477332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2B2B2B"/>
                </a:solidFill>
                <a:latin typeface="Arial"/>
              </a:rPr>
              <a:t>Multi-indication; boxed</a:t>
            </a:r>
          </a:p>
        </p:txBody>
      </p:sp>
      <p:sp>
        <p:nvSpPr>
          <p:cNvPr id="1220" name="r1220"/>
          <p:cNvSpPr/>
          <p:nvPr/>
        </p:nvSpPr>
        <p:spPr>
          <a:xfrm>
            <a:off x="548640" y="5070000"/>
            <a:ext cx="2370908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21" name="t1221"/>
          <p:cNvSpPr txBox="1"/>
          <p:nvPr/>
        </p:nvSpPr>
        <p:spPr>
          <a:xfrm>
            <a:off x="548640" y="5070000"/>
            <a:ext cx="2370908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1">
                <a:solidFill>
                  <a:srgbClr val="2B2B2B"/>
                </a:solidFill>
                <a:latin typeface="Arial"/>
              </a:rPr>
              <a:t>taytulla.com</a:t>
            </a:r>
          </a:p>
        </p:txBody>
      </p:sp>
      <p:sp>
        <p:nvSpPr>
          <p:cNvPr id="1222" name="r1222"/>
          <p:cNvSpPr/>
          <p:nvPr/>
        </p:nvSpPr>
        <p:spPr>
          <a:xfrm>
            <a:off x="2919548" y="5070000"/>
            <a:ext cx="1422545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23" name="t1223"/>
          <p:cNvSpPr txBox="1"/>
          <p:nvPr/>
        </p:nvSpPr>
        <p:spPr>
          <a:xfrm>
            <a:off x="2919548" y="5070000"/>
            <a:ext cx="1422545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2B2B2B"/>
                </a:solidFill>
                <a:latin typeface="Arial"/>
              </a:rPr>
              <a:t>~14</a:t>
            </a:r>
          </a:p>
        </p:txBody>
      </p:sp>
      <p:sp>
        <p:nvSpPr>
          <p:cNvPr id="1224" name="r1224"/>
          <p:cNvSpPr/>
          <p:nvPr/>
        </p:nvSpPr>
        <p:spPr>
          <a:xfrm>
            <a:off x="4342093" y="5070000"/>
            <a:ext cx="3793453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25" name="t1225"/>
          <p:cNvSpPr txBox="1"/>
          <p:nvPr/>
        </p:nvSpPr>
        <p:spPr>
          <a:xfrm>
            <a:off x="4342093" y="5070000"/>
            <a:ext cx="3793453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2B2B2B"/>
                </a:solidFill>
                <a:latin typeface="Arial"/>
              </a:rPr>
              <a:t>comparison-table, discussion-guide</a:t>
            </a:r>
          </a:p>
        </p:txBody>
      </p:sp>
      <p:sp>
        <p:nvSpPr>
          <p:cNvPr id="1226" name="r1226"/>
          <p:cNvSpPr/>
          <p:nvPr/>
        </p:nvSpPr>
        <p:spPr>
          <a:xfrm>
            <a:off x="8135546" y="5070000"/>
            <a:ext cx="3477332" cy="3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27" name="t1227"/>
          <p:cNvSpPr txBox="1"/>
          <p:nvPr/>
        </p:nvSpPr>
        <p:spPr>
          <a:xfrm>
            <a:off x="8135546" y="5070000"/>
            <a:ext cx="3477332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2B2B2B"/>
                </a:solidFill>
                <a:latin typeface="Arial"/>
              </a:rPr>
              <a:t>Two interactive tools</a:t>
            </a:r>
          </a:p>
        </p:txBody>
      </p:sp>
      <p:sp>
        <p:nvSpPr>
          <p:cNvPr id="1228" name="r1228"/>
          <p:cNvSpPr/>
          <p:nvPr/>
        </p:nvSpPr>
        <p:spPr>
          <a:xfrm>
            <a:off x="548640" y="5400000"/>
            <a:ext cx="2370908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29" name="t1229"/>
          <p:cNvSpPr txBox="1"/>
          <p:nvPr/>
        </p:nvSpPr>
        <p:spPr>
          <a:xfrm>
            <a:off x="548640" y="5400000"/>
            <a:ext cx="2370908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1">
                <a:solidFill>
                  <a:srgbClr val="2B2B2B"/>
                </a:solidFill>
                <a:latin typeface="Arial"/>
              </a:rPr>
              <a:t>fetzima.com</a:t>
            </a:r>
          </a:p>
        </p:txBody>
      </p:sp>
      <p:sp>
        <p:nvSpPr>
          <p:cNvPr id="1230" name="r1230"/>
          <p:cNvSpPr/>
          <p:nvPr/>
        </p:nvSpPr>
        <p:spPr>
          <a:xfrm>
            <a:off x="2919548" y="5400000"/>
            <a:ext cx="1422545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31" name="t1231"/>
          <p:cNvSpPr txBox="1"/>
          <p:nvPr/>
        </p:nvSpPr>
        <p:spPr>
          <a:xfrm>
            <a:off x="2919548" y="5400000"/>
            <a:ext cx="1422545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2B2B2B"/>
                </a:solidFill>
                <a:latin typeface="Arial"/>
              </a:rPr>
              <a:t>~14</a:t>
            </a:r>
          </a:p>
        </p:txBody>
      </p:sp>
      <p:sp>
        <p:nvSpPr>
          <p:cNvPr id="1232" name="r1232"/>
          <p:cNvSpPr/>
          <p:nvPr/>
        </p:nvSpPr>
        <p:spPr>
          <a:xfrm>
            <a:off x="4342093" y="5400000"/>
            <a:ext cx="3793453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33" name="t1233"/>
          <p:cNvSpPr txBox="1"/>
          <p:nvPr/>
        </p:nvSpPr>
        <p:spPr>
          <a:xfrm>
            <a:off x="4342093" y="5400000"/>
            <a:ext cx="3793453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2B2B2B"/>
                </a:solidFill>
                <a:latin typeface="Arial"/>
              </a:rPr>
              <a:t>all shared — shares viibryd</a:t>
            </a:r>
          </a:p>
        </p:txBody>
      </p:sp>
      <p:sp>
        <p:nvSpPr>
          <p:cNvPr id="1234" name="r1234"/>
          <p:cNvSpPr/>
          <p:nvPr/>
        </p:nvSpPr>
        <p:spPr>
          <a:xfrm>
            <a:off x="8135546" y="5400000"/>
            <a:ext cx="3477332" cy="33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35" name="t1235"/>
          <p:cNvSpPr txBox="1"/>
          <p:nvPr/>
        </p:nvSpPr>
        <p:spPr>
          <a:xfrm>
            <a:off x="8135546" y="5400000"/>
            <a:ext cx="3477332" cy="33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2B2B2B"/>
                </a:solidFill>
                <a:latin typeface="Arial"/>
              </a:rPr>
              <a:t>Boxed; viibryd synergy</a:t>
            </a:r>
          </a:p>
        </p:txBody>
      </p:sp>
      <p:sp>
        <p:nvSpPr>
          <p:cNvPr id="1236" name="t1236"/>
          <p:cNvSpPr txBox="1"/>
          <p:nvPr/>
        </p:nvSpPr>
        <p:spPr>
          <a:xfrm>
            <a:off x="548640" y="5760000"/>
            <a:ext cx="10972800" cy="460000"/>
          </a:xfrm>
          <a:prstGeom prst="rect">
            <a:avLst/>
          </a:prstGeom>
          <a:noFill/>
        </p:spPr>
        <p:txBody>
          <a:bodyPr wrap="square" lIns="45720" tIns="18000" rIns="45720" bIns="1800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0">
                <a:solidFill>
                  <a:srgbClr val="5A5A5A"/>
                </a:solidFill>
                <a:latin typeface="Arial"/>
              </a:rPr>
              <a:t>Wave 2 introduces only two new shared blocks — locator-map and risk-assessment (*). Every other section reuses the Wave-1 library; indication-selector is reused by both Depakote sites.</a:t>
            </a:r>
          </a:p>
        </p:txBody>
      </p:sp>
      <p:sp>
        <p:nvSpPr>
          <p:cNvPr id="521" name="t522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5A5A5A"/>
                </a:solidFill>
                <a:latin typeface="Arial"/>
              </a:rPr>
              <a:t>AbbVie Pharma Portfolio → AEM Edge Delivery Services  |  Confidential – Client Proposal</a:t>
            </a:r>
          </a:p>
        </p:txBody>
      </p:sp>
      <p:sp>
        <p:nvSpPr>
          <p:cNvPr id="523" name="t524"/>
          <p:cNvSpPr txBox="1"/>
          <p:nvPr/>
        </p:nvSpPr>
        <p:spPr>
          <a:xfrm>
            <a:off x="10058400" y="5989320"/>
            <a:ext cx="173736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r">
              <a:spcAft>
                <a:spcPts val="0"/>
              </a:spcAft>
              <a:buNone/>
            </a:pPr>
            <a:r>
              <a:rPr lang="en-US" sz="1000" b="1">
                <a:solidFill>
                  <a:srgbClr val="071D49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r53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39" name="r540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71D49"/>
          </a:solidFill>
          <a:ln>
            <a:noFill/>
          </a:ln>
        </p:spPr>
        <p:txBody>
          <a:bodyPr/>
          <a:lstStyle/>
          <a:p/>
        </p:txBody>
      </p:sp>
      <p:sp>
        <p:nvSpPr>
          <p:cNvPr id="541" name="r542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543" name="t544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E8553D"/>
                </a:solidFill>
                <a:latin typeface="Arial"/>
              </a:rPr>
              <a:t>NON-FUNCTIONAL</a:t>
            </a:r>
          </a:p>
        </p:txBody>
      </p:sp>
      <p:sp>
        <p:nvSpPr>
          <p:cNvPr id="545" name="t546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Arial"/>
              </a:rPr>
              <a:t>Integrations, Compliance &amp; Accessibility</a:t>
            </a:r>
          </a:p>
        </p:txBody>
      </p:sp>
      <p:sp>
        <p:nvSpPr>
          <p:cNvPr id="525" name="r526"/>
          <p:cNvSpPr/>
          <p:nvPr/>
        </p:nvSpPr>
        <p:spPr>
          <a:xfrm>
            <a:off x="548640" y="1371600"/>
            <a:ext cx="5349240" cy="548640"/>
          </a:xfrm>
          <a:prstGeom prst="rect">
            <a:avLst/>
          </a:prstGeom>
          <a:solidFill>
            <a:srgbClr val="0B5FA5"/>
          </a:solidFill>
          <a:ln>
            <a:noFill/>
          </a:ln>
        </p:spPr>
        <p:txBody>
          <a:bodyPr/>
          <a:lstStyle/>
          <a:p/>
        </p:txBody>
      </p:sp>
      <p:sp>
        <p:nvSpPr>
          <p:cNvPr id="527" name="t528"/>
          <p:cNvSpPr txBox="1"/>
          <p:nvPr/>
        </p:nvSpPr>
        <p:spPr>
          <a:xfrm>
            <a:off x="548640" y="1417320"/>
            <a:ext cx="5349240" cy="45720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</a:rPr>
              <a:t>Cross-cutting integrations</a:t>
            </a:r>
          </a:p>
        </p:txBody>
      </p:sp>
      <p:sp>
        <p:nvSpPr>
          <p:cNvPr id="529" name="t530"/>
          <p:cNvSpPr txBox="1"/>
          <p:nvPr/>
        </p:nvSpPr>
        <p:spPr>
          <a:xfrm>
            <a:off x="594360" y="2057400"/>
            <a:ext cx="5303520" cy="32918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lang="en-US" sz="1080" b="0">
                <a:solidFill>
                  <a:srgbClr val="2B2B2B"/>
                </a:solidFill>
                <a:latin typeface="Arial"/>
              </a:rPr>
              <a:t>Analytics / tag mgmt — Adobe Experience Platform Launch/DTM (standard); GA on LILETTA HCP. Re-wired in the delayed phase.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lang="en-US" sz="1080" b="0">
                <a:solidFill>
                  <a:srgbClr val="2B2B2B"/>
                </a:solidFill>
                <a:latin typeface="Arial"/>
              </a:rPr>
              <a:t>Consent — OneTrust (Evidon on lupron, CCPA on HCP). One standardised consent pattern.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lang="en-US" sz="1080" b="0">
                <a:solidFill>
                  <a:srgbClr val="2B2B2B"/>
                </a:solidFill>
                <a:latin typeface="Arial"/>
              </a:rPr>
              <a:t>Forms → CRM — email-share &amp; rep-request need endpoints (AbbVie / Veeva); Wave 2 adds patient savings-enrollment + an INFeD center-locator data API.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lang="en-US" sz="1080" b="0">
                <a:solidFill>
                  <a:srgbClr val="2B2B2B"/>
                </a:solidFill>
                <a:latin typeface="Arial"/>
              </a:rPr>
              <a:t>Video — Vimeo/Brightcove via lazy facade (HCP, Restasis, myGlaucoma) + a scored quiz (myGlaucoma). Fonts — Typekit + Google Fonts, self-hosted for LCP.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lang="en-US" sz="1080" b="0">
                <a:solidFill>
                  <a:srgbClr val="2B2B2B"/>
                </a:solidFill>
                <a:latin typeface="Arial"/>
              </a:rPr>
              <a:t>Savings programs — external (luprongyn, LILETTAcard, AbbVie Access) — link-out, confirm scope.</a:t>
            </a:r>
          </a:p>
        </p:txBody>
      </p:sp>
      <p:sp>
        <p:nvSpPr>
          <p:cNvPr id="531" name="r532"/>
          <p:cNvSpPr/>
          <p:nvPr/>
        </p:nvSpPr>
        <p:spPr>
          <a:xfrm>
            <a:off x="6126480" y="1371600"/>
            <a:ext cx="5440680" cy="548640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533" name="t534"/>
          <p:cNvSpPr txBox="1"/>
          <p:nvPr/>
        </p:nvSpPr>
        <p:spPr>
          <a:xfrm>
            <a:off x="6126480" y="1417320"/>
            <a:ext cx="5440680" cy="45720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</a:rPr>
              <a:t>Compliance &amp; accessibility</a:t>
            </a:r>
          </a:p>
        </p:txBody>
      </p:sp>
      <p:sp>
        <p:nvSpPr>
          <p:cNvPr id="535" name="t536"/>
          <p:cNvSpPr txBox="1"/>
          <p:nvPr/>
        </p:nvSpPr>
        <p:spPr>
          <a:xfrm>
            <a:off x="6172200" y="2057400"/>
            <a:ext cx="5349240" cy="32918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lang="en-US" sz="1080" b="0">
                <a:solidFill>
                  <a:srgbClr val="2B2B2B"/>
                </a:solidFill>
                <a:latin typeface="Arial"/>
              </a:rPr>
              <a:t>ISI / PI fair balance on every page — sticky ISI bar + full PI/Med Guide preserved.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lang="en-US" sz="1080" b="0">
                <a:solidFill>
                  <a:srgbClr val="2B2B2B"/>
                </a:solidFill>
                <a:latin typeface="Arial"/>
              </a:rPr>
              <a:t>References &amp; claim substantiation — footnoted, especially on HCP clinical-data pages.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lang="en-US" sz="1080" b="0">
                <a:solidFill>
                  <a:srgbClr val="2B2B2B"/>
                </a:solidFill>
                <a:latin typeface="Arial"/>
              </a:rPr>
              <a:t>PRC / job codes (US-####) migrated verbatim and treated as locked artifacts.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lang="en-US" sz="1080" b="0">
                <a:solidFill>
                  <a:srgbClr val="2B2B2B"/>
                </a:solidFill>
                <a:latin typeface="Arial"/>
              </a:rPr>
              <a:t>WCAG 2.1 AA — gate focus-trap, keyboard ISI, accessible data tables, captioned video.</a:t>
            </a:r>
          </a:p>
          <a:p>
            <a:pPr marL="182880" indent="-182880" algn="l">
              <a:spcAft>
                <a:spcPts val="400"/>
              </a:spcAft>
              <a:buFont typeface="Arial"/>
              <a:buChar char="•"/>
            </a:pPr>
            <a:r>
              <a:rPr lang="en-US" sz="1080" b="1">
                <a:solidFill>
                  <a:srgbClr val="071D49"/>
                </a:solidFill>
                <a:latin typeface="Arial"/>
              </a:rPr>
              <a:t>Medical-Legal-Regulatory (MLR) review runs in parallel — the key schedule driver.</a:t>
            </a:r>
          </a:p>
        </p:txBody>
      </p:sp>
      <p:sp>
        <p:nvSpPr>
          <p:cNvPr id="547" name="t548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5A5A5A"/>
                </a:solidFill>
                <a:latin typeface="Arial"/>
              </a:rPr>
              <a:t>AbbVie Pharma Portfolio → AEM Edge Delivery Services  |  Confidential – Client Proposal</a:t>
            </a:r>
          </a:p>
        </p:txBody>
      </p:sp>
      <p:sp>
        <p:nvSpPr>
          <p:cNvPr id="549" name="t550"/>
          <p:cNvSpPr txBox="1"/>
          <p:nvPr/>
        </p:nvSpPr>
        <p:spPr>
          <a:xfrm>
            <a:off x="10058400" y="5989320"/>
            <a:ext cx="173736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r">
              <a:spcAft>
                <a:spcPts val="0"/>
              </a:spcAft>
              <a:buNone/>
            </a:pPr>
            <a:r>
              <a:rPr lang="en-US" sz="1000" b="1">
                <a:solidFill>
                  <a:srgbClr val="071D49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r69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93" name="r694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71D49"/>
          </a:solidFill>
          <a:ln>
            <a:noFill/>
          </a:ln>
        </p:spPr>
        <p:txBody>
          <a:bodyPr/>
          <a:lstStyle/>
          <a:p/>
        </p:txBody>
      </p:sp>
      <p:sp>
        <p:nvSpPr>
          <p:cNvPr id="695" name="r696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697" name="t698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E8553D"/>
                </a:solidFill>
                <a:latin typeface="Arial"/>
              </a:rPr>
              <a:t>BOTTOM-UP SIZING</a:t>
            </a:r>
          </a:p>
        </p:txBody>
      </p:sp>
      <p:sp>
        <p:nvSpPr>
          <p:cNvPr id="699" name="t700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Arial"/>
              </a:rPr>
              <a:t>Effort Estimate  ·  Wave 1 (original six)</a:t>
            </a:r>
          </a:p>
        </p:txBody>
      </p:sp>
      <p:sp>
        <p:nvSpPr>
          <p:cNvPr id="551" name="r552"/>
          <p:cNvSpPr/>
          <p:nvPr/>
        </p:nvSpPr>
        <p:spPr>
          <a:xfrm>
            <a:off x="548640" y="1371600"/>
            <a:ext cx="4319451" cy="422910"/>
          </a:xfrm>
          <a:prstGeom prst="rect">
            <a:avLst/>
          </a:prstGeom>
          <a:solidFill>
            <a:srgbClr val="071D49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553" name="t554"/>
          <p:cNvSpPr txBox="1"/>
          <p:nvPr/>
        </p:nvSpPr>
        <p:spPr>
          <a:xfrm>
            <a:off x="548640" y="1371600"/>
            <a:ext cx="4319451" cy="42291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Workstream</a:t>
            </a:r>
          </a:p>
        </p:txBody>
      </p:sp>
      <p:sp>
        <p:nvSpPr>
          <p:cNvPr id="555" name="r556"/>
          <p:cNvSpPr/>
          <p:nvPr/>
        </p:nvSpPr>
        <p:spPr>
          <a:xfrm>
            <a:off x="4868091" y="1371600"/>
            <a:ext cx="1349828" cy="422910"/>
          </a:xfrm>
          <a:prstGeom prst="rect">
            <a:avLst/>
          </a:prstGeom>
          <a:solidFill>
            <a:srgbClr val="071D49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557" name="t558"/>
          <p:cNvSpPr txBox="1"/>
          <p:nvPr/>
        </p:nvSpPr>
        <p:spPr>
          <a:xfrm>
            <a:off x="4868091" y="1371600"/>
            <a:ext cx="1349828" cy="42291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Person-days</a:t>
            </a:r>
          </a:p>
        </p:txBody>
      </p:sp>
      <p:sp>
        <p:nvSpPr>
          <p:cNvPr id="559" name="r560"/>
          <p:cNvSpPr/>
          <p:nvPr/>
        </p:nvSpPr>
        <p:spPr>
          <a:xfrm>
            <a:off x="548640" y="1794510"/>
            <a:ext cx="4319451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561" name="t562"/>
          <p:cNvSpPr txBox="1"/>
          <p:nvPr/>
        </p:nvSpPr>
        <p:spPr>
          <a:xfrm>
            <a:off x="548640" y="1794510"/>
            <a:ext cx="4319451" cy="3383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2B2B2B"/>
                </a:solidFill>
                <a:latin typeface="Arial"/>
              </a:rPr>
              <a:t>lupron.com</a:t>
            </a:r>
          </a:p>
        </p:txBody>
      </p:sp>
      <p:sp>
        <p:nvSpPr>
          <p:cNvPr id="563" name="r564"/>
          <p:cNvSpPr/>
          <p:nvPr/>
        </p:nvSpPr>
        <p:spPr>
          <a:xfrm>
            <a:off x="4868091" y="1794510"/>
            <a:ext cx="1349828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565" name="t566"/>
          <p:cNvSpPr txBox="1"/>
          <p:nvPr/>
        </p:nvSpPr>
        <p:spPr>
          <a:xfrm>
            <a:off x="4868091" y="1794510"/>
            <a:ext cx="1349828" cy="3383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21.5</a:t>
            </a:r>
          </a:p>
        </p:txBody>
      </p:sp>
      <p:sp>
        <p:nvSpPr>
          <p:cNvPr id="567" name="r568"/>
          <p:cNvSpPr/>
          <p:nvPr/>
        </p:nvSpPr>
        <p:spPr>
          <a:xfrm>
            <a:off x="548640" y="2132838"/>
            <a:ext cx="4319451" cy="338328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569" name="t570"/>
          <p:cNvSpPr txBox="1"/>
          <p:nvPr/>
        </p:nvSpPr>
        <p:spPr>
          <a:xfrm>
            <a:off x="548640" y="2132838"/>
            <a:ext cx="4319451" cy="3383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2B2B2B"/>
                </a:solidFill>
                <a:latin typeface="Arial"/>
              </a:rPr>
              <a:t>lupronpedpro.com</a:t>
            </a:r>
          </a:p>
        </p:txBody>
      </p:sp>
      <p:sp>
        <p:nvSpPr>
          <p:cNvPr id="571" name="r572"/>
          <p:cNvSpPr/>
          <p:nvPr/>
        </p:nvSpPr>
        <p:spPr>
          <a:xfrm>
            <a:off x="4868091" y="2132838"/>
            <a:ext cx="1349828" cy="338328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573" name="t574"/>
          <p:cNvSpPr txBox="1"/>
          <p:nvPr/>
        </p:nvSpPr>
        <p:spPr>
          <a:xfrm>
            <a:off x="4868091" y="2132838"/>
            <a:ext cx="1349828" cy="3383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14.5</a:t>
            </a:r>
          </a:p>
        </p:txBody>
      </p:sp>
      <p:sp>
        <p:nvSpPr>
          <p:cNvPr id="575" name="r576"/>
          <p:cNvSpPr/>
          <p:nvPr/>
        </p:nvSpPr>
        <p:spPr>
          <a:xfrm>
            <a:off x="548640" y="2471166"/>
            <a:ext cx="4319451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577" name="t578"/>
          <p:cNvSpPr txBox="1"/>
          <p:nvPr/>
        </p:nvSpPr>
        <p:spPr>
          <a:xfrm>
            <a:off x="548640" y="2471166"/>
            <a:ext cx="4319451" cy="3383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2B2B2B"/>
                </a:solidFill>
                <a:latin typeface="Arial"/>
              </a:rPr>
              <a:t>armourthyroid.com</a:t>
            </a:r>
          </a:p>
        </p:txBody>
      </p:sp>
      <p:sp>
        <p:nvSpPr>
          <p:cNvPr id="579" name="r580"/>
          <p:cNvSpPr/>
          <p:nvPr/>
        </p:nvSpPr>
        <p:spPr>
          <a:xfrm>
            <a:off x="4868091" y="2471166"/>
            <a:ext cx="1349828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581" name="t582"/>
          <p:cNvSpPr txBox="1"/>
          <p:nvPr/>
        </p:nvSpPr>
        <p:spPr>
          <a:xfrm>
            <a:off x="4868091" y="2471166"/>
            <a:ext cx="1349828" cy="3383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14.0</a:t>
            </a:r>
          </a:p>
        </p:txBody>
      </p:sp>
      <p:sp>
        <p:nvSpPr>
          <p:cNvPr id="583" name="r584"/>
          <p:cNvSpPr/>
          <p:nvPr/>
        </p:nvSpPr>
        <p:spPr>
          <a:xfrm>
            <a:off x="548640" y="2809494"/>
            <a:ext cx="4319451" cy="338328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585" name="t586"/>
          <p:cNvSpPr txBox="1"/>
          <p:nvPr/>
        </p:nvSpPr>
        <p:spPr>
          <a:xfrm>
            <a:off x="548640" y="2809494"/>
            <a:ext cx="4319451" cy="3383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2B2B2B"/>
                </a:solidFill>
                <a:latin typeface="Arial"/>
              </a:rPr>
              <a:t>hypothyroidhub.com</a:t>
            </a:r>
          </a:p>
        </p:txBody>
      </p:sp>
      <p:sp>
        <p:nvSpPr>
          <p:cNvPr id="587" name="r588"/>
          <p:cNvSpPr/>
          <p:nvPr/>
        </p:nvSpPr>
        <p:spPr>
          <a:xfrm>
            <a:off x="4868091" y="2809494"/>
            <a:ext cx="1349828" cy="338328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589" name="t590"/>
          <p:cNvSpPr txBox="1"/>
          <p:nvPr/>
        </p:nvSpPr>
        <p:spPr>
          <a:xfrm>
            <a:off x="4868091" y="2809494"/>
            <a:ext cx="1349828" cy="3383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18.75</a:t>
            </a:r>
          </a:p>
        </p:txBody>
      </p:sp>
      <p:sp>
        <p:nvSpPr>
          <p:cNvPr id="591" name="r592"/>
          <p:cNvSpPr/>
          <p:nvPr/>
        </p:nvSpPr>
        <p:spPr>
          <a:xfrm>
            <a:off x="548640" y="3147822"/>
            <a:ext cx="4319451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593" name="t594"/>
          <p:cNvSpPr txBox="1"/>
          <p:nvPr/>
        </p:nvSpPr>
        <p:spPr>
          <a:xfrm>
            <a:off x="548640" y="3147822"/>
            <a:ext cx="4319451" cy="3383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2B2B2B"/>
                </a:solidFill>
                <a:latin typeface="Arial"/>
              </a:rPr>
              <a:t>liletta.com</a:t>
            </a:r>
          </a:p>
        </p:txBody>
      </p:sp>
      <p:sp>
        <p:nvSpPr>
          <p:cNvPr id="595" name="r596"/>
          <p:cNvSpPr/>
          <p:nvPr/>
        </p:nvSpPr>
        <p:spPr>
          <a:xfrm>
            <a:off x="4868091" y="3147822"/>
            <a:ext cx="1349828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597" name="t598"/>
          <p:cNvSpPr txBox="1"/>
          <p:nvPr/>
        </p:nvSpPr>
        <p:spPr>
          <a:xfrm>
            <a:off x="4868091" y="3147822"/>
            <a:ext cx="1349828" cy="3383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34.0</a:t>
            </a:r>
          </a:p>
        </p:txBody>
      </p:sp>
      <p:sp>
        <p:nvSpPr>
          <p:cNvPr id="599" name="r600"/>
          <p:cNvSpPr/>
          <p:nvPr/>
        </p:nvSpPr>
        <p:spPr>
          <a:xfrm>
            <a:off x="548640" y="3486150"/>
            <a:ext cx="4319451" cy="338328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601" name="t602"/>
          <p:cNvSpPr txBox="1"/>
          <p:nvPr/>
        </p:nvSpPr>
        <p:spPr>
          <a:xfrm>
            <a:off x="548640" y="3486150"/>
            <a:ext cx="4319451" cy="3383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2B2B2B"/>
                </a:solidFill>
                <a:latin typeface="Arial"/>
              </a:rPr>
              <a:t>lilettahcp.com</a:t>
            </a:r>
          </a:p>
        </p:txBody>
      </p:sp>
      <p:sp>
        <p:nvSpPr>
          <p:cNvPr id="603" name="r604"/>
          <p:cNvSpPr/>
          <p:nvPr/>
        </p:nvSpPr>
        <p:spPr>
          <a:xfrm>
            <a:off x="4868091" y="3486150"/>
            <a:ext cx="1349828" cy="338328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605" name="t606"/>
          <p:cNvSpPr txBox="1"/>
          <p:nvPr/>
        </p:nvSpPr>
        <p:spPr>
          <a:xfrm>
            <a:off x="4868091" y="3486150"/>
            <a:ext cx="1349828" cy="3383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29.0</a:t>
            </a:r>
          </a:p>
        </p:txBody>
      </p:sp>
      <p:sp>
        <p:nvSpPr>
          <p:cNvPr id="607" name="r608"/>
          <p:cNvSpPr/>
          <p:nvPr/>
        </p:nvSpPr>
        <p:spPr>
          <a:xfrm>
            <a:off x="548640" y="3824478"/>
            <a:ext cx="4319451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609" name="t610"/>
          <p:cNvSpPr txBox="1"/>
          <p:nvPr/>
        </p:nvSpPr>
        <p:spPr>
          <a:xfrm>
            <a:off x="548640" y="3824478"/>
            <a:ext cx="4319451" cy="3383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071D49"/>
                </a:solidFill>
                <a:latin typeface="Arial"/>
              </a:rPr>
              <a:t>Site subtotal</a:t>
            </a:r>
          </a:p>
        </p:txBody>
      </p:sp>
      <p:sp>
        <p:nvSpPr>
          <p:cNvPr id="611" name="r612"/>
          <p:cNvSpPr/>
          <p:nvPr/>
        </p:nvSpPr>
        <p:spPr>
          <a:xfrm>
            <a:off x="4868091" y="3824478"/>
            <a:ext cx="1349828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613" name="t614"/>
          <p:cNvSpPr txBox="1"/>
          <p:nvPr/>
        </p:nvSpPr>
        <p:spPr>
          <a:xfrm>
            <a:off x="4868091" y="3824478"/>
            <a:ext cx="1349828" cy="3383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071D49"/>
                </a:solidFill>
                <a:latin typeface="Arial"/>
              </a:rPr>
              <a:t>131.75</a:t>
            </a:r>
          </a:p>
        </p:txBody>
      </p:sp>
      <p:sp>
        <p:nvSpPr>
          <p:cNvPr id="615" name="r616"/>
          <p:cNvSpPr/>
          <p:nvPr/>
        </p:nvSpPr>
        <p:spPr>
          <a:xfrm>
            <a:off x="548640" y="4162806"/>
            <a:ext cx="4319451" cy="338328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617" name="t618"/>
          <p:cNvSpPr txBox="1"/>
          <p:nvPr/>
        </p:nvSpPr>
        <p:spPr>
          <a:xfrm>
            <a:off x="548640" y="4162806"/>
            <a:ext cx="4319451" cy="3383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2B2B2B"/>
                </a:solidFill>
                <a:latin typeface="Arial"/>
              </a:rPr>
              <a:t>Shared foundation (build once)</a:t>
            </a:r>
          </a:p>
        </p:txBody>
      </p:sp>
      <p:sp>
        <p:nvSpPr>
          <p:cNvPr id="619" name="r620"/>
          <p:cNvSpPr/>
          <p:nvPr/>
        </p:nvSpPr>
        <p:spPr>
          <a:xfrm>
            <a:off x="4868091" y="4162806"/>
            <a:ext cx="1349828" cy="338328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621" name="t622"/>
          <p:cNvSpPr txBox="1"/>
          <p:nvPr/>
        </p:nvSpPr>
        <p:spPr>
          <a:xfrm>
            <a:off x="4868091" y="4162806"/>
            <a:ext cx="1349828" cy="3383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27.0</a:t>
            </a:r>
          </a:p>
        </p:txBody>
      </p:sp>
      <p:sp>
        <p:nvSpPr>
          <p:cNvPr id="623" name="r624"/>
          <p:cNvSpPr/>
          <p:nvPr/>
        </p:nvSpPr>
        <p:spPr>
          <a:xfrm>
            <a:off x="548640" y="4501134"/>
            <a:ext cx="4319451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625" name="t626"/>
          <p:cNvSpPr txBox="1"/>
          <p:nvPr/>
        </p:nvSpPr>
        <p:spPr>
          <a:xfrm>
            <a:off x="548640" y="4501134"/>
            <a:ext cx="4319451" cy="3383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071D49"/>
                </a:solidFill>
                <a:latin typeface="Arial"/>
              </a:rPr>
              <a:t>Build subtotal</a:t>
            </a:r>
          </a:p>
        </p:txBody>
      </p:sp>
      <p:sp>
        <p:nvSpPr>
          <p:cNvPr id="627" name="r628"/>
          <p:cNvSpPr/>
          <p:nvPr/>
        </p:nvSpPr>
        <p:spPr>
          <a:xfrm>
            <a:off x="4868091" y="4501134"/>
            <a:ext cx="1349828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629" name="t630"/>
          <p:cNvSpPr txBox="1"/>
          <p:nvPr/>
        </p:nvSpPr>
        <p:spPr>
          <a:xfrm>
            <a:off x="4868091" y="4501134"/>
            <a:ext cx="1349828" cy="3383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071D49"/>
                </a:solidFill>
                <a:latin typeface="Arial"/>
              </a:rPr>
              <a:t>158.75</a:t>
            </a:r>
          </a:p>
        </p:txBody>
      </p:sp>
      <p:sp>
        <p:nvSpPr>
          <p:cNvPr id="631" name="r632"/>
          <p:cNvSpPr/>
          <p:nvPr/>
        </p:nvSpPr>
        <p:spPr>
          <a:xfrm>
            <a:off x="548640" y="4839462"/>
            <a:ext cx="4319451" cy="338328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633" name="t634"/>
          <p:cNvSpPr txBox="1"/>
          <p:nvPr/>
        </p:nvSpPr>
        <p:spPr>
          <a:xfrm>
            <a:off x="548640" y="4839462"/>
            <a:ext cx="4319451" cy="3383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2B2B2B"/>
                </a:solidFill>
                <a:latin typeface="Arial"/>
              </a:rPr>
              <a:t>Program overhead (~20%): PM, QA/UAT, a11y, MLR coord.</a:t>
            </a:r>
          </a:p>
        </p:txBody>
      </p:sp>
      <p:sp>
        <p:nvSpPr>
          <p:cNvPr id="635" name="r636"/>
          <p:cNvSpPr/>
          <p:nvPr/>
        </p:nvSpPr>
        <p:spPr>
          <a:xfrm>
            <a:off x="4868091" y="4839462"/>
            <a:ext cx="1349828" cy="338328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637" name="t638"/>
          <p:cNvSpPr txBox="1"/>
          <p:nvPr/>
        </p:nvSpPr>
        <p:spPr>
          <a:xfrm>
            <a:off x="4868091" y="4839462"/>
            <a:ext cx="1349828" cy="3383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~32.0</a:t>
            </a:r>
          </a:p>
        </p:txBody>
      </p:sp>
      <p:sp>
        <p:nvSpPr>
          <p:cNvPr id="639" name="r640"/>
          <p:cNvSpPr/>
          <p:nvPr/>
        </p:nvSpPr>
        <p:spPr>
          <a:xfrm>
            <a:off x="548640" y="5177790"/>
            <a:ext cx="4319451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641" name="t642"/>
          <p:cNvSpPr txBox="1"/>
          <p:nvPr/>
        </p:nvSpPr>
        <p:spPr>
          <a:xfrm>
            <a:off x="548640" y="5177790"/>
            <a:ext cx="4319451" cy="3383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E8553D"/>
                </a:solidFill>
                <a:latin typeface="Arial"/>
              </a:rPr>
              <a:t>Grand total (point estimate)</a:t>
            </a:r>
          </a:p>
        </p:txBody>
      </p:sp>
      <p:sp>
        <p:nvSpPr>
          <p:cNvPr id="643" name="r644"/>
          <p:cNvSpPr/>
          <p:nvPr/>
        </p:nvSpPr>
        <p:spPr>
          <a:xfrm>
            <a:off x="4868091" y="5177790"/>
            <a:ext cx="1349828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645" name="t646"/>
          <p:cNvSpPr txBox="1"/>
          <p:nvPr/>
        </p:nvSpPr>
        <p:spPr>
          <a:xfrm>
            <a:off x="4868091" y="5177790"/>
            <a:ext cx="1349828" cy="33832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E8553D"/>
                </a:solidFill>
                <a:latin typeface="Arial"/>
              </a:rPr>
              <a:t>~190</a:t>
            </a:r>
          </a:p>
        </p:txBody>
      </p:sp>
      <p:sp>
        <p:nvSpPr>
          <p:cNvPr id="647" name="r648"/>
          <p:cNvSpPr/>
          <p:nvPr/>
        </p:nvSpPr>
        <p:spPr>
          <a:xfrm>
            <a:off x="6492240" y="1371600"/>
            <a:ext cx="5029200" cy="502920"/>
          </a:xfrm>
          <a:prstGeom prst="rect">
            <a:avLst/>
          </a:prstGeom>
          <a:solidFill>
            <a:srgbClr val="0B5FA5"/>
          </a:solidFill>
          <a:ln>
            <a:noFill/>
          </a:ln>
        </p:spPr>
        <p:txBody>
          <a:bodyPr/>
          <a:lstStyle/>
          <a:p/>
        </p:txBody>
      </p:sp>
      <p:sp>
        <p:nvSpPr>
          <p:cNvPr id="649" name="t650"/>
          <p:cNvSpPr txBox="1"/>
          <p:nvPr/>
        </p:nvSpPr>
        <p:spPr>
          <a:xfrm>
            <a:off x="6492240" y="1408176"/>
            <a:ext cx="5029200" cy="42976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Arial"/>
              </a:rPr>
              <a:t>Effort by delivery stage</a:t>
            </a:r>
          </a:p>
        </p:txBody>
      </p:sp>
      <p:sp>
        <p:nvSpPr>
          <p:cNvPr id="651" name="t652"/>
          <p:cNvSpPr txBox="1"/>
          <p:nvPr/>
        </p:nvSpPr>
        <p:spPr>
          <a:xfrm>
            <a:off x="6492240" y="2057400"/>
            <a:ext cx="2743200" cy="347472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Blockwright (build)</a:t>
            </a:r>
          </a:p>
        </p:txBody>
      </p:sp>
      <p:sp>
        <p:nvSpPr>
          <p:cNvPr id="653" name="r654"/>
          <p:cNvSpPr/>
          <p:nvPr/>
        </p:nvSpPr>
        <p:spPr>
          <a:xfrm>
            <a:off x="9326880" y="2121408"/>
            <a:ext cx="1828800" cy="201168"/>
          </a:xfrm>
          <a:prstGeom prst="rect">
            <a:avLst/>
          </a:prstGeom>
          <a:solidFill>
            <a:srgbClr val="3F8F6B"/>
          </a:solidFill>
          <a:ln>
            <a:noFill/>
          </a:ln>
        </p:spPr>
        <p:txBody>
          <a:bodyPr/>
          <a:lstStyle/>
          <a:p/>
        </p:txBody>
      </p:sp>
      <p:sp>
        <p:nvSpPr>
          <p:cNvPr id="655" name="t656"/>
          <p:cNvSpPr txBox="1"/>
          <p:nvPr/>
        </p:nvSpPr>
        <p:spPr>
          <a:xfrm>
            <a:off x="11185680" y="2075688"/>
            <a:ext cx="914400" cy="292608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3F8F6B"/>
                </a:solidFill>
                <a:latin typeface="Arial"/>
              </a:rPr>
              <a:t>38%</a:t>
            </a:r>
          </a:p>
        </p:txBody>
      </p:sp>
      <p:sp>
        <p:nvSpPr>
          <p:cNvPr id="657" name="t658"/>
          <p:cNvSpPr txBox="1"/>
          <p:nvPr/>
        </p:nvSpPr>
        <p:spPr>
          <a:xfrm>
            <a:off x="6492240" y="2468880"/>
            <a:ext cx="2743200" cy="347472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Sentinel (review + tests)</a:t>
            </a:r>
          </a:p>
        </p:txBody>
      </p:sp>
      <p:sp>
        <p:nvSpPr>
          <p:cNvPr id="659" name="r660"/>
          <p:cNvSpPr/>
          <p:nvPr/>
        </p:nvSpPr>
        <p:spPr>
          <a:xfrm>
            <a:off x="9326880" y="2532888"/>
            <a:ext cx="812800" cy="201168"/>
          </a:xfrm>
          <a:prstGeom prst="rect">
            <a:avLst/>
          </a:prstGeom>
          <a:solidFill>
            <a:srgbClr val="071D49"/>
          </a:solidFill>
          <a:ln>
            <a:noFill/>
          </a:ln>
        </p:spPr>
        <p:txBody>
          <a:bodyPr/>
          <a:lstStyle/>
          <a:p/>
        </p:txBody>
      </p:sp>
      <p:sp>
        <p:nvSpPr>
          <p:cNvPr id="661" name="t662"/>
          <p:cNvSpPr txBox="1"/>
          <p:nvPr/>
        </p:nvSpPr>
        <p:spPr>
          <a:xfrm>
            <a:off x="10169680" y="2487168"/>
            <a:ext cx="914400" cy="292608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071D49"/>
                </a:solidFill>
                <a:latin typeface="Arial"/>
              </a:rPr>
              <a:t>17%</a:t>
            </a:r>
          </a:p>
        </p:txBody>
      </p:sp>
      <p:sp>
        <p:nvSpPr>
          <p:cNvPr id="663" name="t664"/>
          <p:cNvSpPr txBox="1"/>
          <p:nvPr/>
        </p:nvSpPr>
        <p:spPr>
          <a:xfrm>
            <a:off x="6492240" y="2880360"/>
            <a:ext cx="2743200" cy="347472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Composer (library + pages)</a:t>
            </a:r>
          </a:p>
        </p:txBody>
      </p:sp>
      <p:sp>
        <p:nvSpPr>
          <p:cNvPr id="665" name="r666"/>
          <p:cNvSpPr/>
          <p:nvPr/>
        </p:nvSpPr>
        <p:spPr>
          <a:xfrm>
            <a:off x="9326880" y="2944368"/>
            <a:ext cx="787400" cy="201168"/>
          </a:xfrm>
          <a:prstGeom prst="rect">
            <a:avLst/>
          </a:prstGeom>
          <a:solidFill>
            <a:srgbClr val="C9962E"/>
          </a:solidFill>
          <a:ln>
            <a:noFill/>
          </a:ln>
        </p:spPr>
        <p:txBody>
          <a:bodyPr/>
          <a:lstStyle/>
          <a:p/>
        </p:txBody>
      </p:sp>
      <p:sp>
        <p:nvSpPr>
          <p:cNvPr id="667" name="t668"/>
          <p:cNvSpPr txBox="1"/>
          <p:nvPr/>
        </p:nvSpPr>
        <p:spPr>
          <a:xfrm>
            <a:off x="10144280" y="2898648"/>
            <a:ext cx="914400" cy="292608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C9962E"/>
                </a:solidFill>
                <a:latin typeface="Arial"/>
              </a:rPr>
              <a:t>16%</a:t>
            </a:r>
          </a:p>
        </p:txBody>
      </p:sp>
      <p:sp>
        <p:nvSpPr>
          <p:cNvPr id="669" name="t670"/>
          <p:cNvSpPr txBox="1"/>
          <p:nvPr/>
        </p:nvSpPr>
        <p:spPr>
          <a:xfrm>
            <a:off x="6492240" y="3291840"/>
            <a:ext cx="2743200" cy="347472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Strategist (plan)</a:t>
            </a:r>
          </a:p>
        </p:txBody>
      </p:sp>
      <p:sp>
        <p:nvSpPr>
          <p:cNvPr id="671" name="r672"/>
          <p:cNvSpPr/>
          <p:nvPr/>
        </p:nvSpPr>
        <p:spPr>
          <a:xfrm>
            <a:off x="9326880" y="3355848"/>
            <a:ext cx="584200" cy="201168"/>
          </a:xfrm>
          <a:prstGeom prst="rect">
            <a:avLst/>
          </a:prstGeom>
          <a:solidFill>
            <a:srgbClr val="0B5FA5"/>
          </a:solidFill>
          <a:ln>
            <a:noFill/>
          </a:ln>
        </p:spPr>
        <p:txBody>
          <a:bodyPr/>
          <a:lstStyle/>
          <a:p/>
        </p:txBody>
      </p:sp>
      <p:sp>
        <p:nvSpPr>
          <p:cNvPr id="673" name="t674"/>
          <p:cNvSpPr txBox="1"/>
          <p:nvPr/>
        </p:nvSpPr>
        <p:spPr>
          <a:xfrm>
            <a:off x="9941080" y="3310128"/>
            <a:ext cx="914400" cy="292608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0B5FA5"/>
                </a:solidFill>
                <a:latin typeface="Arial"/>
              </a:rPr>
              <a:t>12%</a:t>
            </a:r>
          </a:p>
        </p:txBody>
      </p:sp>
      <p:sp>
        <p:nvSpPr>
          <p:cNvPr id="675" name="t676"/>
          <p:cNvSpPr txBox="1"/>
          <p:nvPr/>
        </p:nvSpPr>
        <p:spPr>
          <a:xfrm>
            <a:off x="6492240" y="3703320"/>
            <a:ext cx="2743200" cy="347472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Styleforge (design)</a:t>
            </a:r>
          </a:p>
        </p:txBody>
      </p:sp>
      <p:sp>
        <p:nvSpPr>
          <p:cNvPr id="677" name="r678"/>
          <p:cNvSpPr/>
          <p:nvPr/>
        </p:nvSpPr>
        <p:spPr>
          <a:xfrm>
            <a:off x="9326880" y="3767328"/>
            <a:ext cx="431800" cy="201168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679" name="t680"/>
          <p:cNvSpPr txBox="1"/>
          <p:nvPr/>
        </p:nvSpPr>
        <p:spPr>
          <a:xfrm>
            <a:off x="9788680" y="3721608"/>
            <a:ext cx="914400" cy="292608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E8553D"/>
                </a:solidFill>
                <a:latin typeface="Arial"/>
              </a:rPr>
              <a:t>9%</a:t>
            </a:r>
          </a:p>
        </p:txBody>
      </p:sp>
      <p:sp>
        <p:nvSpPr>
          <p:cNvPr id="681" name="t682"/>
          <p:cNvSpPr txBox="1"/>
          <p:nvPr/>
        </p:nvSpPr>
        <p:spPr>
          <a:xfrm>
            <a:off x="6492240" y="4114800"/>
            <a:ext cx="2743200" cy="347472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Pilot (deploy)</a:t>
            </a:r>
          </a:p>
        </p:txBody>
      </p:sp>
      <p:sp>
        <p:nvSpPr>
          <p:cNvPr id="683" name="r684"/>
          <p:cNvSpPr/>
          <p:nvPr/>
        </p:nvSpPr>
        <p:spPr>
          <a:xfrm>
            <a:off x="9326880" y="4178808"/>
            <a:ext cx="228600" cy="201168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txBody>
          <a:bodyPr/>
          <a:lstStyle/>
          <a:p/>
        </p:txBody>
      </p:sp>
      <p:sp>
        <p:nvSpPr>
          <p:cNvPr id="685" name="t686"/>
          <p:cNvSpPr txBox="1"/>
          <p:nvPr/>
        </p:nvSpPr>
        <p:spPr>
          <a:xfrm>
            <a:off x="9585480" y="4133088"/>
            <a:ext cx="914400" cy="292608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5A5A5A"/>
                </a:solidFill>
                <a:latin typeface="Arial"/>
              </a:rPr>
              <a:t>5%</a:t>
            </a:r>
          </a:p>
        </p:txBody>
      </p:sp>
      <p:sp>
        <p:nvSpPr>
          <p:cNvPr id="687" name="r688"/>
          <p:cNvSpPr/>
          <p:nvPr/>
        </p:nvSpPr>
        <p:spPr>
          <a:xfrm>
            <a:off x="6492240" y="4663440"/>
            <a:ext cx="5029200" cy="868680"/>
          </a:xfrm>
          <a:prstGeom prst="rect">
            <a:avLst/>
          </a:prstGeom>
          <a:solidFill>
            <a:srgbClr val="E8F0FA"/>
          </a:solidFill>
          <a:ln w="9525">
            <a:solidFill>
              <a:srgbClr val="0B5FA5"/>
            </a:solidFill>
          </a:ln>
        </p:spPr>
        <p:txBody>
          <a:bodyPr/>
          <a:lstStyle/>
          <a:p/>
        </p:txBody>
      </p:sp>
      <p:sp>
        <p:nvSpPr>
          <p:cNvPr id="689" name="t690"/>
          <p:cNvSpPr txBox="1"/>
          <p:nvPr/>
        </p:nvSpPr>
        <p:spPr>
          <a:xfrm>
            <a:off x="6629400" y="4736592"/>
            <a:ext cx="4846320" cy="7772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80"/>
              </a:spcAft>
              <a:buNone/>
            </a:pPr>
            <a:r>
              <a:rPr lang="en-US" sz="1150" b="1">
                <a:solidFill>
                  <a:srgbClr val="071D49"/>
                </a:solidFill>
                <a:latin typeface="Arial"/>
              </a:rPr>
              <a:t>Range with uncertainty: 165–215 person-days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≈ 33–43 person-weeks · ~8–10.5 person-months</a:t>
            </a:r>
          </a:p>
        </p:txBody>
      </p:sp>
      <p:sp>
        <p:nvSpPr>
          <p:cNvPr id="701" name="t702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5A5A5A"/>
                </a:solidFill>
                <a:latin typeface="Arial"/>
              </a:rPr>
              <a:t>AbbVie Pharma Portfolio → AEM Edge Delivery Services  |  Confidential – Client Proposal</a:t>
            </a:r>
          </a:p>
        </p:txBody>
      </p:sp>
      <p:sp>
        <p:nvSpPr>
          <p:cNvPr id="703" name="t704"/>
          <p:cNvSpPr txBox="1"/>
          <p:nvPr/>
        </p:nvSpPr>
        <p:spPr>
          <a:xfrm>
            <a:off x="10058400" y="5989320"/>
            <a:ext cx="173736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r">
              <a:spcAft>
                <a:spcPts val="0"/>
              </a:spcAft>
              <a:buNone/>
            </a:pPr>
            <a:r>
              <a:rPr lang="en-US" sz="1000" b="1">
                <a:solidFill>
                  <a:srgbClr val="071D49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r69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93" name="r694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71D49"/>
          </a:solidFill>
          <a:ln>
            <a:noFill/>
          </a:ln>
        </p:spPr>
        <p:txBody>
          <a:bodyPr/>
          <a:lstStyle/>
          <a:p/>
        </p:txBody>
      </p:sp>
      <p:sp>
        <p:nvSpPr>
          <p:cNvPr id="695" name="r696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697" name="t698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E8553D"/>
                </a:solidFill>
                <a:latin typeface="Arial"/>
              </a:rPr>
              <a:t>BOTTOM-UP SIZING</a:t>
            </a:r>
          </a:p>
        </p:txBody>
      </p:sp>
      <p:sp>
        <p:nvSpPr>
          <p:cNvPr id="699" name="t700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Arial"/>
              </a:rPr>
              <a:t>Effort Estimate  ·  Wave 2 + Program Total</a:t>
            </a:r>
          </a:p>
        </p:txBody>
      </p:sp>
      <p:sp>
        <p:nvSpPr>
          <p:cNvPr id="1237" name="r1237"/>
          <p:cNvSpPr/>
          <p:nvPr/>
        </p:nvSpPr>
        <p:spPr>
          <a:xfrm>
            <a:off x="548640" y="1320000"/>
            <a:ext cx="4319451" cy="300000"/>
          </a:xfrm>
          <a:prstGeom prst="rect">
            <a:avLst/>
          </a:prstGeom>
          <a:solidFill>
            <a:srgbClr val="071D49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38" name="t1238"/>
          <p:cNvSpPr txBox="1"/>
          <p:nvPr/>
        </p:nvSpPr>
        <p:spPr>
          <a:xfrm>
            <a:off x="548640" y="1320000"/>
            <a:ext cx="4319451" cy="30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FFFFFF"/>
                </a:solidFill>
                <a:latin typeface="Arial"/>
              </a:rPr>
              <a:t>Workstream</a:t>
            </a:r>
          </a:p>
        </p:txBody>
      </p:sp>
      <p:sp>
        <p:nvSpPr>
          <p:cNvPr id="1239" name="r1239"/>
          <p:cNvSpPr/>
          <p:nvPr/>
        </p:nvSpPr>
        <p:spPr>
          <a:xfrm>
            <a:off x="4868091" y="1320000"/>
            <a:ext cx="1349828" cy="300000"/>
          </a:xfrm>
          <a:prstGeom prst="rect">
            <a:avLst/>
          </a:prstGeom>
          <a:solidFill>
            <a:srgbClr val="071D49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40" name="t1240"/>
          <p:cNvSpPr txBox="1"/>
          <p:nvPr/>
        </p:nvSpPr>
        <p:spPr>
          <a:xfrm>
            <a:off x="4868091" y="1320000"/>
            <a:ext cx="1349828" cy="30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1">
                <a:solidFill>
                  <a:srgbClr val="FFFFFF"/>
                </a:solidFill>
                <a:latin typeface="Arial"/>
              </a:rPr>
              <a:t>Person-days</a:t>
            </a:r>
          </a:p>
        </p:txBody>
      </p:sp>
      <p:sp>
        <p:nvSpPr>
          <p:cNvPr id="1241" name="r1241"/>
          <p:cNvSpPr/>
          <p:nvPr/>
        </p:nvSpPr>
        <p:spPr>
          <a:xfrm>
            <a:off x="548640" y="1620000"/>
            <a:ext cx="4319451" cy="3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42" name="t1242"/>
          <p:cNvSpPr txBox="1"/>
          <p:nvPr/>
        </p:nvSpPr>
        <p:spPr>
          <a:xfrm>
            <a:off x="548640" y="1620000"/>
            <a:ext cx="4319451" cy="30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viberzihcp.com</a:t>
            </a:r>
          </a:p>
        </p:txBody>
      </p:sp>
      <p:sp>
        <p:nvSpPr>
          <p:cNvPr id="1243" name="r1243"/>
          <p:cNvSpPr/>
          <p:nvPr/>
        </p:nvSpPr>
        <p:spPr>
          <a:xfrm>
            <a:off x="4868091" y="1620000"/>
            <a:ext cx="1349828" cy="3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44" name="t1244"/>
          <p:cNvSpPr txBox="1"/>
          <p:nvPr/>
        </p:nvSpPr>
        <p:spPr>
          <a:xfrm>
            <a:off x="4868091" y="1620000"/>
            <a:ext cx="1349828" cy="30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15.5</a:t>
            </a:r>
          </a:p>
        </p:txBody>
      </p:sp>
      <p:sp>
        <p:nvSpPr>
          <p:cNvPr id="1245" name="r1245"/>
          <p:cNvSpPr/>
          <p:nvPr/>
        </p:nvSpPr>
        <p:spPr>
          <a:xfrm>
            <a:off x="548640" y="1920000"/>
            <a:ext cx="4319451" cy="30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46" name="t1246"/>
          <p:cNvSpPr txBox="1"/>
          <p:nvPr/>
        </p:nvSpPr>
        <p:spPr>
          <a:xfrm>
            <a:off x="548640" y="1920000"/>
            <a:ext cx="4319451" cy="30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teflaro.com</a:t>
            </a:r>
          </a:p>
        </p:txBody>
      </p:sp>
      <p:sp>
        <p:nvSpPr>
          <p:cNvPr id="1247" name="r1247"/>
          <p:cNvSpPr/>
          <p:nvPr/>
        </p:nvSpPr>
        <p:spPr>
          <a:xfrm>
            <a:off x="4868091" y="1920000"/>
            <a:ext cx="1349828" cy="30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48" name="t1248"/>
          <p:cNvSpPr txBox="1"/>
          <p:nvPr/>
        </p:nvSpPr>
        <p:spPr>
          <a:xfrm>
            <a:off x="4868091" y="1920000"/>
            <a:ext cx="1349828" cy="30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18.5</a:t>
            </a:r>
          </a:p>
        </p:txBody>
      </p:sp>
      <p:sp>
        <p:nvSpPr>
          <p:cNvPr id="1249" name="r1249"/>
          <p:cNvSpPr/>
          <p:nvPr/>
        </p:nvSpPr>
        <p:spPr>
          <a:xfrm>
            <a:off x="548640" y="2220000"/>
            <a:ext cx="4319451" cy="3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50" name="t1250"/>
          <p:cNvSpPr txBox="1"/>
          <p:nvPr/>
        </p:nvSpPr>
        <p:spPr>
          <a:xfrm>
            <a:off x="548640" y="2220000"/>
            <a:ext cx="4319451" cy="30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xengelstent.com</a:t>
            </a:r>
          </a:p>
        </p:txBody>
      </p:sp>
      <p:sp>
        <p:nvSpPr>
          <p:cNvPr id="1251" name="r1251"/>
          <p:cNvSpPr/>
          <p:nvPr/>
        </p:nvSpPr>
        <p:spPr>
          <a:xfrm>
            <a:off x="4868091" y="2220000"/>
            <a:ext cx="1349828" cy="3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52" name="t1252"/>
          <p:cNvSpPr txBox="1"/>
          <p:nvPr/>
        </p:nvSpPr>
        <p:spPr>
          <a:xfrm>
            <a:off x="4868091" y="2220000"/>
            <a:ext cx="1349828" cy="30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7.5</a:t>
            </a:r>
          </a:p>
        </p:txBody>
      </p:sp>
      <p:sp>
        <p:nvSpPr>
          <p:cNvPr id="1253" name="r1253"/>
          <p:cNvSpPr/>
          <p:nvPr/>
        </p:nvSpPr>
        <p:spPr>
          <a:xfrm>
            <a:off x="548640" y="2520000"/>
            <a:ext cx="4319451" cy="30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54" name="t1254"/>
          <p:cNvSpPr txBox="1"/>
          <p:nvPr/>
        </p:nvSpPr>
        <p:spPr>
          <a:xfrm>
            <a:off x="548640" y="2520000"/>
            <a:ext cx="4319451" cy="30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myglaucoma.com</a:t>
            </a:r>
          </a:p>
        </p:txBody>
      </p:sp>
      <p:sp>
        <p:nvSpPr>
          <p:cNvPr id="1255" name="r1255"/>
          <p:cNvSpPr/>
          <p:nvPr/>
        </p:nvSpPr>
        <p:spPr>
          <a:xfrm>
            <a:off x="4868091" y="2520000"/>
            <a:ext cx="1349828" cy="30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56" name="t1256"/>
          <p:cNvSpPr txBox="1"/>
          <p:nvPr/>
        </p:nvSpPr>
        <p:spPr>
          <a:xfrm>
            <a:off x="4868091" y="2520000"/>
            <a:ext cx="1349828" cy="30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13.0</a:t>
            </a:r>
          </a:p>
        </p:txBody>
      </p:sp>
      <p:sp>
        <p:nvSpPr>
          <p:cNvPr id="1257" name="r1257"/>
          <p:cNvSpPr/>
          <p:nvPr/>
        </p:nvSpPr>
        <p:spPr>
          <a:xfrm>
            <a:off x="548640" y="2820000"/>
            <a:ext cx="4319451" cy="3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58" name="t1258"/>
          <p:cNvSpPr txBox="1"/>
          <p:nvPr/>
        </p:nvSpPr>
        <p:spPr>
          <a:xfrm>
            <a:off x="548640" y="2820000"/>
            <a:ext cx="4319451" cy="30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restasis.com</a:t>
            </a:r>
          </a:p>
        </p:txBody>
      </p:sp>
      <p:sp>
        <p:nvSpPr>
          <p:cNvPr id="1259" name="r1259"/>
          <p:cNvSpPr/>
          <p:nvPr/>
        </p:nvSpPr>
        <p:spPr>
          <a:xfrm>
            <a:off x="4868091" y="2820000"/>
            <a:ext cx="1349828" cy="3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60" name="t1260"/>
          <p:cNvSpPr txBox="1"/>
          <p:nvPr/>
        </p:nvSpPr>
        <p:spPr>
          <a:xfrm>
            <a:off x="4868091" y="2820000"/>
            <a:ext cx="1349828" cy="30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15.0</a:t>
            </a:r>
          </a:p>
        </p:txBody>
      </p:sp>
      <p:sp>
        <p:nvSpPr>
          <p:cNvPr id="1261" name="r1261"/>
          <p:cNvSpPr/>
          <p:nvPr/>
        </p:nvSpPr>
        <p:spPr>
          <a:xfrm>
            <a:off x="548640" y="3120000"/>
            <a:ext cx="4319451" cy="30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62" name="t1262"/>
          <p:cNvSpPr txBox="1"/>
          <p:nvPr/>
        </p:nvSpPr>
        <p:spPr>
          <a:xfrm>
            <a:off x="548640" y="3120000"/>
            <a:ext cx="4319451" cy="30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bystolic.com</a:t>
            </a:r>
          </a:p>
        </p:txBody>
      </p:sp>
      <p:sp>
        <p:nvSpPr>
          <p:cNvPr id="1263" name="r1263"/>
          <p:cNvSpPr/>
          <p:nvPr/>
        </p:nvSpPr>
        <p:spPr>
          <a:xfrm>
            <a:off x="4868091" y="3120000"/>
            <a:ext cx="1349828" cy="30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64" name="t1264"/>
          <p:cNvSpPr txBox="1"/>
          <p:nvPr/>
        </p:nvSpPr>
        <p:spPr>
          <a:xfrm>
            <a:off x="4868091" y="3120000"/>
            <a:ext cx="1349828" cy="30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12.25</a:t>
            </a:r>
          </a:p>
        </p:txBody>
      </p:sp>
      <p:sp>
        <p:nvSpPr>
          <p:cNvPr id="1265" name="r1265"/>
          <p:cNvSpPr/>
          <p:nvPr/>
        </p:nvSpPr>
        <p:spPr>
          <a:xfrm>
            <a:off x="548640" y="3420000"/>
            <a:ext cx="4319451" cy="3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66" name="t1266"/>
          <p:cNvSpPr txBox="1"/>
          <p:nvPr/>
        </p:nvSpPr>
        <p:spPr>
          <a:xfrm>
            <a:off x="548640" y="3420000"/>
            <a:ext cx="4319451" cy="30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viibryd.com</a:t>
            </a:r>
          </a:p>
        </p:txBody>
      </p:sp>
      <p:sp>
        <p:nvSpPr>
          <p:cNvPr id="1267" name="r1267"/>
          <p:cNvSpPr/>
          <p:nvPr/>
        </p:nvSpPr>
        <p:spPr>
          <a:xfrm>
            <a:off x="4868091" y="3420000"/>
            <a:ext cx="1349828" cy="3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68" name="t1268"/>
          <p:cNvSpPr txBox="1"/>
          <p:nvPr/>
        </p:nvSpPr>
        <p:spPr>
          <a:xfrm>
            <a:off x="4868091" y="3420000"/>
            <a:ext cx="1349828" cy="30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12.5</a:t>
            </a:r>
          </a:p>
        </p:txBody>
      </p:sp>
      <p:sp>
        <p:nvSpPr>
          <p:cNvPr id="1269" name="r1269"/>
          <p:cNvSpPr/>
          <p:nvPr/>
        </p:nvSpPr>
        <p:spPr>
          <a:xfrm>
            <a:off x="548640" y="3720000"/>
            <a:ext cx="4319451" cy="30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70" name="t1270"/>
          <p:cNvSpPr txBox="1"/>
          <p:nvPr/>
        </p:nvSpPr>
        <p:spPr>
          <a:xfrm>
            <a:off x="548640" y="3720000"/>
            <a:ext cx="4319451" cy="30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infedlocator.com</a:t>
            </a:r>
          </a:p>
        </p:txBody>
      </p:sp>
      <p:sp>
        <p:nvSpPr>
          <p:cNvPr id="1271" name="r1271"/>
          <p:cNvSpPr/>
          <p:nvPr/>
        </p:nvSpPr>
        <p:spPr>
          <a:xfrm>
            <a:off x="4868091" y="3720000"/>
            <a:ext cx="1349828" cy="30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72" name="t1272"/>
          <p:cNvSpPr txBox="1"/>
          <p:nvPr/>
        </p:nvSpPr>
        <p:spPr>
          <a:xfrm>
            <a:off x="4868091" y="3720000"/>
            <a:ext cx="1349828" cy="30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11.75</a:t>
            </a:r>
          </a:p>
        </p:txBody>
      </p:sp>
      <p:sp>
        <p:nvSpPr>
          <p:cNvPr id="1273" name="r1273"/>
          <p:cNvSpPr/>
          <p:nvPr/>
        </p:nvSpPr>
        <p:spPr>
          <a:xfrm>
            <a:off x="548640" y="4020000"/>
            <a:ext cx="4319451" cy="3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74" name="t1274"/>
          <p:cNvSpPr txBox="1"/>
          <p:nvPr/>
        </p:nvSpPr>
        <p:spPr>
          <a:xfrm>
            <a:off x="548640" y="4020000"/>
            <a:ext cx="4319451" cy="30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depakotehcp.com</a:t>
            </a:r>
          </a:p>
        </p:txBody>
      </p:sp>
      <p:sp>
        <p:nvSpPr>
          <p:cNvPr id="1275" name="r1275"/>
          <p:cNvSpPr/>
          <p:nvPr/>
        </p:nvSpPr>
        <p:spPr>
          <a:xfrm>
            <a:off x="4868091" y="4020000"/>
            <a:ext cx="1349828" cy="3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76" name="t1276"/>
          <p:cNvSpPr txBox="1"/>
          <p:nvPr/>
        </p:nvSpPr>
        <p:spPr>
          <a:xfrm>
            <a:off x="4868091" y="4020000"/>
            <a:ext cx="1349828" cy="30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17.0</a:t>
            </a:r>
          </a:p>
        </p:txBody>
      </p:sp>
      <p:sp>
        <p:nvSpPr>
          <p:cNvPr id="1277" name="r1277"/>
          <p:cNvSpPr/>
          <p:nvPr/>
        </p:nvSpPr>
        <p:spPr>
          <a:xfrm>
            <a:off x="548640" y="4320000"/>
            <a:ext cx="4319451" cy="30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78" name="t1278"/>
          <p:cNvSpPr txBox="1"/>
          <p:nvPr/>
        </p:nvSpPr>
        <p:spPr>
          <a:xfrm>
            <a:off x="548640" y="4320000"/>
            <a:ext cx="4319451" cy="30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depakote.com</a:t>
            </a:r>
          </a:p>
        </p:txBody>
      </p:sp>
      <p:sp>
        <p:nvSpPr>
          <p:cNvPr id="1279" name="r1279"/>
          <p:cNvSpPr/>
          <p:nvPr/>
        </p:nvSpPr>
        <p:spPr>
          <a:xfrm>
            <a:off x="4868091" y="4320000"/>
            <a:ext cx="1349828" cy="30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80" name="t1280"/>
          <p:cNvSpPr txBox="1"/>
          <p:nvPr/>
        </p:nvSpPr>
        <p:spPr>
          <a:xfrm>
            <a:off x="4868091" y="4320000"/>
            <a:ext cx="1349828" cy="30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16.5</a:t>
            </a:r>
          </a:p>
        </p:txBody>
      </p:sp>
      <p:sp>
        <p:nvSpPr>
          <p:cNvPr id="1281" name="r1281"/>
          <p:cNvSpPr/>
          <p:nvPr/>
        </p:nvSpPr>
        <p:spPr>
          <a:xfrm>
            <a:off x="548640" y="4620000"/>
            <a:ext cx="4319451" cy="3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82" name="t1282"/>
          <p:cNvSpPr txBox="1"/>
          <p:nvPr/>
        </p:nvSpPr>
        <p:spPr>
          <a:xfrm>
            <a:off x="548640" y="4620000"/>
            <a:ext cx="4319451" cy="30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taytulla.com</a:t>
            </a:r>
          </a:p>
        </p:txBody>
      </p:sp>
      <p:sp>
        <p:nvSpPr>
          <p:cNvPr id="1283" name="r1283"/>
          <p:cNvSpPr/>
          <p:nvPr/>
        </p:nvSpPr>
        <p:spPr>
          <a:xfrm>
            <a:off x="4868091" y="4620000"/>
            <a:ext cx="1349828" cy="3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84" name="t1284"/>
          <p:cNvSpPr txBox="1"/>
          <p:nvPr/>
        </p:nvSpPr>
        <p:spPr>
          <a:xfrm>
            <a:off x="4868091" y="4620000"/>
            <a:ext cx="1349828" cy="30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15.5</a:t>
            </a:r>
          </a:p>
        </p:txBody>
      </p:sp>
      <p:sp>
        <p:nvSpPr>
          <p:cNvPr id="1285" name="r1285"/>
          <p:cNvSpPr/>
          <p:nvPr/>
        </p:nvSpPr>
        <p:spPr>
          <a:xfrm>
            <a:off x="548640" y="4920000"/>
            <a:ext cx="4319451" cy="30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86" name="t1286"/>
          <p:cNvSpPr txBox="1"/>
          <p:nvPr/>
        </p:nvSpPr>
        <p:spPr>
          <a:xfrm>
            <a:off x="548640" y="4920000"/>
            <a:ext cx="4319451" cy="30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fetzima.com</a:t>
            </a:r>
          </a:p>
        </p:txBody>
      </p:sp>
      <p:sp>
        <p:nvSpPr>
          <p:cNvPr id="1287" name="r1287"/>
          <p:cNvSpPr/>
          <p:nvPr/>
        </p:nvSpPr>
        <p:spPr>
          <a:xfrm>
            <a:off x="4868091" y="4920000"/>
            <a:ext cx="1349828" cy="30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88" name="t1288"/>
          <p:cNvSpPr txBox="1"/>
          <p:nvPr/>
        </p:nvSpPr>
        <p:spPr>
          <a:xfrm>
            <a:off x="4868091" y="4920000"/>
            <a:ext cx="1349828" cy="30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2B2B2B"/>
                </a:solidFill>
                <a:latin typeface="Arial"/>
              </a:rPr>
              <a:t>11.25</a:t>
            </a:r>
          </a:p>
        </p:txBody>
      </p:sp>
      <p:sp>
        <p:nvSpPr>
          <p:cNvPr id="1289" name="r1289"/>
          <p:cNvSpPr/>
          <p:nvPr/>
        </p:nvSpPr>
        <p:spPr>
          <a:xfrm>
            <a:off x="548640" y="5220000"/>
            <a:ext cx="4319451" cy="3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90" name="t1290"/>
          <p:cNvSpPr txBox="1"/>
          <p:nvPr/>
        </p:nvSpPr>
        <p:spPr>
          <a:xfrm>
            <a:off x="548640" y="5220000"/>
            <a:ext cx="4319451" cy="30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071D49"/>
                </a:solidFill>
                <a:latin typeface="Arial"/>
              </a:rPr>
              <a:t>Wave 2 site subtotal</a:t>
            </a:r>
          </a:p>
        </p:txBody>
      </p:sp>
      <p:sp>
        <p:nvSpPr>
          <p:cNvPr id="1291" name="r1291"/>
          <p:cNvSpPr/>
          <p:nvPr/>
        </p:nvSpPr>
        <p:spPr>
          <a:xfrm>
            <a:off x="4868091" y="5220000"/>
            <a:ext cx="1349828" cy="3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92" name="t1292"/>
          <p:cNvSpPr txBox="1"/>
          <p:nvPr/>
        </p:nvSpPr>
        <p:spPr>
          <a:xfrm>
            <a:off x="4868091" y="5220000"/>
            <a:ext cx="1349828" cy="30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071D49"/>
                </a:solidFill>
                <a:latin typeface="Arial"/>
              </a:rPr>
              <a:t>166.25</a:t>
            </a:r>
          </a:p>
        </p:txBody>
      </p:sp>
      <p:sp>
        <p:nvSpPr>
          <p:cNvPr id="1293" name="r1293"/>
          <p:cNvSpPr/>
          <p:nvPr/>
        </p:nvSpPr>
        <p:spPr>
          <a:xfrm>
            <a:off x="548640" y="5520000"/>
            <a:ext cx="4319451" cy="30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94" name="t1294"/>
          <p:cNvSpPr txBox="1"/>
          <p:nvPr/>
        </p:nvSpPr>
        <p:spPr>
          <a:xfrm>
            <a:off x="548640" y="5520000"/>
            <a:ext cx="4319451" cy="30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071D49"/>
                </a:solidFill>
                <a:latin typeface="Arial"/>
              </a:rPr>
              <a:t>Wave 2 total (+ foundation + overhead)</a:t>
            </a:r>
          </a:p>
        </p:txBody>
      </p:sp>
      <p:sp>
        <p:nvSpPr>
          <p:cNvPr id="1295" name="r1295"/>
          <p:cNvSpPr/>
          <p:nvPr/>
        </p:nvSpPr>
        <p:spPr>
          <a:xfrm>
            <a:off x="4868091" y="5520000"/>
            <a:ext cx="1349828" cy="30000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96" name="t1296"/>
          <p:cNvSpPr txBox="1"/>
          <p:nvPr/>
        </p:nvSpPr>
        <p:spPr>
          <a:xfrm>
            <a:off x="4868091" y="5520000"/>
            <a:ext cx="1349828" cy="30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1">
                <a:solidFill>
                  <a:srgbClr val="071D49"/>
                </a:solidFill>
                <a:latin typeface="Arial"/>
              </a:rPr>
              <a:t>~219</a:t>
            </a:r>
          </a:p>
        </p:txBody>
      </p:sp>
      <p:sp>
        <p:nvSpPr>
          <p:cNvPr id="1297" name="r1297"/>
          <p:cNvSpPr/>
          <p:nvPr/>
        </p:nvSpPr>
        <p:spPr>
          <a:xfrm>
            <a:off x="6492240" y="1320000"/>
            <a:ext cx="5029200" cy="2050000"/>
          </a:xfrm>
          <a:prstGeom prst="rect">
            <a:avLst/>
          </a:prstGeom>
          <a:solidFill>
            <a:srgbClr val="E8F0FA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298" name="t1298"/>
          <p:cNvSpPr txBox="1"/>
          <p:nvPr/>
        </p:nvSpPr>
        <p:spPr>
          <a:xfrm>
            <a:off x="6629400" y="1410000"/>
            <a:ext cx="4846320" cy="36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b="1">
                <a:solidFill>
                  <a:srgbClr val="071D49"/>
                </a:solidFill>
                <a:latin typeface="Arial"/>
              </a:rPr>
              <a:t>PROGRAM ROLL-UP</a:t>
            </a:r>
          </a:p>
        </p:txBody>
      </p:sp>
      <p:sp>
        <p:nvSpPr>
          <p:cNvPr id="1299" name="t1299"/>
          <p:cNvSpPr txBox="1"/>
          <p:nvPr/>
        </p:nvSpPr>
        <p:spPr>
          <a:xfrm>
            <a:off x="6629400" y="1860000"/>
            <a:ext cx="4846320" cy="32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0">
                <a:solidFill>
                  <a:srgbClr val="2B2B2B"/>
                </a:solidFill>
                <a:latin typeface="Arial"/>
              </a:rPr>
              <a:t>Wave 1 (original six)  —  ~190 pd</a:t>
            </a:r>
          </a:p>
        </p:txBody>
      </p:sp>
      <p:sp>
        <p:nvSpPr>
          <p:cNvPr id="1300" name="t1300"/>
          <p:cNvSpPr txBox="1"/>
          <p:nvPr/>
        </p:nvSpPr>
        <p:spPr>
          <a:xfrm>
            <a:off x="6629400" y="2180000"/>
            <a:ext cx="4846320" cy="32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0">
                <a:solidFill>
                  <a:srgbClr val="2B2B2B"/>
                </a:solidFill>
                <a:latin typeface="Arial"/>
              </a:rPr>
              <a:t>Wave 2 (twelve new)  —  ~219 pd</a:t>
            </a:r>
          </a:p>
        </p:txBody>
      </p:sp>
      <p:sp>
        <p:nvSpPr>
          <p:cNvPr id="1301" name="t1301"/>
          <p:cNvSpPr txBox="1"/>
          <p:nvPr/>
        </p:nvSpPr>
        <p:spPr>
          <a:xfrm>
            <a:off x="6629400" y="2520000"/>
            <a:ext cx="4846320" cy="36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b="1">
                <a:solidFill>
                  <a:srgbClr val="071D49"/>
                </a:solidFill>
                <a:latin typeface="Arial"/>
              </a:rPr>
              <a:t>Program grand total  —  ~409 pd</a:t>
            </a:r>
          </a:p>
        </p:txBody>
      </p:sp>
      <p:sp>
        <p:nvSpPr>
          <p:cNvPr id="1302" name="t1302"/>
          <p:cNvSpPr txBox="1"/>
          <p:nvPr/>
        </p:nvSpPr>
        <p:spPr>
          <a:xfrm>
            <a:off x="6629400" y="2950000"/>
            <a:ext cx="4846320" cy="3200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5A5A5A"/>
                </a:solidFill>
                <a:latin typeface="Arial"/>
              </a:rPr>
              <a:t>Range 355–465 pd · ≈ 71–93 person-weeks</a:t>
            </a:r>
          </a:p>
        </p:txBody>
      </p:sp>
      <p:sp>
        <p:nvSpPr>
          <p:cNvPr id="1303" name="t1303"/>
          <p:cNvSpPr txBox="1"/>
          <p:nvPr/>
        </p:nvSpPr>
        <p:spPr>
          <a:xfrm>
            <a:off x="6492240" y="3500000"/>
            <a:ext cx="5029200" cy="700000"/>
          </a:xfrm>
          <a:prstGeom prst="rect">
            <a:avLst/>
          </a:prstGeom>
          <a:noFill/>
        </p:spPr>
        <p:txBody>
          <a:bodyPr wrap="square" lIns="45720" tIns="18000" rIns="45720" bIns="1800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b="0">
                <a:solidFill>
                  <a:srgbClr val="5A5A5A"/>
                </a:solidFill>
                <a:latin typeface="Arial"/>
              </a:rPr>
              <a:t>Assumes the Wave-1 shared library is reused. Standalone (build the 12 shared blocks too): add ~36 pd.</a:t>
            </a:r>
          </a:p>
        </p:txBody>
      </p:sp>
      <p:sp>
        <p:nvSpPr>
          <p:cNvPr id="701" name="t702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5A5A5A"/>
                </a:solidFill>
                <a:latin typeface="Arial"/>
              </a:rPr>
              <a:t>AbbVie Pharma Portfolio → AEM Edge Delivery Services  |  Confidential – Client Proposal</a:t>
            </a:r>
          </a:p>
        </p:txBody>
      </p:sp>
      <p:sp>
        <p:nvSpPr>
          <p:cNvPr id="703" name="t704"/>
          <p:cNvSpPr txBox="1"/>
          <p:nvPr/>
        </p:nvSpPr>
        <p:spPr>
          <a:xfrm>
            <a:off x="10058400" y="5989320"/>
            <a:ext cx="173736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r">
              <a:spcAft>
                <a:spcPts val="0"/>
              </a:spcAft>
              <a:buNone/>
            </a:pPr>
            <a:r>
              <a:rPr lang="en-US" sz="1000" b="1">
                <a:solidFill>
                  <a:srgbClr val="071D49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r76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65" name="r766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71D49"/>
          </a:solidFill>
          <a:ln>
            <a:noFill/>
          </a:ln>
        </p:spPr>
        <p:txBody>
          <a:bodyPr/>
          <a:lstStyle/>
          <a:p/>
        </p:txBody>
      </p:sp>
      <p:sp>
        <p:nvSpPr>
          <p:cNvPr id="767" name="r768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769" name="t770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E8553D"/>
                </a:solidFill>
                <a:latin typeface="Arial"/>
              </a:rPr>
              <a:t>PHASING</a:t>
            </a:r>
          </a:p>
        </p:txBody>
      </p:sp>
      <p:sp>
        <p:nvSpPr>
          <p:cNvPr id="771" name="t772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Arial"/>
              </a:rPr>
              <a:t>Delivery Roadmap  ·  Wave 1</a:t>
            </a:r>
          </a:p>
        </p:txBody>
      </p:sp>
      <p:sp>
        <p:nvSpPr>
          <p:cNvPr id="705" name="t706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250" b="0">
                <a:solidFill>
                  <a:srgbClr val="2B2B2B"/>
                </a:solidFill>
                <a:latin typeface="Arial"/>
              </a:rPr>
              <a:t>A pod of 3 EDS engineers + tech lead + part-time PM/QA ≈ 11–14 calendar weeks (MLR in parallel).</a:t>
            </a:r>
          </a:p>
        </p:txBody>
      </p:sp>
      <p:sp>
        <p:nvSpPr>
          <p:cNvPr id="707" name="r708"/>
          <p:cNvSpPr/>
          <p:nvPr/>
        </p:nvSpPr>
        <p:spPr>
          <a:xfrm>
            <a:off x="548640" y="1965960"/>
            <a:ext cx="146304" cy="868680"/>
          </a:xfrm>
          <a:prstGeom prst="rect">
            <a:avLst/>
          </a:prstGeom>
          <a:solidFill>
            <a:srgbClr val="0B5F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09" name="r710"/>
          <p:cNvSpPr/>
          <p:nvPr/>
        </p:nvSpPr>
        <p:spPr>
          <a:xfrm>
            <a:off x="777240" y="1965960"/>
            <a:ext cx="1645920" cy="868680"/>
          </a:xfrm>
          <a:prstGeom prst="rect">
            <a:avLst/>
          </a:prstGeom>
          <a:solidFill>
            <a:srgbClr val="0B5F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11" name="t712"/>
          <p:cNvSpPr txBox="1"/>
          <p:nvPr/>
        </p:nvSpPr>
        <p:spPr>
          <a:xfrm>
            <a:off x="777240" y="2075688"/>
            <a:ext cx="16459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Arial"/>
              </a:rPr>
              <a:t>WAVE 0</a:t>
            </a:r>
          </a:p>
        </p:txBody>
      </p:sp>
      <p:sp>
        <p:nvSpPr>
          <p:cNvPr id="713" name="t714"/>
          <p:cNvSpPr txBox="1"/>
          <p:nvPr/>
        </p:nvSpPr>
        <p:spPr>
          <a:xfrm>
            <a:off x="777240" y="2423160"/>
            <a:ext cx="16459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50" b="1">
                <a:solidFill>
                  <a:srgbClr val="FFFFFF"/>
                </a:solidFill>
                <a:latin typeface="Arial"/>
              </a:rPr>
              <a:t>2–3 wks</a:t>
            </a:r>
          </a:p>
        </p:txBody>
      </p:sp>
      <p:sp>
        <p:nvSpPr>
          <p:cNvPr id="715" name="r716"/>
          <p:cNvSpPr/>
          <p:nvPr/>
        </p:nvSpPr>
        <p:spPr>
          <a:xfrm>
            <a:off x="2514600" y="1965960"/>
            <a:ext cx="9052560" cy="86868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717" name="t718"/>
          <p:cNvSpPr txBox="1"/>
          <p:nvPr/>
        </p:nvSpPr>
        <p:spPr>
          <a:xfrm>
            <a:off x="2651760" y="2057400"/>
            <a:ext cx="877824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b="1">
                <a:solidFill>
                  <a:srgbClr val="071D49"/>
                </a:solidFill>
                <a:latin typeface="Arial"/>
              </a:rPr>
              <a:t>Foundation</a:t>
            </a:r>
          </a:p>
        </p:txBody>
      </p:sp>
      <p:sp>
        <p:nvSpPr>
          <p:cNvPr id="719" name="t720"/>
          <p:cNvSpPr txBox="1"/>
          <p:nvPr/>
        </p:nvSpPr>
        <p:spPr>
          <a:xfrm>
            <a:off x="2651760" y="2423160"/>
            <a:ext cx="8778240" cy="384048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Design system, shared blocks, consent/analytics pattern, import pipeline. Validate on one pilot site.</a:t>
            </a:r>
          </a:p>
        </p:txBody>
      </p:sp>
      <p:sp>
        <p:nvSpPr>
          <p:cNvPr id="721" name="r722"/>
          <p:cNvSpPr/>
          <p:nvPr/>
        </p:nvSpPr>
        <p:spPr>
          <a:xfrm>
            <a:off x="548640" y="2944368"/>
            <a:ext cx="146304" cy="868680"/>
          </a:xfrm>
          <a:prstGeom prst="rect">
            <a:avLst/>
          </a:prstGeom>
          <a:solidFill>
            <a:srgbClr val="3F8F6B"/>
          </a:solidFill>
          <a:ln>
            <a:noFill/>
          </a:ln>
        </p:spPr>
        <p:txBody>
          <a:bodyPr/>
          <a:lstStyle/>
          <a:p/>
        </p:txBody>
      </p:sp>
      <p:sp>
        <p:nvSpPr>
          <p:cNvPr id="723" name="r724"/>
          <p:cNvSpPr/>
          <p:nvPr/>
        </p:nvSpPr>
        <p:spPr>
          <a:xfrm>
            <a:off x="777240" y="2944368"/>
            <a:ext cx="1645920" cy="868680"/>
          </a:xfrm>
          <a:prstGeom prst="rect">
            <a:avLst/>
          </a:prstGeom>
          <a:solidFill>
            <a:srgbClr val="3F8F6B"/>
          </a:solidFill>
          <a:ln>
            <a:noFill/>
          </a:ln>
        </p:spPr>
        <p:txBody>
          <a:bodyPr/>
          <a:lstStyle/>
          <a:p/>
        </p:txBody>
      </p:sp>
      <p:sp>
        <p:nvSpPr>
          <p:cNvPr id="725" name="t726"/>
          <p:cNvSpPr txBox="1"/>
          <p:nvPr/>
        </p:nvSpPr>
        <p:spPr>
          <a:xfrm>
            <a:off x="777240" y="3054096"/>
            <a:ext cx="16459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Arial"/>
              </a:rPr>
              <a:t>WAVE 1</a:t>
            </a:r>
          </a:p>
        </p:txBody>
      </p:sp>
      <p:sp>
        <p:nvSpPr>
          <p:cNvPr id="727" name="t728"/>
          <p:cNvSpPr txBox="1"/>
          <p:nvPr/>
        </p:nvSpPr>
        <p:spPr>
          <a:xfrm>
            <a:off x="777240" y="3401568"/>
            <a:ext cx="16459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50" b="1">
                <a:solidFill>
                  <a:srgbClr val="FFFFFF"/>
                </a:solidFill>
                <a:latin typeface="Arial"/>
              </a:rPr>
              <a:t>~4 wks</a:t>
            </a:r>
          </a:p>
        </p:txBody>
      </p:sp>
      <p:sp>
        <p:nvSpPr>
          <p:cNvPr id="729" name="r730"/>
          <p:cNvSpPr/>
          <p:nvPr/>
        </p:nvSpPr>
        <p:spPr>
          <a:xfrm>
            <a:off x="2514600" y="2944368"/>
            <a:ext cx="9052560" cy="86868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731" name="t732"/>
          <p:cNvSpPr txBox="1"/>
          <p:nvPr/>
        </p:nvSpPr>
        <p:spPr>
          <a:xfrm>
            <a:off x="2651760" y="3035808"/>
            <a:ext cx="877824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b="1">
                <a:solidFill>
                  <a:srgbClr val="071D49"/>
                </a:solidFill>
                <a:latin typeface="Arial"/>
              </a:rPr>
              <a:t>Lower-risk sites</a:t>
            </a:r>
          </a:p>
        </p:txBody>
      </p:sp>
      <p:sp>
        <p:nvSpPr>
          <p:cNvPr id="733" name="t734"/>
          <p:cNvSpPr txBox="1"/>
          <p:nvPr/>
        </p:nvSpPr>
        <p:spPr>
          <a:xfrm>
            <a:off x="2651760" y="3401568"/>
            <a:ext cx="8778240" cy="384048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lupron.com · lupronpedpro.com · armourthyroid.com — fetchable + modest interactivity.</a:t>
            </a:r>
          </a:p>
        </p:txBody>
      </p:sp>
      <p:sp>
        <p:nvSpPr>
          <p:cNvPr id="735" name="r736"/>
          <p:cNvSpPr/>
          <p:nvPr/>
        </p:nvSpPr>
        <p:spPr>
          <a:xfrm>
            <a:off x="548640" y="3922776"/>
            <a:ext cx="146304" cy="868680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737" name="r738"/>
          <p:cNvSpPr/>
          <p:nvPr/>
        </p:nvSpPr>
        <p:spPr>
          <a:xfrm>
            <a:off x="777240" y="3922776"/>
            <a:ext cx="1645920" cy="868680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739" name="t740"/>
          <p:cNvSpPr txBox="1"/>
          <p:nvPr/>
        </p:nvSpPr>
        <p:spPr>
          <a:xfrm>
            <a:off x="777240" y="4032504"/>
            <a:ext cx="16459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Arial"/>
              </a:rPr>
              <a:t>WAVE 2</a:t>
            </a:r>
          </a:p>
        </p:txBody>
      </p:sp>
      <p:sp>
        <p:nvSpPr>
          <p:cNvPr id="741" name="t742"/>
          <p:cNvSpPr txBox="1"/>
          <p:nvPr/>
        </p:nvSpPr>
        <p:spPr>
          <a:xfrm>
            <a:off x="777240" y="4379976"/>
            <a:ext cx="16459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50" b="1">
                <a:solidFill>
                  <a:srgbClr val="FFFFFF"/>
                </a:solidFill>
                <a:latin typeface="Arial"/>
              </a:rPr>
              <a:t>~4 wks</a:t>
            </a:r>
          </a:p>
        </p:txBody>
      </p:sp>
      <p:sp>
        <p:nvSpPr>
          <p:cNvPr id="743" name="r744"/>
          <p:cNvSpPr/>
          <p:nvPr/>
        </p:nvSpPr>
        <p:spPr>
          <a:xfrm>
            <a:off x="2514600" y="3922776"/>
            <a:ext cx="9052560" cy="86868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745" name="t746"/>
          <p:cNvSpPr txBox="1"/>
          <p:nvPr/>
        </p:nvSpPr>
        <p:spPr>
          <a:xfrm>
            <a:off x="2651760" y="4014216"/>
            <a:ext cx="877824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b="1">
                <a:solidFill>
                  <a:srgbClr val="071D49"/>
                </a:solidFill>
                <a:latin typeface="Arial"/>
              </a:rPr>
              <a:t>High-complexity</a:t>
            </a:r>
          </a:p>
        </p:txBody>
      </p:sp>
      <p:sp>
        <p:nvSpPr>
          <p:cNvPr id="747" name="t748"/>
          <p:cNvSpPr txBox="1"/>
          <p:nvPr/>
        </p:nvSpPr>
        <p:spPr>
          <a:xfrm>
            <a:off x="2651760" y="4379976"/>
            <a:ext cx="8778240" cy="384048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liletta.com · lilettahcp.com — most net-new interactive blocks (quiz, clinical data, forms).</a:t>
            </a:r>
          </a:p>
        </p:txBody>
      </p:sp>
      <p:sp>
        <p:nvSpPr>
          <p:cNvPr id="749" name="r750"/>
          <p:cNvSpPr/>
          <p:nvPr/>
        </p:nvSpPr>
        <p:spPr>
          <a:xfrm>
            <a:off x="548640" y="4901184"/>
            <a:ext cx="146304" cy="868680"/>
          </a:xfrm>
          <a:prstGeom prst="rect">
            <a:avLst/>
          </a:prstGeom>
          <a:solidFill>
            <a:srgbClr val="C9962E"/>
          </a:solidFill>
          <a:ln>
            <a:noFill/>
          </a:ln>
        </p:spPr>
        <p:txBody>
          <a:bodyPr/>
          <a:lstStyle/>
          <a:p/>
        </p:txBody>
      </p:sp>
      <p:sp>
        <p:nvSpPr>
          <p:cNvPr id="751" name="r752"/>
          <p:cNvSpPr/>
          <p:nvPr/>
        </p:nvSpPr>
        <p:spPr>
          <a:xfrm>
            <a:off x="777240" y="4901184"/>
            <a:ext cx="1645920" cy="868680"/>
          </a:xfrm>
          <a:prstGeom prst="rect">
            <a:avLst/>
          </a:prstGeom>
          <a:solidFill>
            <a:srgbClr val="C9962E"/>
          </a:solidFill>
          <a:ln>
            <a:noFill/>
          </a:ln>
        </p:spPr>
        <p:txBody>
          <a:bodyPr/>
          <a:lstStyle/>
          <a:p/>
        </p:txBody>
      </p:sp>
      <p:sp>
        <p:nvSpPr>
          <p:cNvPr id="753" name="t754"/>
          <p:cNvSpPr txBox="1"/>
          <p:nvPr/>
        </p:nvSpPr>
        <p:spPr>
          <a:xfrm>
            <a:off x="777240" y="5010912"/>
            <a:ext cx="16459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Arial"/>
              </a:rPr>
              <a:t>WAVE 3</a:t>
            </a:r>
          </a:p>
        </p:txBody>
      </p:sp>
      <p:sp>
        <p:nvSpPr>
          <p:cNvPr id="755" name="t756"/>
          <p:cNvSpPr txBox="1"/>
          <p:nvPr/>
        </p:nvSpPr>
        <p:spPr>
          <a:xfrm>
            <a:off x="777240" y="5358384"/>
            <a:ext cx="164592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50" b="1">
                <a:solidFill>
                  <a:srgbClr val="FFFFFF"/>
                </a:solidFill>
                <a:latin typeface="Arial"/>
              </a:rPr>
              <a:t>~2 wks</a:t>
            </a:r>
          </a:p>
        </p:txBody>
      </p:sp>
      <p:sp>
        <p:nvSpPr>
          <p:cNvPr id="757" name="r758"/>
          <p:cNvSpPr/>
          <p:nvPr/>
        </p:nvSpPr>
        <p:spPr>
          <a:xfrm>
            <a:off x="2514600" y="4901184"/>
            <a:ext cx="9052560" cy="86868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759" name="t760"/>
          <p:cNvSpPr txBox="1"/>
          <p:nvPr/>
        </p:nvSpPr>
        <p:spPr>
          <a:xfrm>
            <a:off x="2651760" y="4992624"/>
            <a:ext cx="877824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b="1">
                <a:solidFill>
                  <a:srgbClr val="071D49"/>
                </a:solidFill>
                <a:latin typeface="Arial"/>
              </a:rPr>
              <a:t>Discovery-led</a:t>
            </a:r>
          </a:p>
        </p:txBody>
      </p:sp>
      <p:sp>
        <p:nvSpPr>
          <p:cNvPr id="761" name="t762"/>
          <p:cNvSpPr txBox="1"/>
          <p:nvPr/>
        </p:nvSpPr>
        <p:spPr>
          <a:xfrm>
            <a:off x="2651760" y="5358384"/>
            <a:ext cx="8778240" cy="384048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hypothyroidhub.com — sequenced last; resolve scope/registration ambiguity first.</a:t>
            </a:r>
          </a:p>
        </p:txBody>
      </p:sp>
      <p:sp>
        <p:nvSpPr>
          <p:cNvPr id="773" name="t774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5A5A5A"/>
                </a:solidFill>
                <a:latin typeface="Arial"/>
              </a:rPr>
              <a:t>AbbVie Pharma Portfolio → AEM Edge Delivery Services  |  Confidential – Client Proposal</a:t>
            </a:r>
          </a:p>
        </p:txBody>
      </p:sp>
      <p:sp>
        <p:nvSpPr>
          <p:cNvPr id="775" name="t776"/>
          <p:cNvSpPr txBox="1"/>
          <p:nvPr/>
        </p:nvSpPr>
        <p:spPr>
          <a:xfrm>
            <a:off x="10058400" y="5989320"/>
            <a:ext cx="173736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r">
              <a:spcAft>
                <a:spcPts val="0"/>
              </a:spcAft>
              <a:buNone/>
            </a:pPr>
            <a:r>
              <a:rPr lang="en-US" sz="1000" b="1">
                <a:solidFill>
                  <a:srgbClr val="071D49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r76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65" name="r766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71D49"/>
          </a:solidFill>
          <a:ln>
            <a:noFill/>
          </a:ln>
        </p:spPr>
        <p:txBody>
          <a:bodyPr/>
          <a:lstStyle/>
          <a:p/>
        </p:txBody>
      </p:sp>
      <p:sp>
        <p:nvSpPr>
          <p:cNvPr id="767" name="r768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769" name="t770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E8553D"/>
                </a:solidFill>
                <a:latin typeface="Arial"/>
              </a:rPr>
              <a:t>PHASING</a:t>
            </a:r>
          </a:p>
        </p:txBody>
      </p:sp>
      <p:sp>
        <p:nvSpPr>
          <p:cNvPr id="771" name="t772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Arial"/>
              </a:rPr>
              <a:t>Delivery Roadmap  ·  Wave 2</a:t>
            </a:r>
          </a:p>
        </p:txBody>
      </p:sp>
      <p:sp>
        <p:nvSpPr>
          <p:cNvPr id="1304" name="t1304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0">
                <a:solidFill>
                  <a:srgbClr val="2B2B2B"/>
                </a:solidFill>
                <a:latin typeface="Arial"/>
              </a:rPr>
              <a:t>Wave 2 extends the same pod and lifecycle to 12 more sites ≈ 12–15 calendar weeks (MLR in parallel). Build order maximises reuse and defers the locator data dependency to last.</a:t>
            </a:r>
          </a:p>
        </p:txBody>
      </p:sp>
      <p:sp>
        <p:nvSpPr>
          <p:cNvPr id="1305" name="r1305"/>
          <p:cNvSpPr/>
          <p:nvPr/>
        </p:nvSpPr>
        <p:spPr>
          <a:xfrm>
            <a:off x="548640" y="1965960"/>
            <a:ext cx="146304" cy="868680"/>
          </a:xfrm>
          <a:prstGeom prst="rect">
            <a:avLst/>
          </a:prstGeom>
          <a:solidFill>
            <a:srgbClr val="0B5FA5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306" name="r1306"/>
          <p:cNvSpPr/>
          <p:nvPr/>
        </p:nvSpPr>
        <p:spPr>
          <a:xfrm>
            <a:off x="777240" y="1965960"/>
            <a:ext cx="1645920" cy="868680"/>
          </a:xfrm>
          <a:prstGeom prst="rect">
            <a:avLst/>
          </a:prstGeom>
          <a:solidFill>
            <a:srgbClr val="0B5FA5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307" name="t1307"/>
          <p:cNvSpPr txBox="1"/>
          <p:nvPr/>
        </p:nvSpPr>
        <p:spPr>
          <a:xfrm>
            <a:off x="777240" y="2075688"/>
            <a:ext cx="1645920" cy="36576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WAVE A</a:t>
            </a:r>
          </a:p>
        </p:txBody>
      </p:sp>
      <p:sp>
        <p:nvSpPr>
          <p:cNvPr id="1308" name="t1308"/>
          <p:cNvSpPr txBox="1"/>
          <p:nvPr/>
        </p:nvSpPr>
        <p:spPr>
          <a:xfrm>
            <a:off x="777240" y="2423160"/>
            <a:ext cx="1645920" cy="36576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0">
                <a:solidFill>
                  <a:srgbClr val="FFFFFF"/>
                </a:solidFill>
                <a:latin typeface="Arial"/>
              </a:rPr>
              <a:t>~3 wks</a:t>
            </a:r>
          </a:p>
        </p:txBody>
      </p:sp>
      <p:sp>
        <p:nvSpPr>
          <p:cNvPr id="1309" name="r1309"/>
          <p:cNvSpPr/>
          <p:nvPr/>
        </p:nvSpPr>
        <p:spPr>
          <a:xfrm>
            <a:off x="2514600" y="1965960"/>
            <a:ext cx="9052560" cy="86868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310" name="t1310"/>
          <p:cNvSpPr txBox="1"/>
          <p:nvPr/>
        </p:nvSpPr>
        <p:spPr>
          <a:xfrm>
            <a:off x="2651760" y="2057400"/>
            <a:ext cx="8778240" cy="36576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071D49"/>
                </a:solidFill>
                <a:latin typeface="Arial"/>
              </a:rPr>
              <a:t>Quick wins · high-reuse</a:t>
            </a:r>
          </a:p>
        </p:txBody>
      </p:sp>
      <p:sp>
        <p:nvSpPr>
          <p:cNvPr id="1311" name="t1311"/>
          <p:cNvSpPr txBox="1"/>
          <p:nvPr/>
        </p:nvSpPr>
        <p:spPr>
          <a:xfrm>
            <a:off x="2651760" y="2423160"/>
            <a:ext cx="8778240" cy="384048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bystolic · viibryd · fetzima · xengelstent — small sites, all shared blocks; validate the reuse pattern.</a:t>
            </a:r>
          </a:p>
        </p:txBody>
      </p:sp>
      <p:sp>
        <p:nvSpPr>
          <p:cNvPr id="1312" name="r1312"/>
          <p:cNvSpPr/>
          <p:nvPr/>
        </p:nvSpPr>
        <p:spPr>
          <a:xfrm>
            <a:off x="548640" y="2944368"/>
            <a:ext cx="146304" cy="868680"/>
          </a:xfrm>
          <a:prstGeom prst="rect">
            <a:avLst/>
          </a:prstGeom>
          <a:solidFill>
            <a:srgbClr val="3F8F6B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313" name="r1313"/>
          <p:cNvSpPr/>
          <p:nvPr/>
        </p:nvSpPr>
        <p:spPr>
          <a:xfrm>
            <a:off x="777240" y="2944368"/>
            <a:ext cx="1645920" cy="868680"/>
          </a:xfrm>
          <a:prstGeom prst="rect">
            <a:avLst/>
          </a:prstGeom>
          <a:solidFill>
            <a:srgbClr val="3F8F6B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314" name="t1314"/>
          <p:cNvSpPr txBox="1"/>
          <p:nvPr/>
        </p:nvSpPr>
        <p:spPr>
          <a:xfrm>
            <a:off x="777240" y="3054096"/>
            <a:ext cx="1645920" cy="36576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WAVE B</a:t>
            </a:r>
          </a:p>
        </p:txBody>
      </p:sp>
      <p:sp>
        <p:nvSpPr>
          <p:cNvPr id="1315" name="t1315"/>
          <p:cNvSpPr txBox="1"/>
          <p:nvPr/>
        </p:nvSpPr>
        <p:spPr>
          <a:xfrm>
            <a:off x="777240" y="3401568"/>
            <a:ext cx="1645920" cy="36576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0">
                <a:solidFill>
                  <a:srgbClr val="FFFFFF"/>
                </a:solidFill>
                <a:latin typeface="Arial"/>
              </a:rPr>
              <a:t>~4 wks</a:t>
            </a:r>
          </a:p>
        </p:txBody>
      </p:sp>
      <p:sp>
        <p:nvSpPr>
          <p:cNvPr id="1316" name="r1316"/>
          <p:cNvSpPr/>
          <p:nvPr/>
        </p:nvSpPr>
        <p:spPr>
          <a:xfrm>
            <a:off x="2514600" y="2944368"/>
            <a:ext cx="9052560" cy="86868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317" name="t1317"/>
          <p:cNvSpPr txBox="1"/>
          <p:nvPr/>
        </p:nvSpPr>
        <p:spPr>
          <a:xfrm>
            <a:off x="2651760" y="3035808"/>
            <a:ext cx="8778240" cy="36576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071D49"/>
                </a:solidFill>
                <a:latin typeface="Arial"/>
              </a:rPr>
              <a:t>Patient DTC + light interactivity</a:t>
            </a:r>
          </a:p>
        </p:txBody>
      </p:sp>
      <p:sp>
        <p:nvSpPr>
          <p:cNvPr id="1318" name="t1318"/>
          <p:cNvSpPr txBox="1"/>
          <p:nvPr/>
        </p:nvSpPr>
        <p:spPr>
          <a:xfrm>
            <a:off x="2651760" y="3401568"/>
            <a:ext cx="8778240" cy="384048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restasis · taytulla · myGlaucoma — savings flows, comparison/discussion tools, scored quiz.</a:t>
            </a:r>
          </a:p>
        </p:txBody>
      </p:sp>
      <p:sp>
        <p:nvSpPr>
          <p:cNvPr id="1319" name="r1319"/>
          <p:cNvSpPr/>
          <p:nvPr/>
        </p:nvSpPr>
        <p:spPr>
          <a:xfrm>
            <a:off x="548640" y="3922776"/>
            <a:ext cx="146304" cy="868680"/>
          </a:xfrm>
          <a:prstGeom prst="rect">
            <a:avLst/>
          </a:prstGeom>
          <a:solidFill>
            <a:srgbClr val="E8553D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320" name="r1320"/>
          <p:cNvSpPr/>
          <p:nvPr/>
        </p:nvSpPr>
        <p:spPr>
          <a:xfrm>
            <a:off x="777240" y="3922776"/>
            <a:ext cx="1645920" cy="868680"/>
          </a:xfrm>
          <a:prstGeom prst="rect">
            <a:avLst/>
          </a:prstGeom>
          <a:solidFill>
            <a:srgbClr val="E8553D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321" name="t1321"/>
          <p:cNvSpPr txBox="1"/>
          <p:nvPr/>
        </p:nvSpPr>
        <p:spPr>
          <a:xfrm>
            <a:off x="777240" y="4032504"/>
            <a:ext cx="1645920" cy="36576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WAVE C</a:t>
            </a:r>
          </a:p>
        </p:txBody>
      </p:sp>
      <p:sp>
        <p:nvSpPr>
          <p:cNvPr id="1322" name="t1322"/>
          <p:cNvSpPr txBox="1"/>
          <p:nvPr/>
        </p:nvSpPr>
        <p:spPr>
          <a:xfrm>
            <a:off x="777240" y="4379976"/>
            <a:ext cx="1645920" cy="36576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0">
                <a:solidFill>
                  <a:srgbClr val="FFFFFF"/>
                </a:solidFill>
                <a:latin typeface="Arial"/>
              </a:rPr>
              <a:t>~5 wks</a:t>
            </a:r>
          </a:p>
        </p:txBody>
      </p:sp>
      <p:sp>
        <p:nvSpPr>
          <p:cNvPr id="1323" name="r1323"/>
          <p:cNvSpPr/>
          <p:nvPr/>
        </p:nvSpPr>
        <p:spPr>
          <a:xfrm>
            <a:off x="2514600" y="3922776"/>
            <a:ext cx="9052560" cy="86868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324" name="t1324"/>
          <p:cNvSpPr txBox="1"/>
          <p:nvPr/>
        </p:nvSpPr>
        <p:spPr>
          <a:xfrm>
            <a:off x="2651760" y="4014216"/>
            <a:ext cx="8778240" cy="36576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071D49"/>
                </a:solidFill>
                <a:latin typeface="Arial"/>
              </a:rPr>
              <a:t>HCP &amp; multi-indication</a:t>
            </a:r>
          </a:p>
        </p:txBody>
      </p:sp>
      <p:sp>
        <p:nvSpPr>
          <p:cNvPr id="1325" name="t1325"/>
          <p:cNvSpPr txBox="1"/>
          <p:nvPr/>
        </p:nvSpPr>
        <p:spPr>
          <a:xfrm>
            <a:off x="2651760" y="4379976"/>
            <a:ext cx="8778240" cy="384048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viberzihcp · teflaro · depakote · depakotehcp — HCP gates, clinical/dosing tables, indication-selector; heaviest MLR.</a:t>
            </a:r>
          </a:p>
        </p:txBody>
      </p:sp>
      <p:sp>
        <p:nvSpPr>
          <p:cNvPr id="1326" name="r1326"/>
          <p:cNvSpPr/>
          <p:nvPr/>
        </p:nvSpPr>
        <p:spPr>
          <a:xfrm>
            <a:off x="548640" y="4901184"/>
            <a:ext cx="146304" cy="868680"/>
          </a:xfrm>
          <a:prstGeom prst="rect">
            <a:avLst/>
          </a:prstGeom>
          <a:solidFill>
            <a:srgbClr val="C9962E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327" name="r1327"/>
          <p:cNvSpPr/>
          <p:nvPr/>
        </p:nvSpPr>
        <p:spPr>
          <a:xfrm>
            <a:off x="777240" y="4901184"/>
            <a:ext cx="1645920" cy="868680"/>
          </a:xfrm>
          <a:prstGeom prst="rect">
            <a:avLst/>
          </a:prstGeom>
          <a:solidFill>
            <a:srgbClr val="C9962E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328" name="t1328"/>
          <p:cNvSpPr txBox="1"/>
          <p:nvPr/>
        </p:nvSpPr>
        <p:spPr>
          <a:xfrm>
            <a:off x="777240" y="5010912"/>
            <a:ext cx="1645920" cy="36576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WAVE D</a:t>
            </a:r>
          </a:p>
        </p:txBody>
      </p:sp>
      <p:sp>
        <p:nvSpPr>
          <p:cNvPr id="1329" name="t1329"/>
          <p:cNvSpPr txBox="1"/>
          <p:nvPr/>
        </p:nvSpPr>
        <p:spPr>
          <a:xfrm>
            <a:off x="777240" y="5358384"/>
            <a:ext cx="1645920" cy="36576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0">
                <a:solidFill>
                  <a:srgbClr val="FFFFFF"/>
                </a:solidFill>
                <a:latin typeface="Arial"/>
              </a:rPr>
              <a:t>~2 wks</a:t>
            </a:r>
          </a:p>
        </p:txBody>
      </p:sp>
      <p:sp>
        <p:nvSpPr>
          <p:cNvPr id="1330" name="r1330"/>
          <p:cNvSpPr/>
          <p:nvPr/>
        </p:nvSpPr>
        <p:spPr>
          <a:xfrm>
            <a:off x="2514600" y="4901184"/>
            <a:ext cx="9052560" cy="868680"/>
          </a:xfrm>
          <a:prstGeom prst="rect">
            <a:avLst/>
          </a:prstGeom>
          <a:solidFill>
            <a:srgbClr val="F2F4F7"/>
          </a:solidFill>
          <a:ln w="6350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1331" name="t1331"/>
          <p:cNvSpPr txBox="1"/>
          <p:nvPr/>
        </p:nvSpPr>
        <p:spPr>
          <a:xfrm>
            <a:off x="2651760" y="4992624"/>
            <a:ext cx="8778240" cy="365760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071D49"/>
                </a:solidFill>
                <a:latin typeface="Arial"/>
              </a:rPr>
              <a:t>Discovery-led</a:t>
            </a:r>
          </a:p>
        </p:txBody>
      </p:sp>
      <p:sp>
        <p:nvSpPr>
          <p:cNvPr id="1332" name="t1332"/>
          <p:cNvSpPr txBox="1"/>
          <p:nvPr/>
        </p:nvSpPr>
        <p:spPr>
          <a:xfrm>
            <a:off x="2651760" y="5358384"/>
            <a:ext cx="8778240" cy="384048"/>
          </a:xfrm>
          <a:prstGeom prst="rect">
            <a:avLst/>
          </a:prstGeom>
          <a:noFill/>
        </p:spPr>
        <p:txBody>
          <a:bodyPr wrap="square" lIns="45720" tIns="18000" rIns="45720" bIns="1800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infedlocator — sequenced last; confirm the center-locator data source / API first.</a:t>
            </a:r>
          </a:p>
        </p:txBody>
      </p:sp>
      <p:sp>
        <p:nvSpPr>
          <p:cNvPr id="773" name="t774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5A5A5A"/>
                </a:solidFill>
                <a:latin typeface="Arial"/>
              </a:rPr>
              <a:t>AbbVie Pharma Portfolio → AEM Edge Delivery Services  |  Confidential – Client Proposal</a:t>
            </a:r>
          </a:p>
        </p:txBody>
      </p:sp>
      <p:sp>
        <p:nvSpPr>
          <p:cNvPr id="775" name="t776"/>
          <p:cNvSpPr txBox="1"/>
          <p:nvPr/>
        </p:nvSpPr>
        <p:spPr>
          <a:xfrm>
            <a:off x="10058400" y="5989320"/>
            <a:ext cx="173736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r">
              <a:spcAft>
                <a:spcPts val="0"/>
              </a:spcAft>
              <a:buNone/>
            </a:pPr>
            <a:r>
              <a:rPr lang="en-US" sz="1000" b="1">
                <a:solidFill>
                  <a:srgbClr val="071D49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r80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09" name="r810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71D49"/>
          </a:solidFill>
          <a:ln>
            <a:noFill/>
          </a:ln>
        </p:spPr>
        <p:txBody>
          <a:bodyPr/>
          <a:lstStyle/>
          <a:p/>
        </p:txBody>
      </p:sp>
      <p:sp>
        <p:nvSpPr>
          <p:cNvPr id="811" name="r812"/>
          <p:cNvSpPr/>
          <p:nvPr/>
        </p:nvSpPr>
        <p:spPr>
          <a:xfrm>
            <a:off x="0" y="1051560"/>
            <a:ext cx="12192000" cy="38100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813" name="t814"/>
          <p:cNvSpPr txBox="1"/>
          <p:nvPr/>
        </p:nvSpPr>
        <p:spPr>
          <a:xfrm>
            <a:off x="548640" y="164592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b="1">
                <a:solidFill>
                  <a:srgbClr val="E8553D"/>
                </a:solidFill>
                <a:latin typeface="Arial"/>
              </a:rPr>
              <a:t>PLANNING CANDOR</a:t>
            </a:r>
          </a:p>
        </p:txBody>
      </p:sp>
      <p:sp>
        <p:nvSpPr>
          <p:cNvPr id="815" name="t816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Arial"/>
              </a:rPr>
              <a:t>Risks &amp; Assumptions</a:t>
            </a:r>
          </a:p>
        </p:txBody>
      </p:sp>
      <p:sp>
        <p:nvSpPr>
          <p:cNvPr id="777" name="r778"/>
          <p:cNvSpPr/>
          <p:nvPr/>
        </p:nvSpPr>
        <p:spPr>
          <a:xfrm>
            <a:off x="548640" y="1371600"/>
            <a:ext cx="5486400" cy="502920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779" name="t780"/>
          <p:cNvSpPr txBox="1"/>
          <p:nvPr/>
        </p:nvSpPr>
        <p:spPr>
          <a:xfrm>
            <a:off x="548640" y="1408176"/>
            <a:ext cx="5486400" cy="42976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Arial"/>
              </a:rPr>
              <a:t>Key risks &amp; mitigations</a:t>
            </a:r>
          </a:p>
        </p:txBody>
      </p:sp>
      <p:sp>
        <p:nvSpPr>
          <p:cNvPr id="781" name="t782"/>
          <p:cNvSpPr txBox="1"/>
          <p:nvPr/>
        </p:nvSpPr>
        <p:spPr>
          <a:xfrm>
            <a:off x="594360" y="2057400"/>
            <a:ext cx="539496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80" b="1">
                <a:solidFill>
                  <a:srgbClr val="071D49"/>
                </a:solidFill>
                <a:latin typeface="Arial"/>
              </a:rPr>
              <a:t>⚠  MLR review = #1 schedule driver</a:t>
            </a:r>
          </a:p>
        </p:txBody>
      </p:sp>
      <p:sp>
        <p:nvSpPr>
          <p:cNvPr id="783" name="t784"/>
          <p:cNvSpPr txBox="1"/>
          <p:nvPr/>
        </p:nvSpPr>
        <p:spPr>
          <a:xfrm>
            <a:off x="868680" y="2368296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Freeze content early; lock PRC codes; parallelise sign-off. 4 Wave-2 brands carry boxed warnings.</a:t>
            </a:r>
          </a:p>
        </p:txBody>
      </p:sp>
      <p:sp>
        <p:nvSpPr>
          <p:cNvPr id="785" name="t786"/>
          <p:cNvSpPr txBox="1"/>
          <p:nvPr/>
        </p:nvSpPr>
        <p:spPr>
          <a:xfrm>
            <a:off x="594360" y="2715768"/>
            <a:ext cx="539496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80" b="1">
                <a:solidFill>
                  <a:srgbClr val="071D49"/>
                </a:solidFill>
                <a:latin typeface="Arial"/>
              </a:rPr>
              <a:t>⚠  WAF-blocked + SPA sources</a:t>
            </a:r>
          </a:p>
        </p:txBody>
      </p:sp>
      <p:sp>
        <p:nvSpPr>
          <p:cNvPr id="787" name="t788"/>
          <p:cNvSpPr txBox="1"/>
          <p:nvPr/>
        </p:nvSpPr>
        <p:spPr>
          <a:xfrm>
            <a:off x="868680" y="3026664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Discovery spikes first; re-baseline after — 3 Wave-1 + 10 of 12 Wave-2 sites not fetchable this pass.</a:t>
            </a:r>
          </a:p>
        </p:txBody>
      </p:sp>
      <p:sp>
        <p:nvSpPr>
          <p:cNvPr id="789" name="t790"/>
          <p:cNvSpPr txBox="1"/>
          <p:nvPr/>
        </p:nvSpPr>
        <p:spPr>
          <a:xfrm>
            <a:off x="594360" y="3374136"/>
            <a:ext cx="539496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80" b="1">
                <a:solidFill>
                  <a:srgbClr val="071D49"/>
                </a:solidFill>
                <a:latin typeface="Arial"/>
              </a:rPr>
              <a:t>⚠  hypothyroidhub scope unconfirmed</a:t>
            </a:r>
          </a:p>
        </p:txBody>
      </p:sp>
      <p:sp>
        <p:nvSpPr>
          <p:cNvPr id="791" name="t792"/>
          <p:cNvSpPr txBox="1"/>
          <p:nvPr/>
        </p:nvSpPr>
        <p:spPr>
          <a:xfrm>
            <a:off x="868680" y="3685032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Scope spike before commit; could swing ±5 days.</a:t>
            </a:r>
          </a:p>
        </p:txBody>
      </p:sp>
      <p:sp>
        <p:nvSpPr>
          <p:cNvPr id="793" name="t794"/>
          <p:cNvSpPr txBox="1"/>
          <p:nvPr/>
        </p:nvSpPr>
        <p:spPr>
          <a:xfrm>
            <a:off x="594360" y="4032504"/>
            <a:ext cx="539496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80" b="1">
                <a:solidFill>
                  <a:srgbClr val="071D49"/>
                </a:solidFill>
                <a:latin typeface="Arial"/>
              </a:rPr>
              <a:t>⚠  Interactive blocks (a11y + CRM)</a:t>
            </a:r>
          </a:p>
        </p:txBody>
      </p:sp>
      <p:sp>
        <p:nvSpPr>
          <p:cNvPr id="795" name="t796"/>
          <p:cNvSpPr txBox="1"/>
          <p:nvPr/>
        </p:nvSpPr>
        <p:spPr>
          <a:xfrm>
            <a:off x="868680" y="4343400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Early WCAG review; endpoint contracts up front.</a:t>
            </a:r>
          </a:p>
        </p:txBody>
      </p:sp>
      <p:sp>
        <p:nvSpPr>
          <p:cNvPr id="797" name="t798"/>
          <p:cNvSpPr txBox="1"/>
          <p:nvPr/>
        </p:nvSpPr>
        <p:spPr>
          <a:xfrm>
            <a:off x="594360" y="4690872"/>
            <a:ext cx="539496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80" b="1">
                <a:solidFill>
                  <a:srgbClr val="071D49"/>
                </a:solidFill>
                <a:latin typeface="Arial"/>
              </a:rPr>
              <a:t>⚠  Form endpoints (AbbVie/Veeva)</a:t>
            </a:r>
          </a:p>
        </p:txBody>
      </p:sp>
      <p:sp>
        <p:nvSpPr>
          <p:cNvPr id="799" name="t800"/>
          <p:cNvSpPr txBox="1"/>
          <p:nvPr/>
        </p:nvSpPr>
        <p:spPr>
          <a:xfrm>
            <a:off x="868680" y="5001768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2B2B2B"/>
                </a:solidFill>
                <a:latin typeface="Arial"/>
              </a:rPr>
              <a:t>Confirm endpoint + INFeD locator data-source availability — external dependencies.</a:t>
            </a:r>
          </a:p>
        </p:txBody>
      </p:sp>
      <p:sp>
        <p:nvSpPr>
          <p:cNvPr id="801" name="r802"/>
          <p:cNvSpPr/>
          <p:nvPr/>
        </p:nvSpPr>
        <p:spPr>
          <a:xfrm>
            <a:off x="6263640" y="1371600"/>
            <a:ext cx="5303520" cy="502920"/>
          </a:xfrm>
          <a:prstGeom prst="rect">
            <a:avLst/>
          </a:prstGeom>
          <a:solidFill>
            <a:srgbClr val="0B5F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03" name="t804"/>
          <p:cNvSpPr txBox="1"/>
          <p:nvPr/>
        </p:nvSpPr>
        <p:spPr>
          <a:xfrm>
            <a:off x="6263640" y="1408176"/>
            <a:ext cx="5303520" cy="429768"/>
          </a:xfrm>
          <a:prstGeom prst="rect">
            <a:avLst/>
          </a:prstGeom>
          <a:noFill/>
        </p:spPr>
        <p:txBody>
          <a:bodyPr wrap="square" lIns="45720" tIns="27432" rIns="45720" bIns="27432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250" b="1">
                <a:solidFill>
                  <a:srgbClr val="FFFFFF"/>
                </a:solidFill>
                <a:latin typeface="Arial"/>
              </a:rPr>
              <a:t>Key assumptions</a:t>
            </a:r>
          </a:p>
        </p:txBody>
      </p:sp>
      <p:sp>
        <p:nvSpPr>
          <p:cNvPr id="805" name="t806"/>
          <p:cNvSpPr txBox="1"/>
          <p:nvPr/>
        </p:nvSpPr>
        <p:spPr>
          <a:xfrm>
            <a:off x="6309360" y="2057400"/>
            <a:ext cx="5212080" cy="32004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182880" indent="-182880" algn="l">
              <a:spcAft>
                <a:spcPts val="200"/>
              </a:spcAft>
              <a:buFont typeface="Arial"/>
              <a:buChar char="•"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One shared AbbVie design system; brands differ by tokens, not bespoke blocks.</a:t>
            </a:r>
          </a:p>
          <a:p>
            <a:pPr marL="182880" indent="-182880" algn="l">
              <a:spcAft>
                <a:spcPts val="200"/>
              </a:spcAft>
              <a:buFont typeface="Arial"/>
              <a:buChar char="•"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Savings/copay enrollment stays on external AbbVie properties (link-out).</a:t>
            </a:r>
          </a:p>
          <a:p>
            <a:pPr marL="182880" indent="-182880" algn="l">
              <a:spcAft>
                <a:spcPts val="200"/>
              </a:spcAft>
              <a:buFont typeface="Arial"/>
              <a:buChar char="•"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Authors / migration scripts handle bulk page authoring; engineering owns blocks + assembly.</a:t>
            </a:r>
          </a:p>
          <a:p>
            <a:pPr marL="182880" indent="-182880" algn="l">
              <a:spcAft>
                <a:spcPts val="200"/>
              </a:spcAft>
              <a:buFont typeface="Arial"/>
              <a:buChar char="•"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MLR/regulatory review runs in parallel and does not block engineering.</a:t>
            </a:r>
          </a:p>
          <a:p>
            <a:pPr marL="182880" indent="-182880" algn="l">
              <a:spcAft>
                <a:spcPts val="200"/>
              </a:spcAft>
              <a:buFont typeface="Arial"/>
              <a:buChar char="•"/>
            </a:pPr>
            <a:r>
              <a:rPr lang="en-US" sz="1050" b="0">
                <a:solidFill>
                  <a:srgbClr val="2B2B2B"/>
                </a:solidFill>
                <a:latin typeface="Arial"/>
              </a:rPr>
              <a:t>Estimates re-baselined after Wave 0 and the discovery spikes (Wave-1 + Wave-2 non-fetchable sites).</a:t>
            </a:r>
          </a:p>
        </p:txBody>
      </p:sp>
      <p:sp>
        <p:nvSpPr>
          <p:cNvPr id="817" name="t818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00" b="0">
                <a:solidFill>
                  <a:srgbClr val="5A5A5A"/>
                </a:solidFill>
                <a:latin typeface="Arial"/>
              </a:rPr>
              <a:t>AbbVie Pharma Portfolio → AEM Edge Delivery Services  |  Confidential – Client Proposal</a:t>
            </a:r>
          </a:p>
        </p:txBody>
      </p:sp>
      <p:sp>
        <p:nvSpPr>
          <p:cNvPr id="819" name="t820"/>
          <p:cNvSpPr txBox="1"/>
          <p:nvPr/>
        </p:nvSpPr>
        <p:spPr>
          <a:xfrm>
            <a:off x="10058400" y="5989320"/>
            <a:ext cx="1737360" cy="2743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r">
              <a:spcAft>
                <a:spcPts val="0"/>
              </a:spcAft>
              <a:buNone/>
            </a:pPr>
            <a:r>
              <a:rPr lang="en-US" sz="1000" b="1">
                <a:solidFill>
                  <a:srgbClr val="071D49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r8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D49"/>
          </a:solidFill>
          <a:ln>
            <a:noFill/>
          </a:ln>
        </p:spPr>
        <p:txBody>
          <a:bodyPr/>
          <a:lstStyle/>
          <a:p/>
        </p:txBody>
      </p:sp>
      <p:sp>
        <p:nvSpPr>
          <p:cNvPr id="823" name="r824"/>
          <p:cNvSpPr/>
          <p:nvPr/>
        </p:nvSpPr>
        <p:spPr>
          <a:xfrm>
            <a:off x="0" y="2148840"/>
            <a:ext cx="12192000" cy="12000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825" name="t826"/>
          <p:cNvSpPr txBox="1"/>
          <p:nvPr/>
        </p:nvSpPr>
        <p:spPr>
          <a:xfrm>
            <a:off x="731520" y="640080"/>
            <a:ext cx="10058400" cy="4572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200" b="1">
                <a:solidFill>
                  <a:srgbClr val="E8553D"/>
                </a:solidFill>
                <a:latin typeface="Arial"/>
              </a:rPr>
              <a:t>WHY COGNIZANT</a:t>
            </a:r>
          </a:p>
        </p:txBody>
      </p:sp>
      <p:sp>
        <p:nvSpPr>
          <p:cNvPr id="827" name="t828"/>
          <p:cNvSpPr txBox="1"/>
          <p:nvPr/>
        </p:nvSpPr>
        <p:spPr>
          <a:xfrm>
            <a:off x="731520" y="1051560"/>
            <a:ext cx="10515600" cy="11887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500" b="1">
                <a:solidFill>
                  <a:srgbClr val="FFFFFF"/>
                </a:solidFill>
                <a:latin typeface="Arial"/>
              </a:rPr>
              <a:t>Proven EDS lifecycle, a reusable block library, and deep regulated-pharma experience — delivering performance, compliance and speed-to-author across the whole portfolio.</a:t>
            </a:r>
          </a:p>
        </p:txBody>
      </p:sp>
      <p:sp>
        <p:nvSpPr>
          <p:cNvPr id="829" name="r830"/>
          <p:cNvSpPr/>
          <p:nvPr/>
        </p:nvSpPr>
        <p:spPr>
          <a:xfrm>
            <a:off x="731520" y="2514600"/>
            <a:ext cx="3383280" cy="2194560"/>
          </a:xfrm>
          <a:prstGeom prst="rect">
            <a:avLst/>
          </a:prstGeom>
          <a:solidFill>
            <a:srgbClr val="0E2657"/>
          </a:solidFill>
          <a:ln w="9525">
            <a:solidFill>
              <a:srgbClr val="0B5FA5"/>
            </a:solidFill>
          </a:ln>
        </p:spPr>
        <p:txBody>
          <a:bodyPr/>
          <a:lstStyle/>
          <a:p/>
        </p:txBody>
      </p:sp>
      <p:sp>
        <p:nvSpPr>
          <p:cNvPr id="831" name="t832"/>
          <p:cNvSpPr txBox="1"/>
          <p:nvPr/>
        </p:nvSpPr>
        <p:spPr>
          <a:xfrm>
            <a:off x="914400" y="2651760"/>
            <a:ext cx="822960" cy="8229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3600" b="1">
                <a:solidFill>
                  <a:srgbClr val="E8553D"/>
                </a:solidFill>
                <a:latin typeface="Arial"/>
              </a:rPr>
              <a:t>1</a:t>
            </a:r>
          </a:p>
        </p:txBody>
      </p:sp>
      <p:sp>
        <p:nvSpPr>
          <p:cNvPr id="833" name="t834"/>
          <p:cNvSpPr txBox="1"/>
          <p:nvPr/>
        </p:nvSpPr>
        <p:spPr>
          <a:xfrm>
            <a:off x="914400" y="3429000"/>
            <a:ext cx="3017520" cy="4572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50" b="1">
                <a:solidFill>
                  <a:srgbClr val="FFFFFF"/>
                </a:solidFill>
                <a:latin typeface="Arial"/>
              </a:rPr>
              <a:t>Scope &amp; discovery spikes</a:t>
            </a:r>
          </a:p>
        </p:txBody>
      </p:sp>
      <p:sp>
        <p:nvSpPr>
          <p:cNvPr id="835" name="t836"/>
          <p:cNvSpPr txBox="1"/>
          <p:nvPr/>
        </p:nvSpPr>
        <p:spPr>
          <a:xfrm>
            <a:off x="914400" y="3886200"/>
            <a:ext cx="3017520" cy="7772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C9D4E8"/>
                </a:solidFill>
                <a:latin typeface="Arial"/>
              </a:rPr>
              <a:t>Confirm hypothyroidhub + infedlocator scope; export WAF-blocked, SPA &amp; non-fetchable content.</a:t>
            </a:r>
          </a:p>
        </p:txBody>
      </p:sp>
      <p:sp>
        <p:nvSpPr>
          <p:cNvPr id="837" name="r838"/>
          <p:cNvSpPr/>
          <p:nvPr/>
        </p:nvSpPr>
        <p:spPr>
          <a:xfrm>
            <a:off x="4343400" y="2514600"/>
            <a:ext cx="3383280" cy="2194560"/>
          </a:xfrm>
          <a:prstGeom prst="rect">
            <a:avLst/>
          </a:prstGeom>
          <a:solidFill>
            <a:srgbClr val="0E2657"/>
          </a:solidFill>
          <a:ln w="9525">
            <a:solidFill>
              <a:srgbClr val="0B5FA5"/>
            </a:solidFill>
          </a:ln>
        </p:spPr>
        <p:txBody>
          <a:bodyPr/>
          <a:lstStyle/>
          <a:p/>
        </p:txBody>
      </p:sp>
      <p:sp>
        <p:nvSpPr>
          <p:cNvPr id="839" name="t840"/>
          <p:cNvSpPr txBox="1"/>
          <p:nvPr/>
        </p:nvSpPr>
        <p:spPr>
          <a:xfrm>
            <a:off x="4526280" y="2651760"/>
            <a:ext cx="822960" cy="8229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3600" b="1">
                <a:solidFill>
                  <a:srgbClr val="E8553D"/>
                </a:solidFill>
                <a:latin typeface="Arial"/>
              </a:rPr>
              <a:t>2</a:t>
            </a:r>
          </a:p>
        </p:txBody>
      </p:sp>
      <p:sp>
        <p:nvSpPr>
          <p:cNvPr id="841" name="t842"/>
          <p:cNvSpPr txBox="1"/>
          <p:nvPr/>
        </p:nvSpPr>
        <p:spPr>
          <a:xfrm>
            <a:off x="4526280" y="3429000"/>
            <a:ext cx="3017520" cy="4572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50" b="1">
                <a:solidFill>
                  <a:srgbClr val="FFFFFF"/>
                </a:solidFill>
                <a:latin typeface="Arial"/>
              </a:rPr>
              <a:t>Foundation sprint (Wave 0)</a:t>
            </a:r>
          </a:p>
        </p:txBody>
      </p:sp>
      <p:sp>
        <p:nvSpPr>
          <p:cNvPr id="843" name="t844"/>
          <p:cNvSpPr txBox="1"/>
          <p:nvPr/>
        </p:nvSpPr>
        <p:spPr>
          <a:xfrm>
            <a:off x="4526280" y="3886200"/>
            <a:ext cx="3017520" cy="7772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C9D4E8"/>
                </a:solidFill>
                <a:latin typeface="Arial"/>
              </a:rPr>
              <a:t>Stand up design system, shared blocks &amp; import pipeline on a pilot site.</a:t>
            </a:r>
          </a:p>
        </p:txBody>
      </p:sp>
      <p:sp>
        <p:nvSpPr>
          <p:cNvPr id="845" name="r846"/>
          <p:cNvSpPr/>
          <p:nvPr/>
        </p:nvSpPr>
        <p:spPr>
          <a:xfrm>
            <a:off x="7955280" y="2514600"/>
            <a:ext cx="3383280" cy="2194560"/>
          </a:xfrm>
          <a:prstGeom prst="rect">
            <a:avLst/>
          </a:prstGeom>
          <a:solidFill>
            <a:srgbClr val="0E2657"/>
          </a:solidFill>
          <a:ln w="9525">
            <a:solidFill>
              <a:srgbClr val="0B5FA5"/>
            </a:solidFill>
          </a:ln>
        </p:spPr>
        <p:txBody>
          <a:bodyPr/>
          <a:lstStyle/>
          <a:p/>
        </p:txBody>
      </p:sp>
      <p:sp>
        <p:nvSpPr>
          <p:cNvPr id="847" name="t848"/>
          <p:cNvSpPr txBox="1"/>
          <p:nvPr/>
        </p:nvSpPr>
        <p:spPr>
          <a:xfrm>
            <a:off x="8138160" y="2651760"/>
            <a:ext cx="822960" cy="8229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3600" b="1">
                <a:solidFill>
                  <a:srgbClr val="E8553D"/>
                </a:solidFill>
                <a:latin typeface="Arial"/>
              </a:rPr>
              <a:t>3</a:t>
            </a:r>
          </a:p>
        </p:txBody>
      </p:sp>
      <p:sp>
        <p:nvSpPr>
          <p:cNvPr id="849" name="t850"/>
          <p:cNvSpPr txBox="1"/>
          <p:nvPr/>
        </p:nvSpPr>
        <p:spPr>
          <a:xfrm>
            <a:off x="8138160" y="3429000"/>
            <a:ext cx="3017520" cy="4572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50" b="1">
                <a:solidFill>
                  <a:srgbClr val="FFFFFF"/>
                </a:solidFill>
                <a:latin typeface="Arial"/>
              </a:rPr>
              <a:t>Re-baseline &amp; commit</a:t>
            </a:r>
          </a:p>
        </p:txBody>
      </p:sp>
      <p:sp>
        <p:nvSpPr>
          <p:cNvPr id="851" name="t852"/>
          <p:cNvSpPr txBox="1"/>
          <p:nvPr/>
        </p:nvSpPr>
        <p:spPr>
          <a:xfrm>
            <a:off x="8138160" y="3886200"/>
            <a:ext cx="3017520" cy="7772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C9D4E8"/>
                </a:solidFill>
                <a:latin typeface="Arial"/>
              </a:rPr>
              <a:t>Lock estimate and wave plan; agree MLR cadence and form/CRM dependencies.</a:t>
            </a:r>
          </a:p>
        </p:txBody>
      </p:sp>
      <p:sp>
        <p:nvSpPr>
          <p:cNvPr id="853" name="t854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400" b="1">
                <a:solidFill>
                  <a:srgbClr val="FFFFFF"/>
                </a:solidFill>
                <a:latin typeface="Arial"/>
              </a:rPr>
              <a:t>Let’s start with a 2-week discovery sprint to lock scope across all 18 sites and validate the foundation.</a:t>
            </a:r>
          </a:p>
        </p:txBody>
      </p:sp>
      <p:sp>
        <p:nvSpPr>
          <p:cNvPr id="855" name="t856"/>
          <p:cNvSpPr txBox="1"/>
          <p:nvPr/>
        </p:nvSpPr>
        <p:spPr>
          <a:xfrm>
            <a:off x="731520" y="571500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7E92B5"/>
                </a:solidFill>
                <a:latin typeface="Arial"/>
              </a:rPr>
              <a:t>Cognizant  •  Confidential client proposal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9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D49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" name="r901"/>
          <p:cNvSpPr/>
          <p:nvPr/>
        </p:nvSpPr>
        <p:spPr>
          <a:xfrm>
            <a:off x="0" y="2148840"/>
            <a:ext cx="12192000" cy="12000"/>
          </a:xfrm>
          <a:prstGeom prst="rect">
            <a:avLst/>
          </a:prstGeom>
          <a:solidFill>
            <a:srgbClr val="E8553D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" name="t902"/>
          <p:cNvSpPr txBox="1"/>
          <p:nvPr/>
        </p:nvSpPr>
        <p:spPr>
          <a:xfrm>
            <a:off x="731520" y="640080"/>
            <a:ext cx="10058400" cy="4572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200" b="1">
                <a:solidFill>
                  <a:srgbClr val="E8553D"/>
                </a:solidFill>
                <a:latin typeface="Arial"/>
              </a:rPr>
              <a:t>CASE STUDY  •  AGILENT  •  AI-AGENTIC DELIVERY</a:t>
            </a:r>
          </a:p>
        </p:txBody>
      </p:sp>
      <p:sp>
        <p:nvSpPr>
          <p:cNvPr id="903" name="t903"/>
          <p:cNvSpPr txBox="1"/>
          <p:nvPr/>
        </p:nvSpPr>
        <p:spPr>
          <a:xfrm>
            <a:off x="731520" y="1051560"/>
            <a:ext cx="10515600" cy="118872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500" b="1">
                <a:solidFill>
                  <a:srgbClr val="FFFFFF"/>
                </a:solidFill>
                <a:latin typeface="Arial"/>
              </a:rPr>
              <a:t>We migrated Agilent’s regulated product sites to Edge Delivery with a supervised fleet of specialist AI agents — each authoring, building, reviewing and shipping blocks end-to-end under human MLR sign-off.</a:t>
            </a:r>
          </a:p>
        </p:txBody>
      </p:sp>
      <p:sp>
        <p:nvSpPr>
          <p:cNvPr id="904" name="r904"/>
          <p:cNvSpPr/>
          <p:nvPr/>
        </p:nvSpPr>
        <p:spPr>
          <a:xfrm>
            <a:off x="731520" y="2514600"/>
            <a:ext cx="3383280" cy="2194560"/>
          </a:xfrm>
          <a:prstGeom prst="rect">
            <a:avLst/>
          </a:prstGeom>
          <a:solidFill>
            <a:srgbClr val="0E2657"/>
          </a:solidFill>
          <a:ln w="9525">
            <a:solidFill>
              <a:srgbClr val="0B5FA5"/>
            </a:solidFill>
          </a:ln>
        </p:spPr>
        <p:txBody>
          <a:bodyPr/>
          <a:lstStyle/>
          <a:p/>
        </p:txBody>
      </p:sp>
      <p:sp>
        <p:nvSpPr>
          <p:cNvPr id="905" name="t905"/>
          <p:cNvSpPr txBox="1"/>
          <p:nvPr/>
        </p:nvSpPr>
        <p:spPr>
          <a:xfrm>
            <a:off x="914400" y="2651760"/>
            <a:ext cx="3017520" cy="8229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3600" b="1">
                <a:solidFill>
                  <a:srgbClr val="E8553D"/>
                </a:solidFill>
                <a:latin typeface="Arial"/>
              </a:rPr>
              <a:t>6</a:t>
            </a:r>
          </a:p>
        </p:txBody>
      </p:sp>
      <p:sp>
        <p:nvSpPr>
          <p:cNvPr id="906" name="t906"/>
          <p:cNvSpPr txBox="1"/>
          <p:nvPr/>
        </p:nvSpPr>
        <p:spPr>
          <a:xfrm>
            <a:off x="914400" y="3429000"/>
            <a:ext cx="3017520" cy="4572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50" b="1">
                <a:solidFill>
                  <a:srgbClr val="FFFFFF"/>
                </a:solidFill>
                <a:latin typeface="Arial"/>
              </a:rPr>
              <a:t>Specialist agent fleet</a:t>
            </a:r>
          </a:p>
        </p:txBody>
      </p:sp>
      <p:sp>
        <p:nvSpPr>
          <p:cNvPr id="907" name="t907"/>
          <p:cNvSpPr txBox="1"/>
          <p:nvPr/>
        </p:nvSpPr>
        <p:spPr>
          <a:xfrm>
            <a:off x="914400" y="3886200"/>
            <a:ext cx="3017520" cy="7772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C9D4E8"/>
                </a:solidFill>
                <a:latin typeface="Arial"/>
              </a:rPr>
              <a:t>Strategist, StyleForge, Blockwright, Sentinel, Composer &amp; Pilot agents hand off each block from user story to PR — with code review and Playwright specs generated automatically.</a:t>
            </a:r>
          </a:p>
        </p:txBody>
      </p:sp>
      <p:sp>
        <p:nvSpPr>
          <p:cNvPr id="908" name="r908"/>
          <p:cNvSpPr/>
          <p:nvPr/>
        </p:nvSpPr>
        <p:spPr>
          <a:xfrm>
            <a:off x="4343400" y="2514600"/>
            <a:ext cx="3383280" cy="2194560"/>
          </a:xfrm>
          <a:prstGeom prst="rect">
            <a:avLst/>
          </a:prstGeom>
          <a:solidFill>
            <a:srgbClr val="0E2657"/>
          </a:solidFill>
          <a:ln w="9525">
            <a:solidFill>
              <a:srgbClr val="0B5FA5"/>
            </a:solidFill>
          </a:ln>
        </p:spPr>
        <p:txBody>
          <a:bodyPr/>
          <a:lstStyle/>
          <a:p/>
        </p:txBody>
      </p:sp>
      <p:sp>
        <p:nvSpPr>
          <p:cNvPr id="909" name="t909"/>
          <p:cNvSpPr txBox="1"/>
          <p:nvPr/>
        </p:nvSpPr>
        <p:spPr>
          <a:xfrm>
            <a:off x="4526280" y="2651760"/>
            <a:ext cx="3017520" cy="8229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3600" b="1">
                <a:solidFill>
                  <a:srgbClr val="E8553D"/>
                </a:solidFill>
                <a:latin typeface="Arial"/>
              </a:rPr>
              <a:t>70%</a:t>
            </a:r>
          </a:p>
        </p:txBody>
      </p:sp>
      <p:sp>
        <p:nvSpPr>
          <p:cNvPr id="910" name="t910"/>
          <p:cNvSpPr txBox="1"/>
          <p:nvPr/>
        </p:nvSpPr>
        <p:spPr>
          <a:xfrm>
            <a:off x="4526280" y="3429000"/>
            <a:ext cx="3017520" cy="4572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50" b="1">
                <a:solidFill>
                  <a:srgbClr val="FFFFFF"/>
                </a:solidFill>
                <a:latin typeface="Arial"/>
              </a:rPr>
              <a:t>Faster block delivery</a:t>
            </a:r>
          </a:p>
        </p:txBody>
      </p:sp>
      <p:sp>
        <p:nvSpPr>
          <p:cNvPr id="911" name="t911"/>
          <p:cNvSpPr txBox="1"/>
          <p:nvPr/>
        </p:nvSpPr>
        <p:spPr>
          <a:xfrm>
            <a:off x="4526280" y="3886200"/>
            <a:ext cx="3017520" cy="7772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C9D4E8"/>
                </a:solidFill>
                <a:latin typeface="Arial"/>
              </a:rPr>
              <a:t>Agentic scaffolding, design-token mapping and automated test authoring cut net-new block lead time from days to hours across the migration.</a:t>
            </a:r>
          </a:p>
        </p:txBody>
      </p:sp>
      <p:sp>
        <p:nvSpPr>
          <p:cNvPr id="912" name="r912"/>
          <p:cNvSpPr/>
          <p:nvPr/>
        </p:nvSpPr>
        <p:spPr>
          <a:xfrm>
            <a:off x="7955280" y="2514600"/>
            <a:ext cx="3383280" cy="2194560"/>
          </a:xfrm>
          <a:prstGeom prst="rect">
            <a:avLst/>
          </a:prstGeom>
          <a:solidFill>
            <a:srgbClr val="0E2657"/>
          </a:solidFill>
          <a:ln w="9525">
            <a:solidFill>
              <a:srgbClr val="0B5FA5"/>
            </a:solidFill>
          </a:ln>
        </p:spPr>
        <p:txBody>
          <a:bodyPr/>
          <a:lstStyle/>
          <a:p/>
        </p:txBody>
      </p:sp>
      <p:sp>
        <p:nvSpPr>
          <p:cNvPr id="913" name="t913"/>
          <p:cNvSpPr txBox="1"/>
          <p:nvPr/>
        </p:nvSpPr>
        <p:spPr>
          <a:xfrm>
            <a:off x="8138160" y="2651760"/>
            <a:ext cx="3017520" cy="8229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3600" b="1">
                <a:solidFill>
                  <a:srgbClr val="E8553D"/>
                </a:solidFill>
                <a:latin typeface="Arial"/>
              </a:rPr>
              <a:t>100</a:t>
            </a:r>
          </a:p>
        </p:txBody>
      </p:sp>
      <p:sp>
        <p:nvSpPr>
          <p:cNvPr id="914" name="t914"/>
          <p:cNvSpPr txBox="1"/>
          <p:nvPr/>
        </p:nvSpPr>
        <p:spPr>
          <a:xfrm>
            <a:off x="8138160" y="3429000"/>
            <a:ext cx="3017520" cy="45720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50" b="1">
                <a:solidFill>
                  <a:srgbClr val="FFFFFF"/>
                </a:solidFill>
                <a:latin typeface="Arial"/>
              </a:rPr>
              <a:t>PageSpeed at launch</a:t>
            </a:r>
          </a:p>
        </p:txBody>
      </p:sp>
      <p:sp>
        <p:nvSpPr>
          <p:cNvPr id="915" name="t915"/>
          <p:cNvSpPr txBox="1"/>
          <p:nvPr/>
        </p:nvSpPr>
        <p:spPr>
          <a:xfrm>
            <a:off x="8138160" y="3886200"/>
            <a:ext cx="3017520" cy="7772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50" b="0">
                <a:solidFill>
                  <a:srgbClr val="C9D4E8"/>
                </a:solidFill>
                <a:latin typeface="Arial"/>
              </a:rPr>
              <a:t>The Pilot agent gates every page against a Lighthouse/PSI check — Core Web Vitals shipped green with no post-go-live remediation.</a:t>
            </a:r>
          </a:p>
        </p:txBody>
      </p:sp>
      <p:sp>
        <p:nvSpPr>
          <p:cNvPr id="916" name="t916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400" b="1">
                <a:solidFill>
                  <a:srgbClr val="FFFFFF"/>
                </a:solidFill>
                <a:latin typeface="Arial"/>
              </a:rPr>
              <a:t>Result: 40+ pages and a reusable block library delivered by a human-supervised agent fleet — full MLR traceability and zero accessibility regressions. The same pipeline is ready to run for AbbVie.</a:t>
            </a:r>
          </a:p>
        </p:txBody>
      </p:sp>
      <p:sp>
        <p:nvSpPr>
          <p:cNvPr id="917" name="t917"/>
          <p:cNvSpPr txBox="1"/>
          <p:nvPr/>
        </p:nvSpPr>
        <p:spPr>
          <a:xfrm>
            <a:off x="731520" y="5715000"/>
            <a:ext cx="10058400" cy="365760"/>
          </a:xfrm>
          <a:prstGeom prst="rect">
            <a:avLst/>
          </a:prstGeom>
          <a:noFill/>
        </p:spPr>
        <p:txBody>
          <a:bodyPr wrap="square" lIns="45720" tIns="27432" rIns="45720" bIns="27432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00" b="0">
                <a:solidFill>
                  <a:srgbClr val="7E92B5"/>
                </a:solidFill>
                <a:latin typeface="Arial"/>
              </a:rPr>
              <a:t>Cognizant  •  Confidential client proposal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bbVie">
  <a:themeElements>
    <a:clrScheme name="AbbVie">
      <a:dk1>
        <a:sysClr val="windowText" lastClr="000000"/>
      </a:dk1>
      <a:lt1>
        <a:sysClr val="window" lastClr="FFFFFF"/>
      </a:lt1>
      <a:dk2>
        <a:srgbClr val="071D49"/>
      </a:dk2>
      <a:lt2>
        <a:srgbClr val="EEEEEE"/>
      </a:lt2>
      <a:accent1>
        <a:srgbClr val="0B5FA5"/>
      </a:accent1>
      <a:accent2>
        <a:srgbClr val="E8553D"/>
      </a:accent2>
      <a:accent3>
        <a:srgbClr val="3F8F6B"/>
      </a:accent3>
      <a:accent4>
        <a:srgbClr val="C9962E"/>
      </a:accent4>
      <a:accent5>
        <a:srgbClr val="7E92B5"/>
      </a:accent5>
      <a:accent6>
        <a:srgbClr val="071D49"/>
      </a:accent6>
      <a:hlink>
        <a:srgbClr val="0B5FA5"/>
      </a:hlink>
      <a:folHlink>
        <a:srgbClr val="7E92B5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100000">
              <a:schemeClr val="phClr">
                <a:tint val="7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51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